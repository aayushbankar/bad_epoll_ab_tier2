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Context: Tier 1 (x86_64, Fedora, kernelCTF COS kernel) already produced a full LPE chain (UAF-&gt;cross-cache-&gt;AAR-&gt;KASLR-&gt;ROP-&gt;commit_creds, UID 0) — see article/CVE-2026-46242_Tier1_Final_Writeup.md. Tier 2 moves the same CVE to Android ARM64 GKI where PAC/BTI/MTE/SELinux apply and the exploit chain must be rebuilt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Verdict slide — deliver in 2 minutes. Every claim is evidence-backed: VER-026 (EXP-015 HW watchpoint trace of the outer-close/inner-close race writing NULL at offset 160 of the FREED inner_epoll), VER-027 (EXP-018 msg_msg reclaim). Chains dead: VER-028, VER-031, VER-033. Natural schedulability: VER-034 (0/10k) and VER-039 (0/92,740). The one open question is hardware timing variance, which QEMU TCG cannot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the vulnerability mechanism is fully understood and proven at runtime, not just from source. Quote the two lines from EXP-015 evidence verbatim. The lockless fast path is the crux: eventpoll_release() does a lockless READ_ONCE(file-&gt;f_ep) and returns early if NULL — that is what lets Thread B free the object out from under Thread A. Tier 1 on x86_64 already proved full LPE for the same CVE (see article writeup PDF).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mentor through the dead-ends register (tier2/docs/DEAD_ENDS_REGISTER.md). Emphasise that these are not beliefs — each is killed by a hardware-watchpoint trace or source-level structural proof (VER IDs cited). The most intellectually interesting one is Chain 1 (VER-033): you need single-epitem for f_ep=NULL (the UAF), but you need 2+ epitems for the write to be a non-NULL kernel pointer. No topology satisfies both — structural impossibility.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meeting. Prior work (Tier 1, x86_64) won the race because the COS kernel/exploit used different scheduling conditions. On this Android GKI build, the two conditions that make the race winnable (a scheduling yield inside the window, and hardware timing variance) are both absent: PREEMPT_VOLUNTARY + pinned idle CPUs =&gt; cond_resched no-op; TCG =&gt; no real bus/cache timing. Therefore all 'successes' were debugger-forced.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table — do not read aloud, point to it. All numbers traceable to committed raw logs in tier2/evidence/. Protocol Rule 1: evidence lives in the repo, never in agent session state. Rule 2: no VERIFIED without reading and quoting the raw log — this is how the earlier fabricated claims (VER-001/002/004/006/007) were caught and purged.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mechanics: show the sequence on the left, layouts on the right. The ONLY UAF operation on the freed object is hlist_del_rcu at offset 160 (VER-032). Everything else in __ep_remove touches the outer epoll which remains alive — this single fact killed Chains 0 and 2. The refs field (hlist_head) is used for f_ep / eventpoll_release_file bookkeeping.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 0 was the 'controlled crash PoC' — a valid CVE trigger demo. It failed for a subtle reason: in the outer-close/inner-close race, the ep parameter of __ep_remove is always the outer epoll. So even though the spray put our poison at offset 136 of the freed slot, nothing dereferences it. Positive spin: the msg_msg reclaim primitive is rock-solid (VER-027). Full writeup: tier2/evidence/EXP-019_RESULTS.md.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retraction story — valuable for the mentor to see the self-correction process working (protocol Rules 2, 8). EXP-024 used a hardware watchpoint on inner_epoll+160 to settle it definitively: the write went to LIVE memory. Quote: "VERDICT: hlist_del_rcu wrote to LIVE inner_epoll (never freed during trace)." Evidence: tier2/evidence/EXP-024_RESULTS.md.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tier2/evidence/EXP-023b_RESULTS.md and EXP-023b_raw_gdb.log. GDB actively tried to help the chain and it still failed — the redirect is structurally impossible in this race because the decrement runs on the outer epoll. The RUNNER_GUIDE's Chain-2 design assumed ep-&gt;user of the FREED eventpoll would be used; that assumption was wrong.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EXP-016 is the 'clean negative' that defines the exploit ceiling: with a NULL-only write at offset 160, no reachable kmalloc-192 object converts that into a controlled read/write/call. fib6_info (via unshare+netlink RTM_NEWROUTE) gives the most reliable DoS. This is why the verdict is 'DoS-only on this configuration' unless natural reachability changes or a different race variant is found. Full audit: tier2/docs/EXP-016_RESULTS.md.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 was designed as a falsification campaign (EVO-009): all prior evidence was debugger-assisted, so we built statistical tests to answer 'is the race naturally reachable?'. Answer so far: no, in QEMU. The 1-cycle near-miss at delay=2,360 cycles shows the harness calibration is essentially perfect — yet zero hits, which strongly suggests the window cannot be hit by deterministic instruction timing alone under TCG. Evidence: NAT-005_RESULTS.md + raw log.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NAT-002 correction is a great example of falsification: the initial audit claimed the cond_resched points were real preemption windows (STATIC-HIGH-CONFIDENCE), then mechanism analysis proved they cannot yield in our topology. Files: tier2/evidence/NAT-002/NAT-002_RESULTS.md (initial) and NAT-002_CORRECTION.md (correction). This is also the argument for Path A: on real hardware, timer interrupts, IPIs, and memory-bus contention DO create the variance that TCG cannot emulate.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AND-001 closes the 'does SysV IPC even exist on Android GKI' question — it does, CONFIG_SYSVIPC=y. This was a CRITICAL BLOCKER in the assumptions register (A-024/A-025) and is now resolved for the shell context. The remaining Android unknowns are app-context seccomp/SELinux (AND-003) and MTE (AND-004). Evidence: tier2/evidence/AND-001_RESULTS.md.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Decision-support slide. Present all three honestly. Path A is the only one with a theoretical basis (real hardware adds the timing variance that TCG lacks). Path B is speculative — the source shows no preemption inside __ep_remove, so a different race would need a different freeing thread (e.g., fd table teardown ordering). Path C is always available and is the professionally correct fallback: a documented negative result for a real CVE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the meeting with the ask. If the mentor says 'conclude', we execute Path C: final report + PDF writeup. If 'timebox', we start hardware work immediately. Either way the repo evidence discipline continues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risk inventory for the meeting. The 'false confidence' row is handled by design: Phase 3 exists precisely to falsify debugger-assisted successes. MTE is the sleeper risk: on production Android with MTE enabled, the UAF may be caught at hlist_del_rcu time — turning any future exploit into a crash. That caps long-term exploitability on modern devices regardless of race reachability.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EXP-011/012/013 also ran (type-confusion unreachable VER-025; wait-queue drain identity VER-022; single-thread write-before-free VER-021) — see VERIFICATION_LEDGER.md. Full registry: tier2/docs/EXPERIMENT_INDEX.md. PLANNED: NAT-003, NAT-004, AND-002, AND-003, AND-004.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ledger: tier2/docs/VERIFICATION_LEDGER.md. Retractions VER-010/029/030 kept visible per Rule 8. Evolution notes EVO-005 (dedicated epi cache correction) and EVO-009 (Phase 3 falsification pivot) are the two biggest understanding shifts of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register: tier2/docs/DEAD_ENDS_REGISTER.md. Revisit allowed only under new conditions: changed kernel config (e.g., CONFIG_PREEMPT=y), new code discovery, or new hardware capability — each requiring a new VER with RUNTIME evidence that contradicts the killing evidence. This guards against re-litigating settled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mentor (or any future agent): full protocol in tier2/docs/EXPERIMENT_PROTOCOL.md (10 non-negotiable rules), runner guide in RUNNER_GUIDE.md. The AGENTS.md at repo root summarises the critical commands and the evidence standard. Everything is reproducible from the committed sources.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protocol Rule 10 I am explicitly flagging that the working tree is NOT fully clean: EXP-014/020/021 artifacts and AGENTS.md are uncommitted, and several raw logs were modified after their commits. Plan: bundle them into one evidence commit, push, and re-verify with git ls-remote before the final report. This transparency is itself part of the evidence discipline the mentor should see.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24528"/>
            <a:ext cx="12191695" cy="3810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34440"/>
            <a:ext cx="10515600" cy="365760"/>
          </a:xfrm>
          <a:prstGeom prst="rect">
            <a:avLst/>
          </a:prstGeom>
          <a:noFill/>
        </p:spPr>
        <p:txBody>
          <a:bodyPr wrap="square" anchor="t" lIns="25400" rIns="25400" tIns="12700" bIns="12700">
            <a:spAutoFit/>
          </a:bodyPr>
          <a:lstStyle/>
          <a:p>
            <a:pPr algn="l">
              <a:spcAft>
                <a:spcPts val="0"/>
              </a:spcAft>
            </a:pPr>
            <a:r>
              <a:rPr sz="1400" b="1">
                <a:solidFill>
                  <a:srgbClr val="9FB4CC"/>
                </a:solidFill>
                <a:latin typeface="Calibri"/>
              </a:rPr>
              <a:t>TIER 2 EXPLOITABILITY ASSESSMENT  —  PROGRESS REVIEW</a:t>
            </a:r>
          </a:p>
        </p:txBody>
      </p:sp>
      <p:sp>
        <p:nvSpPr>
          <p:cNvPr id="5" name="TextBox 4"/>
          <p:cNvSpPr txBox="1"/>
          <p:nvPr/>
        </p:nvSpPr>
        <p:spPr>
          <a:xfrm>
            <a:off x="822960" y="1691640"/>
            <a:ext cx="10515600" cy="1554480"/>
          </a:xfrm>
          <a:prstGeom prst="rect">
            <a:avLst/>
          </a:prstGeom>
          <a:noFill/>
        </p:spPr>
        <p:txBody>
          <a:bodyPr wrap="square" anchor="t" lIns="25400" rIns="25400" tIns="12700" bIns="12700">
            <a:spAutoFit/>
          </a:bodyPr>
          <a:lstStyle/>
          <a:p>
            <a:pPr algn="l">
              <a:spcAft>
                <a:spcPts val="0"/>
              </a:spcAft>
            </a:pPr>
            <a:r>
              <a:rPr sz="4000" b="1">
                <a:solidFill>
                  <a:srgbClr val="FFFFFF"/>
                </a:solidFill>
                <a:latin typeface="Calibri"/>
              </a:rPr>
              <a:t>CVE-2026-46242 ("Bad Epoll")</a:t>
            </a:r>
          </a:p>
          <a:p>
            <a:pPr algn="l">
              <a:spcAft>
                <a:spcPts val="0"/>
              </a:spcAft>
            </a:pPr>
            <a:r>
              <a:rPr sz="2000" b="0">
                <a:solidFill>
                  <a:srgbClr val="C9D6E8"/>
                </a:solidFill>
                <a:latin typeface="Calibri"/>
              </a:rPr>
              <a:t>Use-After-Free in the Linux epoll subsystem on Android ARM64 GKI</a:t>
            </a:r>
          </a:p>
        </p:txBody>
      </p:sp>
      <p:sp>
        <p:nvSpPr>
          <p:cNvPr id="6" name="TextBox 5"/>
          <p:cNvSpPr txBox="1"/>
          <p:nvPr/>
        </p:nvSpPr>
        <p:spPr>
          <a:xfrm>
            <a:off x="822960" y="3429000"/>
            <a:ext cx="10515600" cy="640080"/>
          </a:xfrm>
          <a:prstGeom prst="rect">
            <a:avLst/>
          </a:prstGeom>
          <a:noFill/>
        </p:spPr>
        <p:txBody>
          <a:bodyPr wrap="square" anchor="t" lIns="25400" rIns="25400" tIns="12700" bIns="12700">
            <a:spAutoFit/>
          </a:bodyPr>
          <a:lstStyle/>
          <a:p>
            <a:pPr algn="l">
              <a:spcAft>
                <a:spcPts val="200"/>
              </a:spcAft>
            </a:pPr>
            <a:r>
              <a:rPr sz="1400" b="0">
                <a:solidFill>
                  <a:srgbClr val="FFFFFF"/>
                </a:solidFill>
                <a:latin typeface="Calibri"/>
              </a:rPr>
              <a:t>Phase: Tier 2 — exploitability assessment on linux-6.12.67 (Android 14 GKI, commit 7e35917775b8)</a:t>
            </a:r>
          </a:p>
          <a:p>
            <a:pPr algn="l">
              <a:spcAft>
                <a:spcPts val="0"/>
              </a:spcAft>
            </a:pPr>
            <a:r>
              <a:rPr sz="1400" b="0">
                <a:solidFill>
                  <a:srgbClr val="FFFFFF"/>
                </a:solidFill>
                <a:latin typeface="Calibri"/>
              </a:rPr>
              <a:t>Branch: tier2-android-port  ·  HEAD cc0dc7754 (verified on origin via git ls-remote)</a:t>
            </a:r>
          </a:p>
        </p:txBody>
      </p:sp>
      <p:sp>
        <p:nvSpPr>
          <p:cNvPr id="7" name="TextBox 6"/>
          <p:cNvSpPr txBox="1"/>
          <p:nvPr/>
        </p:nvSpPr>
        <p:spPr>
          <a:xfrm>
            <a:off x="822960" y="4526280"/>
            <a:ext cx="10515600" cy="731520"/>
          </a:xfrm>
          <a:prstGeom prst="rect">
            <a:avLst/>
          </a:prstGeom>
          <a:noFill/>
        </p:spPr>
        <p:txBody>
          <a:bodyPr wrap="square" anchor="t" lIns="25400" rIns="25400" tIns="12700" bIns="12700">
            <a:spAutoFit/>
          </a:bodyPr>
          <a:lstStyle/>
          <a:p>
            <a:pPr algn="l">
              <a:spcAft>
                <a:spcPts val="400"/>
              </a:spcAft>
            </a:pPr>
            <a:r>
              <a:rPr sz="1600" b="1">
                <a:solidFill>
                  <a:srgbClr val="FFFFFF"/>
                </a:solidFill>
                <a:latin typeface="Calibri"/>
              </a:rPr>
              <a:t>Intern: Aayush Bankar  ·  Mentor meeting  ·  August 2026</a:t>
            </a:r>
          </a:p>
          <a:p>
            <a:pPr algn="l">
              <a:spcAft>
                <a:spcPts val="0"/>
              </a:spcAft>
            </a:pPr>
            <a:r>
              <a:rPr sz="1300" b="0">
                <a:solidFill>
                  <a:srgbClr val="C9D6E8"/>
                </a:solidFill>
                <a:latin typeface="Calibri"/>
              </a:rPr>
              <a:t>Agenda: What we proved  ·  What we disproved  ·  The one blocker  ·  Where to go next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EXECUTIVE SUMMARY</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One-Slide Verdict</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Rounded Rectangle 6"/>
          <p:cNvSpPr/>
          <p:nvPr/>
        </p:nvSpPr>
        <p:spPr>
          <a:xfrm>
            <a:off x="502920" y="1463040"/>
            <a:ext cx="5486400" cy="169164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17904"/>
            <a:ext cx="64008" cy="1581912"/>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54480"/>
            <a:ext cx="5120640" cy="320040"/>
          </a:xfrm>
          <a:prstGeom prst="rect">
            <a:avLst/>
          </a:prstGeom>
          <a:noFill/>
        </p:spPr>
        <p:txBody>
          <a:bodyPr wrap="square" anchor="t" lIns="25400" rIns="25400" tIns="12700" bIns="12700">
            <a:spAutoFit/>
          </a:bodyPr>
          <a:lstStyle/>
          <a:p>
            <a:pPr algn="l">
              <a:spcAft>
                <a:spcPts val="0"/>
              </a:spcAft>
            </a:pPr>
            <a:r>
              <a:rPr sz="1400" b="1">
                <a:solidFill>
                  <a:srgbClr val="F57F17"/>
                </a:solidFill>
                <a:latin typeface="Calibri"/>
              </a:rPr>
              <a:t>STATUS  —  AMBER</a:t>
            </a:r>
          </a:p>
        </p:txBody>
      </p:sp>
      <p:sp>
        <p:nvSpPr>
          <p:cNvPr id="10" name="TextBox 9"/>
          <p:cNvSpPr txBox="1"/>
          <p:nvPr/>
        </p:nvSpPr>
        <p:spPr>
          <a:xfrm>
            <a:off x="704088" y="1883664"/>
            <a:ext cx="5120640" cy="1188720"/>
          </a:xfrm>
          <a:prstGeom prst="rect">
            <a:avLst/>
          </a:prstGeom>
          <a:noFill/>
        </p:spPr>
        <p:txBody>
          <a:bodyPr wrap="square" anchor="t" lIns="25400" rIns="25400" tIns="12700" bIns="12700">
            <a:spAutoFit/>
          </a:bodyPr>
          <a:lstStyle/>
          <a:p>
            <a:pPr algn="l">
              <a:spcAft>
                <a:spcPts val="200"/>
              </a:spcAft>
            </a:pPr>
            <a:r>
              <a:rPr sz="1200" b="0">
                <a:solidFill>
                  <a:srgbClr val="212121"/>
                </a:solidFill>
                <a:latin typeface="Calibri"/>
              </a:rPr>
              <a:t>The UAF is real and 100% reproducible — but only with debugger assistance.</a:t>
            </a:r>
          </a:p>
          <a:p>
            <a:pPr algn="l">
              <a:spcAft>
                <a:spcPts val="0"/>
              </a:spcAft>
            </a:pPr>
            <a:r>
              <a:rPr sz="1200" b="0">
                <a:solidFill>
                  <a:srgbClr val="212121"/>
                </a:solidFill>
                <a:latin typeface="Calibri"/>
              </a:rPr>
              <a:t>Natural (no-GDB) race: 0 / 102,740 attempts across two campaigns.</a:t>
            </a:r>
          </a:p>
        </p:txBody>
      </p:sp>
      <p:sp>
        <p:nvSpPr>
          <p:cNvPr id="11" name="Rounded Rectangle 10"/>
          <p:cNvSpPr/>
          <p:nvPr/>
        </p:nvSpPr>
        <p:spPr>
          <a:xfrm>
            <a:off x="6217920" y="1463040"/>
            <a:ext cx="5486400" cy="169164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17904"/>
            <a:ext cx="64008" cy="158191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554480"/>
            <a:ext cx="5120640" cy="320040"/>
          </a:xfrm>
          <a:prstGeom prst="rect">
            <a:avLst/>
          </a:prstGeom>
          <a:noFill/>
        </p:spPr>
        <p:txBody>
          <a:bodyPr wrap="square" anchor="t" lIns="25400" rIns="25400" tIns="12700" bIns="12700">
            <a:spAutoFit/>
          </a:bodyPr>
          <a:lstStyle/>
          <a:p>
            <a:pPr algn="l">
              <a:spcAft>
                <a:spcPts val="0"/>
              </a:spcAft>
            </a:pPr>
            <a:r>
              <a:rPr sz="1400" b="1">
                <a:solidFill>
                  <a:srgbClr val="2E7D32"/>
                </a:solidFill>
                <a:latin typeface="Calibri"/>
              </a:rPr>
              <a:t>PROVED  —  GREEN</a:t>
            </a:r>
          </a:p>
        </p:txBody>
      </p:sp>
      <p:sp>
        <p:nvSpPr>
          <p:cNvPr id="14" name="TextBox 13"/>
          <p:cNvSpPr txBox="1"/>
          <p:nvPr/>
        </p:nvSpPr>
        <p:spPr>
          <a:xfrm>
            <a:off x="6419088" y="1883664"/>
            <a:ext cx="5120640" cy="1188720"/>
          </a:xfrm>
          <a:prstGeom prst="rect">
            <a:avLst/>
          </a:prstGeom>
          <a:noFill/>
        </p:spPr>
        <p:txBody>
          <a:bodyPr wrap="square" anchor="t" lIns="25400" rIns="25400" tIns="12700" bIns="12700">
            <a:spAutoFit/>
          </a:bodyPr>
          <a:lstStyle/>
          <a:p>
            <a:pPr algn="l">
              <a:spcAft>
                <a:spcPts val="200"/>
              </a:spcAft>
            </a:pPr>
            <a:r>
              <a:rPr sz="1200" b="0">
                <a:solidFill>
                  <a:srgbClr val="212121"/>
                </a:solidFill>
                <a:latin typeface="Calibri"/>
              </a:rPr>
              <a:t>Race mechanics captured by hardware watchpoint (VER-026, EXP-015).</a:t>
            </a:r>
          </a:p>
          <a:p>
            <a:pPr algn="l">
              <a:spcAft>
                <a:spcPts val="0"/>
              </a:spcAft>
            </a:pPr>
            <a:r>
              <a:rPr sz="1200" b="0">
                <a:solidFill>
                  <a:srgbClr val="212121"/>
                </a:solidFill>
                <a:latin typeface="Calibri"/>
              </a:rPr>
              <a:t>msg_msg reclaim of freed struct eventpoll in kmalloc-192 (VER-027, EXP-018).</a:t>
            </a:r>
          </a:p>
        </p:txBody>
      </p:sp>
      <p:sp>
        <p:nvSpPr>
          <p:cNvPr id="15" name="Rounded Rectangle 14"/>
          <p:cNvSpPr/>
          <p:nvPr/>
        </p:nvSpPr>
        <p:spPr>
          <a:xfrm>
            <a:off x="502920" y="3291840"/>
            <a:ext cx="5486400" cy="169164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346704"/>
            <a:ext cx="64008" cy="158191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383280"/>
            <a:ext cx="5120640" cy="320040"/>
          </a:xfrm>
          <a:prstGeom prst="rect">
            <a:avLst/>
          </a:prstGeom>
          <a:noFill/>
        </p:spPr>
        <p:txBody>
          <a:bodyPr wrap="square" anchor="t" lIns="25400" rIns="25400" tIns="12700" bIns="12700">
            <a:spAutoFit/>
          </a:bodyPr>
          <a:lstStyle/>
          <a:p>
            <a:pPr algn="l">
              <a:spcAft>
                <a:spcPts val="0"/>
              </a:spcAft>
            </a:pPr>
            <a:r>
              <a:rPr sz="1400" b="1">
                <a:solidFill>
                  <a:srgbClr val="C62828"/>
                </a:solidFill>
                <a:latin typeface="Calibri"/>
              </a:rPr>
              <a:t>DISPROVED  —  RED</a:t>
            </a:r>
          </a:p>
        </p:txBody>
      </p:sp>
      <p:sp>
        <p:nvSpPr>
          <p:cNvPr id="18" name="TextBox 17"/>
          <p:cNvSpPr txBox="1"/>
          <p:nvPr/>
        </p:nvSpPr>
        <p:spPr>
          <a:xfrm>
            <a:off x="704088" y="3712464"/>
            <a:ext cx="5120640" cy="1188720"/>
          </a:xfrm>
          <a:prstGeom prst="rect">
            <a:avLst/>
          </a:prstGeom>
          <a:noFill/>
        </p:spPr>
        <p:txBody>
          <a:bodyPr wrap="square" anchor="t" lIns="25400" rIns="25400" tIns="12700" bIns="12700">
            <a:spAutoFit/>
          </a:bodyPr>
          <a:lstStyle/>
          <a:p>
            <a:pPr algn="l">
              <a:spcAft>
                <a:spcPts val="200"/>
              </a:spcAft>
            </a:pPr>
            <a:r>
              <a:rPr sz="1200" b="0">
                <a:solidFill>
                  <a:srgbClr val="212121"/>
                </a:solidFill>
                <a:latin typeface="Calibri"/>
              </a:rPr>
              <a:t>All 4 exploitation chains dead; 21 dead ends documented.</a:t>
            </a:r>
          </a:p>
          <a:p>
            <a:pPr algn="l">
              <a:spcAft>
                <a:spcPts val="0"/>
              </a:spcAft>
            </a:pPr>
            <a:r>
              <a:rPr sz="1200" b="0">
                <a:solidFill>
                  <a:srgbClr val="212121"/>
                </a:solidFill>
                <a:latin typeface="Calibri"/>
              </a:rPr>
              <a:t>Dual-watch KASLR leak retracted (VER-033): conditions mutually exclusive.</a:t>
            </a:r>
          </a:p>
        </p:txBody>
      </p:sp>
      <p:sp>
        <p:nvSpPr>
          <p:cNvPr id="19" name="Rounded Rectangle 18"/>
          <p:cNvSpPr/>
          <p:nvPr/>
        </p:nvSpPr>
        <p:spPr>
          <a:xfrm>
            <a:off x="6217920" y="3291840"/>
            <a:ext cx="5486400" cy="169164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346704"/>
            <a:ext cx="64008" cy="158191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3383280"/>
            <a:ext cx="5120640" cy="320040"/>
          </a:xfrm>
          <a:prstGeom prst="rect">
            <a:avLst/>
          </a:prstGeom>
          <a:noFill/>
        </p:spPr>
        <p:txBody>
          <a:bodyPr wrap="square" anchor="t" lIns="25400" rIns="25400" tIns="12700" bIns="12700">
            <a:spAutoFit/>
          </a:bodyPr>
          <a:lstStyle/>
          <a:p>
            <a:pPr algn="l">
              <a:spcAft>
                <a:spcPts val="0"/>
              </a:spcAft>
            </a:pPr>
            <a:r>
              <a:rPr sz="1400" b="1">
                <a:solidFill>
                  <a:srgbClr val="1565C0"/>
                </a:solidFill>
                <a:latin typeface="Calibri"/>
              </a:rPr>
              <a:t>PRIMITIVE  —  BLUE</a:t>
            </a:r>
          </a:p>
        </p:txBody>
      </p:sp>
      <p:sp>
        <p:nvSpPr>
          <p:cNvPr id="22" name="TextBox 21"/>
          <p:cNvSpPr txBox="1"/>
          <p:nvPr/>
        </p:nvSpPr>
        <p:spPr>
          <a:xfrm>
            <a:off x="6419088" y="3712464"/>
            <a:ext cx="5120640" cy="1188720"/>
          </a:xfrm>
          <a:prstGeom prst="rect">
            <a:avLst/>
          </a:prstGeom>
          <a:noFill/>
        </p:spPr>
        <p:txBody>
          <a:bodyPr wrap="square" anchor="t" lIns="25400" rIns="25400" tIns="12700" bIns="12700">
            <a:spAutoFit/>
          </a:bodyPr>
          <a:lstStyle/>
          <a:p>
            <a:pPr algn="l">
              <a:spcAft>
                <a:spcPts val="200"/>
              </a:spcAft>
            </a:pPr>
            <a:r>
              <a:rPr sz="1200" b="0">
                <a:solidFill>
                  <a:srgbClr val="212121"/>
                </a:solidFill>
                <a:latin typeface="Calibri"/>
              </a:rPr>
              <a:t>Only UAF write: NULL at offset 160 of a freed kmalloc-192 object.</a:t>
            </a:r>
          </a:p>
          <a:p>
            <a:pPr algn="l">
              <a:spcAft>
                <a:spcPts val="0"/>
              </a:spcAft>
            </a:pPr>
            <a:r>
              <a:rPr sz="1200" b="0">
                <a:solidFill>
                  <a:srgbClr val="212121"/>
                </a:solidFill>
                <a:latin typeface="Calibri"/>
              </a:rPr>
              <a:t>EXP-016 audit: fixed NULL value + fixed offset =&gt; DoS-only on this config.</a:t>
            </a:r>
          </a:p>
        </p:txBody>
      </p:sp>
      <p:sp>
        <p:nvSpPr>
          <p:cNvPr id="23" name="Rounded Rectangle 22"/>
          <p:cNvSpPr/>
          <p:nvPr/>
        </p:nvSpPr>
        <p:spPr>
          <a:xfrm>
            <a:off x="502920" y="5138928"/>
            <a:ext cx="11201400" cy="1143000"/>
          </a:xfrm>
          <a:prstGeom prst="roundRect">
            <a:avLst>
              <a:gd name="adj" fmla="val 4500"/>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285232"/>
            <a:ext cx="10698480" cy="914400"/>
          </a:xfrm>
          <a:prstGeom prst="rect">
            <a:avLst/>
          </a:prstGeom>
          <a:noFill/>
        </p:spPr>
        <p:txBody>
          <a:bodyPr wrap="square" anchor="t" lIns="25400" rIns="25400" tIns="12700" bIns="12700">
            <a:spAutoFit/>
          </a:bodyPr>
          <a:lstStyle/>
          <a:p>
            <a:pPr algn="l">
              <a:spcAft>
                <a:spcPts val="300"/>
              </a:spcAft>
            </a:pPr>
            <a:r>
              <a:rPr sz="1400" b="1">
                <a:solidFill>
                  <a:srgbClr val="FFFFFF"/>
                </a:solidFill>
                <a:latin typeface="Calibri"/>
              </a:rPr>
              <a:t>Recommendation: timebox 2 weeks on physical ARM64 hardware (timing-widening, Path A) — then conclude DoS-only (Path C) if 0 hits.</a:t>
            </a:r>
          </a:p>
          <a:p>
            <a:pPr algn="l">
              <a:spcAft>
                <a:spcPts val="0"/>
              </a:spcAft>
            </a:pPr>
            <a:r>
              <a:rPr sz="1200" b="0">
                <a:solidFill>
                  <a:srgbClr val="C9D6E8"/>
                </a:solidFill>
                <a:latin typeface="Calibri"/>
              </a:rPr>
              <a:t>Ask: approve the hardware timebox, or conclude DoS-only now?</a:t>
            </a:r>
          </a:p>
        </p:txBody>
      </p:sp>
      <p:sp>
        <p:nvSpPr>
          <p:cNvPr id="25" name="TextBox 24"/>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FOUNDATION</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What We Proved (GDB-Assisted, Hardware-Watchpoint Verified)</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TextBox 6"/>
          <p:cNvSpPr txBox="1"/>
          <p:nvPr/>
        </p:nvSpPr>
        <p:spPr>
          <a:xfrm>
            <a:off x="502920" y="1417320"/>
            <a:ext cx="11247120" cy="3291840"/>
          </a:xfrm>
          <a:prstGeom prst="rect">
            <a:avLst/>
          </a:prstGeom>
          <a:noFill/>
        </p:spPr>
        <p:txBody>
          <a:bodyPr wrap="square" lIns="25400" rIns="25400" tIns="12700" bIns="12700">
            <a:spAutoFit/>
          </a:bodyPr>
          <a:lstStyle/>
          <a:p>
            <a:pPr>
              <a:spcAft>
                <a:spcPts val="500"/>
              </a:spcAft>
            </a:pPr>
            <a:r>
              <a:rPr sz="1300" b="0">
                <a:solidFill>
                  <a:srgbClr val="212121"/>
                </a:solidFill>
                <a:latin typeface="Calibri"/>
              </a:rPr>
              <a:t>●  CVE-2026-46242 = close-vs-close race: Thread A closes the OUTER epoll, Thread B closes the INNER epoll fd that the outer watches.</a:t>
            </a:r>
          </a:p>
          <a:p>
            <a:pPr>
              <a:spcAft>
                <a:spcPts val="500"/>
              </a:spcAft>
            </a:pPr>
            <a:r>
              <a:rPr sz="1300" b="0">
                <a:solidFill>
                  <a:srgbClr val="212121"/>
                </a:solidFill>
                <a:latin typeface="Calibri"/>
              </a:rPr>
              <a:t>●  VER-026 (EXP-015, hardware watchpoint trace): Thread A executes WRITE_ONCE(file-&gt;f_ep, NULL) in __ep_remove, then Thread B's __fput sees f_ep == NULL, bypasses eventpoll_release_file via the lockless fast path (include/linux/eventpoll.h), and frees the inner struct eventpoll.</a:t>
            </a:r>
          </a:p>
          <a:p>
            <a:pPr>
              <a:spcAft>
                <a:spcPts val="500"/>
              </a:spcAft>
            </a:pPr>
            <a:r>
              <a:rPr sz="1300" b="0">
                <a:solidFill>
                  <a:srgbClr val="212121"/>
                </a:solidFill>
                <a:latin typeface="Calibri"/>
              </a:rPr>
              <a:t>●  Thread A resumes and hlist_del_rcu(&amp;epi-&gt;fllink) writes NULL at offset 160 (refs.first) of the FREED inner eventpoll — the UAF write, captured by a hardware watchpoint.</a:t>
            </a:r>
          </a:p>
          <a:p>
            <a:pPr>
              <a:spcAft>
                <a:spcPts val="500"/>
              </a:spcAft>
            </a:pPr>
            <a:r>
              <a:rPr sz="1300" b="0">
                <a:solidFill>
                  <a:srgbClr val="212121"/>
                </a:solidFill>
                <a:latin typeface="Calibri"/>
              </a:rPr>
              <a:t>●  VER-020: sizeof(struct eventpoll) = 176 B =&gt; kmalloc-192 (generic cache).</a:t>
            </a:r>
          </a:p>
          <a:p>
            <a:pPr>
              <a:spcAft>
                <a:spcPts val="500"/>
              </a:spcAft>
            </a:pPr>
            <a:r>
              <a:rPr sz="1300" b="0">
                <a:solidFill>
                  <a:srgbClr val="212121"/>
                </a:solidFill>
                <a:latin typeface="Calibri"/>
              </a:rPr>
              <a:t>●  VER-027 (EXP-018/019): msg_msg with 144 B user payload reclaims the freed slot; attacker controls every byte from slab offset 48 onward (marker 0xdead000000000000 landed exactly at offset 136).</a:t>
            </a:r>
          </a:p>
          <a:p>
            <a:pPr>
              <a:spcAft>
                <a:spcPts val="500"/>
              </a:spcAft>
            </a:pPr>
            <a:r>
              <a:rPr sz="1300" b="0">
                <a:solidFill>
                  <a:srgbClr val="212121"/>
                </a:solidFill>
                <a:latin typeface="Calibri"/>
              </a:rPr>
              <a:t>●  Methodology: every claim is labeled STATIC (source/disassembly) or RUNTIME (traced execution) — never conflated (protocol Rule 6).</a:t>
            </a:r>
          </a:p>
        </p:txBody>
      </p:sp>
      <p:sp>
        <p:nvSpPr>
          <p:cNvPr id="8" name="Rounded Rectangle 7"/>
          <p:cNvSpPr/>
          <p:nvPr/>
        </p:nvSpPr>
        <p:spPr>
          <a:xfrm>
            <a:off x="502920" y="4892040"/>
            <a:ext cx="11201400" cy="146304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029200"/>
            <a:ext cx="10698480" cy="1234440"/>
          </a:xfrm>
          <a:prstGeom prst="rect">
            <a:avLst/>
          </a:prstGeom>
          <a:noFill/>
        </p:spPr>
        <p:txBody>
          <a:bodyPr wrap="square" anchor="t" lIns="25400" rIns="25400" tIns="12700" bIns="12700">
            <a:spAutoFit/>
          </a:bodyPr>
          <a:lstStyle/>
          <a:p>
            <a:pPr algn="l">
              <a:spcAft>
                <a:spcPts val="200"/>
              </a:spcAft>
            </a:pPr>
            <a:r>
              <a:rPr sz="1100" b="1">
                <a:solidFill>
                  <a:srgbClr val="5F6B7A"/>
                </a:solidFill>
                <a:latin typeface="Calibri"/>
              </a:rPr>
              <a:t>Evidence quote (EXP-015_unified_trace.log):</a:t>
            </a:r>
          </a:p>
          <a:p>
            <a:pPr algn="l">
              <a:spcAft>
                <a:spcPts val="0"/>
              </a:spcAft>
            </a:pPr>
            <a:r>
              <a:rPr sz="1100" b="0">
                <a:solidFill>
                  <a:srgbClr val="212121"/>
                </a:solidFill>
                <a:latin typeface="Consolas"/>
              </a:rPr>
              <a:t>"Thread B hit ep_free(...)! Thread B finished ep_free. target_epoll is now FREED!" / "Hardware watchpoint 6 ... Old value = -281474920794800  New value = 0  __hlist_del (n=...) at ./include/linux/list.h:989"</a:t>
            </a:r>
          </a:p>
        </p:txBody>
      </p:sp>
      <p:sp>
        <p:nvSpPr>
          <p:cNvPr id="10" name="TextBox 9"/>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DEAD ENDS</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What We Disproved (4 chains, 21 documented dead ends)</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TextBox 6"/>
          <p:cNvSpPr txBox="1"/>
          <p:nvPr/>
        </p:nvSpPr>
        <p:spPr>
          <a:xfrm>
            <a:off x="502920" y="1417320"/>
            <a:ext cx="11247120" cy="4754880"/>
          </a:xfrm>
          <a:prstGeom prst="rect">
            <a:avLst/>
          </a:prstGeom>
          <a:noFill/>
        </p:spPr>
        <p:txBody>
          <a:bodyPr wrap="square" lIns="25400" rIns="25400" tIns="12700" bIns="12700">
            <a:spAutoFit/>
          </a:bodyPr>
          <a:lstStyle/>
          <a:p>
            <a:pPr>
              <a:spcAft>
                <a:spcPts val="500"/>
              </a:spcAft>
            </a:pPr>
            <a:r>
              <a:rPr sz="1300" b="0">
                <a:solidFill>
                  <a:srgbClr val="212121"/>
                </a:solidFill>
                <a:latin typeface="Calibri"/>
              </a:rPr>
              <a:t>●  Chain 0 — controlled crash via percpu_counter_dec: operates on the OUTER (valid) epoll, never the freed INNER one. VER-028 (EXP-019).</a:t>
            </a:r>
          </a:p>
          <a:p>
            <a:pPr>
              <a:spcAft>
                <a:spcPts val="500"/>
              </a:spcAft>
            </a:pPr>
            <a:r>
              <a:rPr sz="1300" b="0">
                <a:solidFill>
                  <a:srgbClr val="212121"/>
                </a:solidFill>
                <a:latin typeface="Calibri"/>
              </a:rPr>
              <a:t>●  Chain 1 — dual-watch KASLR leak: single-epitem UAF and multi-epitem pointer write are mutually exclusive. VER-033 (EXP-024) retracts VER-029/030.</a:t>
            </a:r>
          </a:p>
          <a:p>
            <a:pPr>
              <a:spcAft>
                <a:spcPts val="500"/>
              </a:spcAft>
            </a:pPr>
            <a:r>
              <a:rPr sz="1300" b="0">
                <a:solidFill>
                  <a:srgbClr val="212121"/>
                </a:solidFill>
                <a:latin typeface="Calibri"/>
              </a:rPr>
              <a:t>●  Chain 2 — arbitrary decrement via fake user_struct: ep parameter in __ep_remove is always the OUTER epoll; GDB redirect of outer_epoll-&gt;user failed, fbc = root_user+8. VER-031/032 (EXP-023b).</a:t>
            </a:r>
          </a:p>
          <a:p>
            <a:pPr>
              <a:spcAft>
                <a:spcPts val="500"/>
              </a:spcAft>
            </a:pPr>
            <a:r>
              <a:rPr sz="1300" b="0">
                <a:solidFill>
                  <a:srgbClr val="212121"/>
                </a:solidFill>
                <a:latin typeface="Calibri"/>
              </a:rPr>
              <a:t>●  Chain 3 — full LPE (modprobe_path / creds): depends on Chains 0-2 =&gt; blocked.</a:t>
            </a:r>
          </a:p>
          <a:p>
            <a:pPr>
              <a:spcAft>
                <a:spcPts val="500"/>
              </a:spcAft>
            </a:pPr>
            <a:r>
              <a:rPr sz="1300" b="0">
                <a:solidFill>
                  <a:srgbClr val="212121"/>
                </a:solidFill>
                <a:latin typeface="Calibri"/>
              </a:rPr>
              <a:t>●  struct epitem same-cache reclaim: list_del_init corrupts offsets 24/32 BEFORE the free; INIT_LIST_HEAD of a fresh epitem overwrites the corruption. VER-016 (EXP-008).</a:t>
            </a:r>
          </a:p>
          <a:p>
            <a:pPr>
              <a:spcAft>
                <a:spcPts val="500"/>
              </a:spcAft>
            </a:pPr>
            <a:r>
              <a:rPr sz="1300" b="0">
                <a:solidFill>
                  <a:srgbClr val="212121"/>
                </a:solidFill>
                <a:latin typeface="Calibri"/>
              </a:rPr>
              <a:t>●  struct file UAF: filp cache is SLAB_TYPESAFE_BY_RCU (unmergeable); stale f_op/f_lock accesses are benign. VER-018/025 (EXP-010/015).</a:t>
            </a:r>
          </a:p>
          <a:p>
            <a:pPr>
              <a:spcAft>
                <a:spcPts val="500"/>
              </a:spcAft>
            </a:pPr>
            <a:r>
              <a:rPr sz="1300" b="1">
                <a:solidFill>
                  <a:srgbClr val="212121"/>
                </a:solidFill>
                <a:latin typeface="Calibri"/>
              </a:rPr>
              <a:t>●  21 dead ends total (DE-001..DE-021): 4 chains, 5 target objects, 4 primitive expansions, 4 spray/reclaim paths, 4 early misconceptions.</a:t>
            </a:r>
          </a:p>
          <a:p>
            <a:pPr>
              <a:spcAft>
                <a:spcPts val="500"/>
              </a:spcAft>
            </a:pPr>
            <a:r>
              <a:rPr sz="1300" b="0">
                <a:solidFill>
                  <a:srgbClr val="212121"/>
                </a:solidFill>
                <a:latin typeface="Calibri"/>
              </a:rPr>
              <a:t>●  Protocol Rule 8: retracted claims stay visible in the ledger (VER-010, VER-029, VER-030) with reasons and corrections.</a:t>
            </a:r>
          </a:p>
        </p:txBody>
      </p:sp>
      <p:sp>
        <p:nvSpPr>
          <p:cNvPr id="8" name="TextBox 7"/>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BLOCKER</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The Blocker: Natural Race Is Not Winnable (Root Cause)</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TextBox 6"/>
          <p:cNvSpPr txBox="1"/>
          <p:nvPr/>
        </p:nvSpPr>
        <p:spPr>
          <a:xfrm>
            <a:off x="502920" y="1417320"/>
            <a:ext cx="11247120" cy="3566160"/>
          </a:xfrm>
          <a:prstGeom prst="rect">
            <a:avLst/>
          </a:prstGeom>
          <a:noFill/>
        </p:spPr>
        <p:txBody>
          <a:bodyPr wrap="square" lIns="25400" rIns="25400" tIns="12700" bIns="12700">
            <a:spAutoFit/>
          </a:bodyPr>
          <a:lstStyle/>
          <a:p>
            <a:pPr>
              <a:spcAft>
                <a:spcPts val="500"/>
              </a:spcAft>
            </a:pPr>
            <a:r>
              <a:rPr sz="1300" b="0">
                <a:solidFill>
                  <a:srgbClr val="212121"/>
                </a:solidFill>
                <a:latin typeface="Calibri"/>
              </a:rPr>
              <a:t>●  All UAF hits so far are DEBUGGER-ASSISTED: GDB patches Thread A into an infinite loop inside __ep_remove, creating an artificial preemption window (assumptions A-039/A-040 falsified).</a:t>
            </a:r>
          </a:p>
          <a:p>
            <a:pPr>
              <a:spcAft>
                <a:spcPts val="500"/>
              </a:spcAft>
            </a:pPr>
            <a:r>
              <a:rPr sz="1300" b="0">
                <a:solidFill>
                  <a:srgbClr val="212121"/>
                </a:solidFill>
                <a:latin typeface="Calibri"/>
              </a:rPr>
              <a:t>●  cond_resched() at fs/eventpoll.c lines 888 &amp; 903 is a NO-OP in the 2-CPU pinned PREEMPT_VOLUNTARY setup (NAT-002 CORRECTION, VER-035):</a:t>
            </a:r>
          </a:p>
          <a:p>
            <a:pPr>
              <a:spcAft>
                <a:spcPts val="500"/>
              </a:spcAft>
            </a:pPr>
            <a:r>
              <a:rPr sz="1300" b="0">
                <a:solidFill>
                  <a:srgbClr val="212121"/>
                </a:solidFill>
                <a:latin typeface="Calibri"/>
              </a:rPr>
              <a:t>–     dynamic_cond_resched static key is FALSE (CONFIG_PREEMPT_DYNAMIC, default voluntary) =&gt; returns 0 immediately.</a:t>
            </a:r>
          </a:p>
          <a:p>
            <a:pPr>
              <a:spcAft>
                <a:spcPts val="500"/>
              </a:spcAft>
            </a:pPr>
            <a:r>
              <a:rPr sz="1300" b="0">
                <a:solidFill>
                  <a:srgbClr val="212121"/>
                </a:solidFill>
                <a:latin typeface="Calibri"/>
              </a:rPr>
              <a:t>–     TIF_NEED_RESCHED is never set on CPU 0: timer tick with queued=0 never calls resched_curr(); no cross-CPU IPIs in the pinned idle topology.</a:t>
            </a:r>
          </a:p>
          <a:p>
            <a:pPr>
              <a:spcAft>
                <a:spcPts val="500"/>
              </a:spcAft>
            </a:pPr>
            <a:r>
              <a:rPr sz="1300" b="0">
                <a:solidFill>
                  <a:srgbClr val="212121"/>
                </a:solidFill>
                <a:latin typeface="Calibri"/>
              </a:rPr>
              <a:t>●  __ep_remove itself contains ZERO preemption points (verified in disassembly) — the whole vulnerable sequence runs atomically with respect to scheduling.</a:t>
            </a:r>
          </a:p>
          <a:p>
            <a:pPr>
              <a:spcAft>
                <a:spcPts val="500"/>
              </a:spcAft>
            </a:pPr>
            <a:r>
              <a:rPr sz="1300" b="0">
                <a:solidFill>
                  <a:srgbClr val="212121"/>
                </a:solidFill>
                <a:latin typeface="Calibri"/>
              </a:rPr>
              <a:t>●  The real race window is pure instruction-count timing: ~250-550 cycles (~125-275 ns @ 2 GHz) — below scheduling granularity.</a:t>
            </a:r>
          </a:p>
          <a:p>
            <a:pPr>
              <a:spcAft>
                <a:spcPts val="500"/>
              </a:spcAft>
            </a:pPr>
            <a:r>
              <a:rPr sz="1300" b="0">
                <a:solidFill>
                  <a:srgbClr val="212121"/>
                </a:solidFill>
                <a:latin typeface="Calibri"/>
              </a:rPr>
              <a:t>●  QEMU TCG emulation does not model hardware memory-bus / cache-coherency behaviour, so emulated timing diverges from real silicon.</a:t>
            </a:r>
          </a:p>
        </p:txBody>
      </p:sp>
      <p:sp>
        <p:nvSpPr>
          <p:cNvPr id="8" name="Rounded Rectangle 7"/>
          <p:cNvSpPr/>
          <p:nvPr/>
        </p:nvSpPr>
        <p:spPr>
          <a:xfrm>
            <a:off x="502920" y="5029200"/>
            <a:ext cx="11201400" cy="13258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084064"/>
            <a:ext cx="64008" cy="1216152"/>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120640"/>
            <a:ext cx="10835640" cy="320040"/>
          </a:xfrm>
          <a:prstGeom prst="rect">
            <a:avLst/>
          </a:prstGeom>
          <a:noFill/>
        </p:spPr>
        <p:txBody>
          <a:bodyPr wrap="square" anchor="t" lIns="25400" rIns="25400" tIns="12700" bIns="12700">
            <a:spAutoFit/>
          </a:bodyPr>
          <a:lstStyle/>
          <a:p>
            <a:pPr algn="l">
              <a:spcAft>
                <a:spcPts val="0"/>
              </a:spcAft>
            </a:pPr>
            <a:r>
              <a:rPr sz="1400" b="1">
                <a:solidFill>
                  <a:srgbClr val="F57F17"/>
                </a:solidFill>
                <a:latin typeface="Calibri"/>
              </a:rPr>
              <a:t>Consequence</a:t>
            </a:r>
          </a:p>
        </p:txBody>
      </p:sp>
      <p:sp>
        <p:nvSpPr>
          <p:cNvPr id="11" name="TextBox 10"/>
          <p:cNvSpPr txBox="1"/>
          <p:nvPr/>
        </p:nvSpPr>
        <p:spPr>
          <a:xfrm>
            <a:off x="704088" y="5449824"/>
            <a:ext cx="10835640" cy="822960"/>
          </a:xfrm>
          <a:prstGeom prst="rect">
            <a:avLst/>
          </a:prstGeom>
          <a:noFill/>
        </p:spPr>
        <p:txBody>
          <a:bodyPr wrap="square" anchor="t" lIns="25400" rIns="25400" tIns="12700" bIns="12700">
            <a:spAutoFit/>
          </a:bodyPr>
          <a:lstStyle/>
          <a:p>
            <a:pPr algn="l">
              <a:spcAft>
                <a:spcPts val="0"/>
              </a:spcAft>
            </a:pPr>
            <a:r>
              <a:rPr sz="1200" b="0">
                <a:solidFill>
                  <a:srgbClr val="212121"/>
                </a:solidFill>
                <a:latin typeface="Calibri"/>
              </a:rPr>
              <a:t>Statistical result: 0/102,740 natural attempts (NAT-001: 10,000 simple; NAT-005: 92,740 with isolcpus=1, nohz_full, rcu_nocbs and a 4 MB cache-eviction sweeper). Best alignment error: 1 cycle (~16 ns).</a:t>
            </a:r>
          </a:p>
        </p:txBody>
      </p:sp>
      <p:sp>
        <p:nvSpPr>
          <p:cNvPr id="12" name="TextBox 11"/>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DATA</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Evidence Dashboard</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graphicFrame>
        <p:nvGraphicFramePr>
          <p:cNvPr id="7" name="Table 6"/>
          <p:cNvGraphicFramePr>
            <a:graphicFrameLocks noGrp="1"/>
          </p:cNvGraphicFramePr>
          <p:nvPr/>
        </p:nvGraphicFramePr>
        <p:xfrm>
          <a:off x="502920" y="1417320"/>
          <a:ext cx="11201400" cy="4754880"/>
        </p:xfrm>
        <a:graphic>
          <a:graphicData uri="http://schemas.openxmlformats.org/drawingml/2006/table">
            <a:tbl>
              <a:tblPr>
                <a:tableStyleId>{5C22544A-7EE6-4342-B048-85BDC9FD1C3A}</a:tableStyleId>
              </a:tblPr>
              <a:tblGrid>
                <a:gridCol w="2834640"/>
                <a:gridCol w="5760720"/>
                <a:gridCol w="2606040"/>
              </a:tblGrid>
              <a:tr h="475488">
                <a:tc>
                  <a:txBody>
                    <a:bodyPr lIns="50800" rIns="50800" tIns="12700" bIns="12700"/>
                    <a:lstStyle/>
                    <a:p>
                      <a:pPr algn="l"/>
                      <a:r>
                        <a:rPr sz="1100" b="1">
                          <a:solidFill>
                            <a:srgbClr val="FFFFFF"/>
                          </a:solidFill>
                          <a:latin typeface="Calibri"/>
                        </a:rPr>
                        <a:t>Metric</a:t>
                      </a:r>
                    </a:p>
                  </a:txBody>
                  <a:tcPr>
                    <a:solidFill>
                      <a:srgbClr val="0F2440"/>
                    </a:solidFill>
                  </a:tcPr>
                </a:tc>
                <a:tc>
                  <a:txBody>
                    <a:bodyPr lIns="50800" rIns="50800" tIns="12700" bIns="12700"/>
                    <a:lstStyle/>
                    <a:p>
                      <a:pPr algn="l"/>
                      <a:r>
                        <a:rPr sz="1100" b="1">
                          <a:solidFill>
                            <a:srgbClr val="FFFFFF"/>
                          </a:solidFill>
                          <a:latin typeface="Calibri"/>
                        </a:rPr>
                        <a:t>Value</a:t>
                      </a:r>
                    </a:p>
                  </a:txBody>
                  <a:tcPr>
                    <a:solidFill>
                      <a:srgbClr val="0F2440"/>
                    </a:solidFill>
                  </a:tcPr>
                </a:tc>
                <a:tc>
                  <a:txBody>
                    <a:bodyPr lIns="50800" rIns="50800" tIns="12700" bIns="12700"/>
                    <a:lstStyle/>
                    <a:p>
                      <a:pPr algn="l"/>
                      <a:r>
                        <a:rPr sz="1100" b="1">
                          <a:solidFill>
                            <a:srgbClr val="FFFFFF"/>
                          </a:solidFill>
                          <a:latin typeface="Calibri"/>
                        </a:rPr>
                        <a:t>Evidence file</a:t>
                      </a:r>
                    </a:p>
                  </a:txBody>
                  <a:tcPr>
                    <a:solidFill>
                      <a:srgbClr val="0F2440"/>
                    </a:solidFill>
                  </a:tcPr>
                </a:tc>
              </a:tr>
              <a:tr h="475488">
                <a:tc>
                  <a:txBody>
                    <a:bodyPr wrap="square" lIns="50800" rIns="50800" tIns="12700" bIns="12700"/>
                    <a:lstStyle/>
                    <a:p>
                      <a:pPr algn="l"/>
                      <a:r>
                        <a:rPr sz="1100" b="0">
                          <a:solidFill>
                            <a:srgbClr val="212121"/>
                          </a:solidFill>
                          <a:latin typeface="Calibri"/>
                        </a:rPr>
                        <a:t>Experiments executed</a:t>
                      </a:r>
                    </a:p>
                  </a:txBody>
                  <a:tcPr>
                    <a:solidFill>
                      <a:srgbClr val="FFFFFF"/>
                    </a:solidFill>
                  </a:tcPr>
                </a:tc>
                <a:tc>
                  <a:txBody>
                    <a:bodyPr wrap="square" lIns="50800" rIns="50800" tIns="12700" bIns="12700"/>
                    <a:lstStyle/>
                    <a:p>
                      <a:pPr algn="l"/>
                      <a:r>
                        <a:rPr sz="1100" b="0">
                          <a:solidFill>
                            <a:srgbClr val="212121"/>
                          </a:solidFill>
                          <a:latin typeface="Calibri"/>
                        </a:rPr>
                        <a:t>19 (EXP-006..024, NAT-001/002/005, AND-001)</a:t>
                      </a:r>
                    </a:p>
                  </a:txBody>
                  <a:tcPr>
                    <a:solidFill>
                      <a:srgbClr val="FFFFFF"/>
                    </a:solidFill>
                  </a:tcPr>
                </a:tc>
                <a:tc>
                  <a:txBody>
                    <a:bodyPr wrap="square" lIns="50800" rIns="50800" tIns="12700" bIns="12700"/>
                    <a:lstStyle/>
                    <a:p>
                      <a:pPr algn="l"/>
                      <a:r>
                        <a:rPr sz="1100" b="0">
                          <a:solidFill>
                            <a:srgbClr val="212121"/>
                          </a:solidFill>
                          <a:latin typeface="Calibri"/>
                        </a:rPr>
                        <a:t>EXPERIMENT_INDEX.md</a:t>
                      </a:r>
                    </a:p>
                  </a:txBody>
                  <a:tcPr>
                    <a:solidFill>
                      <a:srgbClr val="FFFFFF"/>
                    </a:solidFill>
                  </a:tcPr>
                </a:tc>
              </a:tr>
              <a:tr h="475488">
                <a:tc>
                  <a:txBody>
                    <a:bodyPr wrap="square" lIns="50800" rIns="50800" tIns="12700" bIns="12700"/>
                    <a:lstStyle/>
                    <a:p>
                      <a:pPr algn="l"/>
                      <a:r>
                        <a:rPr sz="1100" b="0">
                          <a:solidFill>
                            <a:srgbClr val="212121"/>
                          </a:solidFill>
                          <a:latin typeface="Calibri"/>
                        </a:rPr>
                        <a:t>GDB-assisted UAF hits</a:t>
                      </a:r>
                    </a:p>
                  </a:txBody>
                  <a:tcPr>
                    <a:solidFill>
                      <a:srgbClr val="EEF2F7"/>
                    </a:solidFill>
                  </a:tcPr>
                </a:tc>
                <a:tc>
                  <a:txBody>
                    <a:bodyPr wrap="square" lIns="50800" rIns="50800" tIns="12700" bIns="12700"/>
                    <a:lstStyle/>
                    <a:p>
                      <a:pPr algn="l"/>
                      <a:r>
                        <a:rPr sz="1100" b="0">
                          <a:solidFill>
                            <a:srgbClr val="212121"/>
                          </a:solidFill>
                          <a:latin typeface="Calibri"/>
                        </a:rPr>
                        <a:t>~100% on demand (EXP-015/018/019/024)</a:t>
                      </a:r>
                    </a:p>
                  </a:txBody>
                  <a:tcPr>
                    <a:solidFill>
                      <a:srgbClr val="EEF2F7"/>
                    </a:solidFill>
                  </a:tcPr>
                </a:tc>
                <a:tc>
                  <a:txBody>
                    <a:bodyPr wrap="square" lIns="50800" rIns="50800" tIns="12700" bIns="12700"/>
                    <a:lstStyle/>
                    <a:p>
                      <a:pPr algn="l"/>
                      <a:r>
                        <a:rPr sz="1100" b="0">
                          <a:solidFill>
                            <a:srgbClr val="212121"/>
                          </a:solidFill>
                          <a:latin typeface="Calibri"/>
                        </a:rPr>
                        <a:t>EXP-015_unified_trace.log</a:t>
                      </a:r>
                    </a:p>
                  </a:txBody>
                  <a:tcPr>
                    <a:solidFill>
                      <a:srgbClr val="EEF2F7"/>
                    </a:solidFill>
                  </a:tcPr>
                </a:tc>
              </a:tr>
              <a:tr h="475488">
                <a:tc>
                  <a:txBody>
                    <a:bodyPr wrap="square" lIns="50800" rIns="50800" tIns="12700" bIns="12700"/>
                    <a:lstStyle/>
                    <a:p>
                      <a:pPr algn="l"/>
                      <a:r>
                        <a:rPr sz="1100" b="0">
                          <a:solidFill>
                            <a:srgbClr val="212121"/>
                          </a:solidFill>
                          <a:latin typeface="Calibri"/>
                        </a:rPr>
                        <a:t>Natural race hits</a:t>
                      </a:r>
                    </a:p>
                  </a:txBody>
                  <a:tcPr>
                    <a:solidFill>
                      <a:srgbClr val="FFFFFF"/>
                    </a:solidFill>
                  </a:tcPr>
                </a:tc>
                <a:tc>
                  <a:txBody>
                    <a:bodyPr wrap="square" lIns="50800" rIns="50800" tIns="12700" bIns="12700"/>
                    <a:lstStyle/>
                    <a:p>
                      <a:pPr algn="l"/>
                      <a:r>
                        <a:rPr sz="1100" b="0">
                          <a:solidFill>
                            <a:srgbClr val="212121"/>
                          </a:solidFill>
                          <a:latin typeface="Calibri"/>
                        </a:rPr>
                        <a:t>0 / 102,740 (NAT-001: 10k + NAT-005: 92,740)</a:t>
                      </a:r>
                    </a:p>
                  </a:txBody>
                  <a:tcPr>
                    <a:solidFill>
                      <a:srgbClr val="FFFFFF"/>
                    </a:solidFill>
                  </a:tcPr>
                </a:tc>
                <a:tc>
                  <a:txBody>
                    <a:bodyPr wrap="square" lIns="50800" rIns="50800" tIns="12700" bIns="12700"/>
                    <a:lstStyle/>
                    <a:p>
                      <a:pPr algn="l"/>
                      <a:r>
                        <a:rPr sz="1100" b="0">
                          <a:solidFill>
                            <a:srgbClr val="212121"/>
                          </a:solidFill>
                          <a:latin typeface="Calibri"/>
                        </a:rPr>
                        <a:t>NAT-001, NAT-005 logs</a:t>
                      </a:r>
                    </a:p>
                  </a:txBody>
                  <a:tcPr>
                    <a:solidFill>
                      <a:srgbClr val="FFFFFF"/>
                    </a:solidFill>
                  </a:tcPr>
                </a:tc>
              </a:tr>
              <a:tr h="475488">
                <a:tc>
                  <a:txBody>
                    <a:bodyPr wrap="square" lIns="50800" rIns="50800" tIns="12700" bIns="12700"/>
                    <a:lstStyle/>
                    <a:p>
                      <a:pPr algn="l"/>
                      <a:r>
                        <a:rPr sz="1100" b="0">
                          <a:solidFill>
                            <a:srgbClr val="212121"/>
                          </a:solidFill>
                          <a:latin typeface="Calibri"/>
                        </a:rPr>
                        <a:t>Best timing alignment error</a:t>
                      </a:r>
                    </a:p>
                  </a:txBody>
                  <a:tcPr>
                    <a:solidFill>
                      <a:srgbClr val="EEF2F7"/>
                    </a:solidFill>
                  </a:tcPr>
                </a:tc>
                <a:tc>
                  <a:txBody>
                    <a:bodyPr wrap="square" lIns="50800" rIns="50800" tIns="12700" bIns="12700"/>
                    <a:lstStyle/>
                    <a:p>
                      <a:pPr algn="l"/>
                      <a:r>
                        <a:rPr sz="1100" b="0">
                          <a:solidFill>
                            <a:srgbClr val="212121"/>
                          </a:solidFill>
                          <a:latin typeface="Calibri"/>
                        </a:rPr>
                        <a:t>1 cycle (~16 ns) @ delay=2,360 cycles</a:t>
                      </a:r>
                    </a:p>
                  </a:txBody>
                  <a:tcPr>
                    <a:solidFill>
                      <a:srgbClr val="EEF2F7"/>
                    </a:solidFill>
                  </a:tcPr>
                </a:tc>
                <a:tc>
                  <a:txBody>
                    <a:bodyPr wrap="square" lIns="50800" rIns="50800" tIns="12700" bIns="12700"/>
                    <a:lstStyle/>
                    <a:p>
                      <a:pPr algn="l"/>
                      <a:r>
                        <a:rPr sz="1100" b="0">
                          <a:solidFill>
                            <a:srgbClr val="212121"/>
                          </a:solidFill>
                          <a:latin typeface="Calibri"/>
                        </a:rPr>
                        <a:t>NAT-005_raw_serial.log</a:t>
                      </a:r>
                    </a:p>
                  </a:txBody>
                  <a:tcPr>
                    <a:solidFill>
                      <a:srgbClr val="EEF2F7"/>
                    </a:solidFill>
                  </a:tcPr>
                </a:tc>
              </a:tr>
              <a:tr h="475488">
                <a:tc>
                  <a:txBody>
                    <a:bodyPr wrap="square" lIns="50800" rIns="50800" tIns="12700" bIns="12700"/>
                    <a:lstStyle/>
                    <a:p>
                      <a:pPr algn="l"/>
                      <a:r>
                        <a:rPr sz="1100" b="0">
                          <a:solidFill>
                            <a:srgbClr val="212121"/>
                          </a:solidFill>
                          <a:latin typeface="Calibri"/>
                        </a:rPr>
                        <a:t>Verified claims (active)</a:t>
                      </a:r>
                    </a:p>
                  </a:txBody>
                  <a:tcPr>
                    <a:solidFill>
                      <a:srgbClr val="FFFFFF"/>
                    </a:solidFill>
                  </a:tcPr>
                </a:tc>
                <a:tc>
                  <a:txBody>
                    <a:bodyPr wrap="square" lIns="50800" rIns="50800" tIns="12700" bIns="12700"/>
                    <a:lstStyle/>
                    <a:p>
                      <a:pPr algn="l"/>
                      <a:r>
                        <a:rPr sz="1100" b="0">
                          <a:solidFill>
                            <a:srgbClr val="212121"/>
                          </a:solidFill>
                          <a:latin typeface="Calibri"/>
                        </a:rPr>
                        <a:t>VER-009 ... VER-039 (20 entries)</a:t>
                      </a:r>
                    </a:p>
                  </a:txBody>
                  <a:tcPr>
                    <a:solidFill>
                      <a:srgbClr val="FFFFFF"/>
                    </a:solidFill>
                  </a:tcPr>
                </a:tc>
                <a:tc>
                  <a:txBody>
                    <a:bodyPr wrap="square" lIns="50800" rIns="50800" tIns="12700" bIns="12700"/>
                    <a:lstStyle/>
                    <a:p>
                      <a:pPr algn="l"/>
                      <a:r>
                        <a:rPr sz="1100" b="0">
                          <a:solidFill>
                            <a:srgbClr val="212121"/>
                          </a:solidFill>
                          <a:latin typeface="Calibri"/>
                        </a:rPr>
                        <a:t>VERIFICATION_LEDGER.md</a:t>
                      </a:r>
                    </a:p>
                  </a:txBody>
                  <a:tcPr>
                    <a:solidFill>
                      <a:srgbClr val="FFFFFF"/>
                    </a:solidFill>
                  </a:tcPr>
                </a:tc>
              </a:tr>
              <a:tr h="475488">
                <a:tc>
                  <a:txBody>
                    <a:bodyPr wrap="square" lIns="50800" rIns="50800" tIns="12700" bIns="12700"/>
                    <a:lstStyle/>
                    <a:p>
                      <a:pPr algn="l"/>
                      <a:r>
                        <a:rPr sz="1100" b="0">
                          <a:solidFill>
                            <a:srgbClr val="212121"/>
                          </a:solidFill>
                          <a:latin typeface="Calibri"/>
                        </a:rPr>
                        <a:t>Retracted claims</a:t>
                      </a:r>
                    </a:p>
                  </a:txBody>
                  <a:tcPr>
                    <a:solidFill>
                      <a:srgbClr val="EEF2F7"/>
                    </a:solidFill>
                  </a:tcPr>
                </a:tc>
                <a:tc>
                  <a:txBody>
                    <a:bodyPr wrap="square" lIns="50800" rIns="50800" tIns="12700" bIns="12700"/>
                    <a:lstStyle/>
                    <a:p>
                      <a:pPr algn="l"/>
                      <a:r>
                        <a:rPr sz="1100" b="0">
                          <a:solidFill>
                            <a:srgbClr val="212121"/>
                          </a:solidFill>
                          <a:latin typeface="Calibri"/>
                        </a:rPr>
                        <a:t>3 (VER-010, VER-029, VER-030) — kept visible per Rule 8</a:t>
                      </a:r>
                    </a:p>
                  </a:txBody>
                  <a:tcPr>
                    <a:solidFill>
                      <a:srgbClr val="EEF2F7"/>
                    </a:solidFill>
                  </a:tcPr>
                </a:tc>
                <a:tc>
                  <a:txBody>
                    <a:bodyPr wrap="square" lIns="50800" rIns="50800" tIns="12700" bIns="12700"/>
                    <a:lstStyle/>
                    <a:p>
                      <a:pPr algn="l"/>
                      <a:r>
                        <a:rPr sz="1100" b="0">
                          <a:solidFill>
                            <a:srgbClr val="212121"/>
                          </a:solidFill>
                          <a:latin typeface="Calibri"/>
                        </a:rPr>
                        <a:t>VERIFICATION_LEDGER.md</a:t>
                      </a:r>
                    </a:p>
                  </a:txBody>
                  <a:tcPr>
                    <a:solidFill>
                      <a:srgbClr val="EEF2F7"/>
                    </a:solidFill>
                  </a:tcPr>
                </a:tc>
              </a:tr>
              <a:tr h="475488">
                <a:tc>
                  <a:txBody>
                    <a:bodyPr wrap="square" lIns="50800" rIns="50800" tIns="12700" bIns="12700"/>
                    <a:lstStyle/>
                    <a:p>
                      <a:pPr algn="l"/>
                      <a:r>
                        <a:rPr sz="1100" b="0">
                          <a:solidFill>
                            <a:srgbClr val="212121"/>
                          </a:solidFill>
                          <a:latin typeface="Calibri"/>
                        </a:rPr>
                        <a:t>Dead ends</a:t>
                      </a:r>
                    </a:p>
                  </a:txBody>
                  <a:tcPr>
                    <a:solidFill>
                      <a:srgbClr val="FFFFFF"/>
                    </a:solidFill>
                  </a:tcPr>
                </a:tc>
                <a:tc>
                  <a:txBody>
                    <a:bodyPr wrap="square" lIns="50800" rIns="50800" tIns="12700" bIns="12700"/>
                    <a:lstStyle/>
                    <a:p>
                      <a:pPr algn="l"/>
                      <a:r>
                        <a:rPr sz="1100" b="0">
                          <a:solidFill>
                            <a:srgbClr val="212121"/>
                          </a:solidFill>
                          <a:latin typeface="Calibri"/>
                        </a:rPr>
                        <a:t>21 (4 chains · 5 objects · 4 primitives · 4 sprays · 4 misconceptions)</a:t>
                      </a:r>
                    </a:p>
                  </a:txBody>
                  <a:tcPr>
                    <a:solidFill>
                      <a:srgbClr val="FFFFFF"/>
                    </a:solidFill>
                  </a:tcPr>
                </a:tc>
                <a:tc>
                  <a:txBody>
                    <a:bodyPr wrap="square" lIns="50800" rIns="50800" tIns="12700" bIns="12700"/>
                    <a:lstStyle/>
                    <a:p>
                      <a:pPr algn="l"/>
                      <a:r>
                        <a:rPr sz="1100" b="0">
                          <a:solidFill>
                            <a:srgbClr val="212121"/>
                          </a:solidFill>
                          <a:latin typeface="Calibri"/>
                        </a:rPr>
                        <a:t>DEAD_ENDS_REGISTER.md</a:t>
                      </a:r>
                    </a:p>
                  </a:txBody>
                  <a:tcPr>
                    <a:solidFill>
                      <a:srgbClr val="FFFFFF"/>
                    </a:solidFill>
                  </a:tcPr>
                </a:tc>
              </a:tr>
              <a:tr h="475488">
                <a:tc>
                  <a:txBody>
                    <a:bodyPr wrap="square" lIns="50800" rIns="50800" tIns="12700" bIns="12700"/>
                    <a:lstStyle/>
                    <a:p>
                      <a:pPr algn="l"/>
                      <a:r>
                        <a:rPr sz="1100" b="0">
                          <a:solidFill>
                            <a:srgbClr val="212121"/>
                          </a:solidFill>
                          <a:latin typeface="Calibri"/>
                        </a:rPr>
                        <a:t>Android portability</a:t>
                      </a:r>
                    </a:p>
                  </a:txBody>
                  <a:tcPr>
                    <a:solidFill>
                      <a:srgbClr val="EEF2F7"/>
                    </a:solidFill>
                  </a:tcPr>
                </a:tc>
                <a:tc>
                  <a:txBody>
                    <a:bodyPr wrap="square" lIns="50800" rIns="50800" tIns="12700" bIns="12700"/>
                    <a:lstStyle/>
                    <a:p>
                      <a:pPr algn="l"/>
                      <a:r>
                        <a:rPr sz="1100" b="0">
                          <a:solidFill>
                            <a:srgbClr val="212121"/>
                          </a:solidFill>
                          <a:latin typeface="Calibri"/>
                        </a:rPr>
                        <a:t>AND-001 PASSED — SysV IPC functional, load_msg trapped</a:t>
                      </a:r>
                    </a:p>
                  </a:txBody>
                  <a:tcPr>
                    <a:solidFill>
                      <a:srgbClr val="EEF2F7"/>
                    </a:solidFill>
                  </a:tcPr>
                </a:tc>
                <a:tc>
                  <a:txBody>
                    <a:bodyPr wrap="square" lIns="50800" rIns="50800" tIns="12700" bIns="12700"/>
                    <a:lstStyle/>
                    <a:p>
                      <a:pPr algn="l"/>
                      <a:r>
                        <a:rPr sz="1100" b="0">
                          <a:solidFill>
                            <a:srgbClr val="212121"/>
                          </a:solidFill>
                          <a:latin typeface="Calibri"/>
                        </a:rPr>
                        <a:t>AND-001_raw_ipc.log</a:t>
                      </a:r>
                    </a:p>
                  </a:txBody>
                  <a:tcPr>
                    <a:solidFill>
                      <a:srgbClr val="EEF2F7"/>
                    </a:solidFill>
                  </a:tcPr>
                </a:tc>
              </a:tr>
              <a:tr h="475488">
                <a:tc>
                  <a:txBody>
                    <a:bodyPr wrap="square" lIns="50800" rIns="50800" tIns="12700" bIns="12700"/>
                    <a:lstStyle/>
                    <a:p>
                      <a:pPr algn="l"/>
                      <a:r>
                        <a:rPr sz="1100" b="0">
                          <a:solidFill>
                            <a:srgbClr val="212121"/>
                          </a:solidFill>
                          <a:latin typeface="Calibri"/>
                        </a:rPr>
                        <a:t>Kernel under test</a:t>
                      </a:r>
                    </a:p>
                  </a:txBody>
                  <a:tcPr>
                    <a:solidFill>
                      <a:srgbClr val="FFFFFF"/>
                    </a:solidFill>
                  </a:tcPr>
                </a:tc>
                <a:tc>
                  <a:txBody>
                    <a:bodyPr wrap="square" lIns="50800" rIns="50800" tIns="12700" bIns="12700"/>
                    <a:lstStyle/>
                    <a:p>
                      <a:pPr algn="l"/>
                      <a:r>
                        <a:rPr sz="1100" b="0">
                          <a:solidFill>
                            <a:srgbClr val="212121"/>
                          </a:solidFill>
                          <a:latin typeface="Calibri"/>
                        </a:rPr>
                        <a:t>linux-6.12.67, commit 7e35917775b8, CONFIG_SYSVIPC=y, PREEMPT_VOLUNTARY</a:t>
                      </a:r>
                    </a:p>
                  </a:txBody>
                  <a:tcPr>
                    <a:solidFill>
                      <a:srgbClr val="FFFFFF"/>
                    </a:solidFill>
                  </a:tcPr>
                </a:tc>
                <a:tc>
                  <a:txBody>
                    <a:bodyPr wrap="square" lIns="50800" rIns="50800" tIns="12700" bIns="12700"/>
                    <a:lstStyle/>
                    <a:p>
                      <a:pPr algn="l"/>
                      <a:r>
                        <a:rPr sz="1100" b="0">
                          <a:solidFill>
                            <a:srgbClr val="212121"/>
                          </a:solidFill>
                          <a:latin typeface="Calibri"/>
                        </a:rPr>
                        <a:t>.config</a:t>
                      </a:r>
                    </a:p>
                  </a:txBody>
                  <a:tcPr>
                    <a:solidFill>
                      <a:srgbClr val="FFFFFF"/>
                    </a:solidFill>
                  </a:tcPr>
                </a:tc>
              </a:tr>
            </a:tbl>
          </a:graphicData>
        </a:graphic>
      </p:graphicFrame>
      <p:sp>
        <p:nvSpPr>
          <p:cNvPr id="8" name="TextBox 7"/>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TECHNICAL DEEP-DIVE</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Vulnerability Mechanics: Outer-Close / Inner-Close Race</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TextBox 6"/>
          <p:cNvSpPr txBox="1"/>
          <p:nvPr/>
        </p:nvSpPr>
        <p:spPr>
          <a:xfrm>
            <a:off x="502920" y="1417320"/>
            <a:ext cx="5852160" cy="4846320"/>
          </a:xfrm>
          <a:prstGeom prst="rect">
            <a:avLst/>
          </a:prstGeom>
          <a:noFill/>
        </p:spPr>
        <p:txBody>
          <a:bodyPr wrap="square" lIns="25400" rIns="25400" tIns="12700" bIns="12700">
            <a:spAutoFit/>
          </a:bodyPr>
          <a:lstStyle/>
          <a:p>
            <a:pPr>
              <a:spcAft>
                <a:spcPts val="500"/>
              </a:spcAft>
            </a:pPr>
            <a:r>
              <a:rPr sz="1200" b="0">
                <a:solidFill>
                  <a:srgbClr val="212121"/>
                </a:solidFill>
                <a:latin typeface="Calibri"/>
              </a:rPr>
              <a:t>●  Topology: epoll_ctl(EPOLL_CTL_ADD, outer, inner_fd) — one epitem; inner_epoll-&gt;refs gains epi-&gt;fllink.</a:t>
            </a:r>
          </a:p>
          <a:p>
            <a:pPr>
              <a:spcAft>
                <a:spcPts val="500"/>
              </a:spcAft>
            </a:pPr>
            <a:r>
              <a:rPr sz="1200" b="0">
                <a:solidFill>
                  <a:srgbClr val="212121"/>
                </a:solidFill>
                <a:latin typeface="Calibri"/>
              </a:rPr>
              <a:t>●  Thread A: close(outer_fd) -&gt; ep_clear_and_put -&gt; __ep_remove(outer_ep, epi_for_inner).</a:t>
            </a:r>
          </a:p>
          <a:p>
            <a:pPr>
              <a:spcAft>
                <a:spcPts val="500"/>
              </a:spcAft>
            </a:pPr>
            <a:r>
              <a:rPr sz="1200" b="0">
                <a:solidFill>
                  <a:srgbClr val="212121"/>
                </a:solidFill>
                <a:latin typeface="Calibri"/>
              </a:rPr>
              <a:t>●  eventpoll.c:826 — single-epitem check (head-&gt;first == &amp;epi-&gt;fllink &amp;&amp; !epi-&gt;fllink.next)</a:t>
            </a:r>
          </a:p>
          <a:p>
            <a:pPr>
              <a:spcAft>
                <a:spcPts val="500"/>
              </a:spcAft>
            </a:pPr>
            <a:r>
              <a:rPr sz="1200" b="0">
                <a:solidFill>
                  <a:srgbClr val="212121"/>
                </a:solidFill>
                <a:latin typeface="Calibri"/>
              </a:rPr>
              <a:t>●  eventpoll.c:828 — WRITE_ONCE(file-&gt;f_ep, NULL)  [file = inner epoll file]</a:t>
            </a:r>
          </a:p>
          <a:p>
            <a:pPr>
              <a:spcAft>
                <a:spcPts val="500"/>
              </a:spcAft>
            </a:pPr>
            <a:r>
              <a:rPr sz="1200" b="0">
                <a:solidFill>
                  <a:srgbClr val="212121"/>
                </a:solidFill>
                <a:latin typeface="Calibri"/>
              </a:rPr>
              <a:t>●  Thread B: close(inner_fd) -&gt; __fput -&gt; eventpoll_release(): lockless READ_ONCE(f_ep) == NULL =&gt; bypasses eventpoll_release_file =&gt; ep_free =&gt; kfree(inner_epoll) to kmalloc-192.</a:t>
            </a:r>
          </a:p>
          <a:p>
            <a:pPr>
              <a:spcAft>
                <a:spcPts val="500"/>
              </a:spcAft>
            </a:pPr>
            <a:r>
              <a:rPr sz="1200" b="1">
                <a:solidFill>
                  <a:srgbClr val="212121"/>
                </a:solidFill>
                <a:latin typeface="Calibri"/>
              </a:rPr>
              <a:t>●  Thread A resumes -&gt; eventpoll.c:836 hlist_del_rcu(&amp;epi-&gt;fllink): UAF NULL write at freed+160 (refs.first).</a:t>
            </a:r>
          </a:p>
          <a:p>
            <a:pPr>
              <a:spcAft>
                <a:spcPts val="500"/>
              </a:spcAft>
            </a:pPr>
            <a:r>
              <a:rPr sz="1200" b="0">
                <a:solidFill>
                  <a:srgbClr val="212121"/>
                </a:solidFill>
                <a:latin typeface="Calibri"/>
              </a:rPr>
              <a:t>●  Lines 840-857 (rb_erase_cached, spin_lock_irq, percpu_counter_dec) all operate on the OUTER epoll — valid object.</a:t>
            </a:r>
          </a:p>
        </p:txBody>
      </p:sp>
      <p:sp>
        <p:nvSpPr>
          <p:cNvPr id="8" name="Rounded Rectangle 7"/>
          <p:cNvSpPr/>
          <p:nvPr/>
        </p:nvSpPr>
        <p:spPr>
          <a:xfrm>
            <a:off x="6583680" y="1417320"/>
            <a:ext cx="5120640" cy="228600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0" y="1472184"/>
            <a:ext cx="64008" cy="217627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84848" y="1508760"/>
            <a:ext cx="4754880" cy="320040"/>
          </a:xfrm>
          <a:prstGeom prst="rect">
            <a:avLst/>
          </a:prstGeom>
          <a:noFill/>
        </p:spPr>
        <p:txBody>
          <a:bodyPr wrap="square" anchor="t" lIns="25400" rIns="25400" tIns="12700" bIns="12700">
            <a:spAutoFit/>
          </a:bodyPr>
          <a:lstStyle/>
          <a:p>
            <a:pPr algn="l">
              <a:spcAft>
                <a:spcPts val="0"/>
              </a:spcAft>
            </a:pPr>
            <a:r>
              <a:rPr sz="1400" b="1">
                <a:solidFill>
                  <a:srgbClr val="1565C0"/>
                </a:solidFill>
                <a:latin typeface="Calibri"/>
              </a:rPr>
              <a:t>struct eventpoll (176 B -&gt; kmalloc-192)</a:t>
            </a:r>
          </a:p>
        </p:txBody>
      </p:sp>
      <p:sp>
        <p:nvSpPr>
          <p:cNvPr id="11" name="TextBox 10"/>
          <p:cNvSpPr txBox="1"/>
          <p:nvPr/>
        </p:nvSpPr>
        <p:spPr>
          <a:xfrm>
            <a:off x="6784848" y="1837944"/>
            <a:ext cx="4754880" cy="1783080"/>
          </a:xfrm>
          <a:prstGeom prst="rect">
            <a:avLst/>
          </a:prstGeom>
          <a:noFill/>
        </p:spPr>
        <p:txBody>
          <a:bodyPr wrap="square" anchor="t" lIns="25400" rIns="25400" tIns="12700" bIns="12700">
            <a:spAutoFit/>
          </a:bodyPr>
          <a:lstStyle/>
          <a:p>
            <a:pPr algn="l">
              <a:spcAft>
                <a:spcPts val="0"/>
              </a:spcAft>
            </a:pPr>
            <a:r>
              <a:rPr sz="1050" b="0">
                <a:solidFill>
                  <a:srgbClr val="212121"/>
                </a:solidFill>
                <a:latin typeface="Calibri"/>
              </a:rPr>
              <a:t>lock (spinlock) ............ @ 96</a:t>
            </a:r>
          </a:p>
          <a:p>
            <a:pPr algn="l">
              <a:spcAft>
                <a:spcPts val="0"/>
              </a:spcAft>
            </a:pPr>
            <a:r>
              <a:rPr sz="1050" b="0">
                <a:solidFill>
                  <a:srgbClr val="212121"/>
                </a:solidFill>
                <a:latin typeface="Calibri"/>
              </a:rPr>
              <a:t>rbr (rb_root_cached) ....... @ 104-119</a:t>
            </a:r>
          </a:p>
          <a:p>
            <a:pPr algn="l">
              <a:spcAft>
                <a:spcPts val="0"/>
              </a:spcAft>
            </a:pPr>
            <a:r>
              <a:rPr sz="1050" b="0">
                <a:solidFill>
                  <a:srgbClr val="212121"/>
                </a:solidFill>
                <a:latin typeface="Calibri"/>
              </a:rPr>
              <a:t>user (user_struct *) ....... @ 136</a:t>
            </a:r>
          </a:p>
          <a:p>
            <a:pPr algn="l">
              <a:spcAft>
                <a:spcPts val="0"/>
              </a:spcAft>
            </a:pPr>
            <a:r>
              <a:rPr sz="1050" b="1">
                <a:solidFill>
                  <a:srgbClr val="C62828"/>
                </a:solidFill>
                <a:latin typeface="Calibri"/>
              </a:rPr>
              <a:t>refs (hlist_head, f_ep) .... @ 160  &lt;== UAF write target</a:t>
            </a:r>
          </a:p>
        </p:txBody>
      </p:sp>
      <p:sp>
        <p:nvSpPr>
          <p:cNvPr id="12" name="Rounded Rectangle 11"/>
          <p:cNvSpPr/>
          <p:nvPr/>
        </p:nvSpPr>
        <p:spPr>
          <a:xfrm>
            <a:off x="6583680" y="3840480"/>
            <a:ext cx="5120640" cy="237744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0" y="3895344"/>
            <a:ext cx="64008" cy="226771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84848" y="3931920"/>
            <a:ext cx="4754880" cy="320040"/>
          </a:xfrm>
          <a:prstGeom prst="rect">
            <a:avLst/>
          </a:prstGeom>
          <a:noFill/>
        </p:spPr>
        <p:txBody>
          <a:bodyPr wrap="square" anchor="t" lIns="25400" rIns="25400" tIns="12700" bIns="12700">
            <a:spAutoFit/>
          </a:bodyPr>
          <a:lstStyle/>
          <a:p>
            <a:pPr algn="l">
              <a:spcAft>
                <a:spcPts val="0"/>
              </a:spcAft>
            </a:pPr>
            <a:r>
              <a:rPr sz="1400" b="1">
                <a:solidFill>
                  <a:srgbClr val="1565C0"/>
                </a:solidFill>
                <a:latin typeface="Calibri"/>
              </a:rPr>
              <a:t>msg_msg spray mapping</a:t>
            </a:r>
          </a:p>
        </p:txBody>
      </p:sp>
      <p:sp>
        <p:nvSpPr>
          <p:cNvPr id="15" name="TextBox 14"/>
          <p:cNvSpPr txBox="1"/>
          <p:nvPr/>
        </p:nvSpPr>
        <p:spPr>
          <a:xfrm>
            <a:off x="6784848" y="4261104"/>
            <a:ext cx="4754880" cy="1874520"/>
          </a:xfrm>
          <a:prstGeom prst="rect">
            <a:avLst/>
          </a:prstGeom>
          <a:noFill/>
        </p:spPr>
        <p:txBody>
          <a:bodyPr wrap="square" anchor="t" lIns="25400" rIns="25400" tIns="12700" bIns="12700">
            <a:spAutoFit/>
          </a:bodyPr>
          <a:lstStyle/>
          <a:p>
            <a:pPr algn="l">
              <a:spcAft>
                <a:spcPts val="200"/>
              </a:spcAft>
            </a:pPr>
            <a:r>
              <a:rPr sz="1050" b="0">
                <a:solidFill>
                  <a:srgbClr val="212121"/>
                </a:solidFill>
                <a:latin typeface="Calibri"/>
              </a:rPr>
              <a:t>msg_msg header = 48 B; user payload starts at slab offset 48</a:t>
            </a:r>
          </a:p>
          <a:p>
            <a:pPr algn="l">
              <a:spcAft>
                <a:spcPts val="200"/>
              </a:spcAft>
            </a:pPr>
            <a:r>
              <a:rPr sz="1050" b="0">
                <a:solidFill>
                  <a:srgbClr val="212121"/>
                </a:solidFill>
                <a:latin typeface="Calibri"/>
              </a:rPr>
              <a:t>slab offset X  =  user payload byte (X - 48)</a:t>
            </a:r>
          </a:p>
          <a:p>
            <a:pPr algn="l">
              <a:spcAft>
                <a:spcPts val="200"/>
              </a:spcAft>
            </a:pPr>
            <a:r>
              <a:rPr sz="1050" b="0">
                <a:solidFill>
                  <a:srgbClr val="212121"/>
                </a:solidFill>
                <a:latin typeface="Calibri"/>
              </a:rPr>
              <a:t>offset 96 -&gt; byte 48 | offset 136 -&gt; byte 88 | offset 160 -&gt; byte 112</a:t>
            </a:r>
          </a:p>
          <a:p>
            <a:pPr algn="l">
              <a:spcAft>
                <a:spcPts val="0"/>
              </a:spcAft>
            </a:pPr>
            <a:r>
              <a:rPr sz="1050" b="0">
                <a:solidFill>
                  <a:srgbClr val="212121"/>
                </a:solidFill>
                <a:latin typeface="Calibri"/>
              </a:rPr>
              <a:t>144 B payload =&gt; 192 B total =&gt; same kmalloc-192 cache</a:t>
            </a:r>
          </a:p>
        </p:txBody>
      </p:sp>
      <p:sp>
        <p:nvSpPr>
          <p:cNvPr id="16" name="TextBox 15"/>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CHAIN 0 — DEAD (VER-028)</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Controlled Crash via percpu_counter_dec</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Rounded Rectangle 6"/>
          <p:cNvSpPr/>
          <p:nvPr/>
        </p:nvSpPr>
        <p:spPr>
          <a:xfrm>
            <a:off x="502920" y="1417320"/>
            <a:ext cx="5486400" cy="1554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72184"/>
            <a:ext cx="64008" cy="144475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08760"/>
            <a:ext cx="5120640" cy="320040"/>
          </a:xfrm>
          <a:prstGeom prst="rect">
            <a:avLst/>
          </a:prstGeom>
          <a:noFill/>
        </p:spPr>
        <p:txBody>
          <a:bodyPr wrap="square" anchor="t" lIns="25400" rIns="25400" tIns="12700" bIns="12700">
            <a:spAutoFit/>
          </a:bodyPr>
          <a:lstStyle/>
          <a:p>
            <a:pPr algn="l">
              <a:spcAft>
                <a:spcPts val="0"/>
              </a:spcAft>
            </a:pPr>
            <a:r>
              <a:rPr sz="1400" b="1">
                <a:solidFill>
                  <a:srgbClr val="1565C0"/>
                </a:solidFill>
                <a:latin typeface="Calibri"/>
              </a:rPr>
              <a:t>Theory</a:t>
            </a:r>
          </a:p>
        </p:txBody>
      </p:sp>
      <p:sp>
        <p:nvSpPr>
          <p:cNvPr id="10" name="TextBox 9"/>
          <p:cNvSpPr txBox="1"/>
          <p:nvPr/>
        </p:nvSpPr>
        <p:spPr>
          <a:xfrm>
            <a:off x="704088" y="1837944"/>
            <a:ext cx="5120640" cy="105156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Spray the freed inner_epoll with msg_msg placing 0xDEAD000000000000 at offset 136 (ep-&gt;user); Thread A's percpu_counter_dec would dereference garbage -&gt; controlled panic.</a:t>
            </a:r>
          </a:p>
        </p:txBody>
      </p:sp>
      <p:sp>
        <p:nvSpPr>
          <p:cNvPr id="11" name="Rounded Rectangle 10"/>
          <p:cNvSpPr/>
          <p:nvPr/>
        </p:nvSpPr>
        <p:spPr>
          <a:xfrm>
            <a:off x="6217920" y="1417320"/>
            <a:ext cx="5486400" cy="1554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472184"/>
            <a:ext cx="64008" cy="144475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508760"/>
            <a:ext cx="5120640" cy="320040"/>
          </a:xfrm>
          <a:prstGeom prst="rect">
            <a:avLst/>
          </a:prstGeom>
          <a:noFill/>
        </p:spPr>
        <p:txBody>
          <a:bodyPr wrap="square" anchor="t" lIns="25400" rIns="25400" tIns="12700" bIns="12700">
            <a:spAutoFit/>
          </a:bodyPr>
          <a:lstStyle/>
          <a:p>
            <a:pPr algn="l">
              <a:spcAft>
                <a:spcPts val="0"/>
              </a:spcAft>
            </a:pPr>
            <a:r>
              <a:rPr sz="1400" b="1">
                <a:solidFill>
                  <a:srgbClr val="C62828"/>
                </a:solidFill>
                <a:latin typeface="Calibri"/>
              </a:rPr>
              <a:t>Result</a:t>
            </a:r>
          </a:p>
        </p:txBody>
      </p:sp>
      <p:sp>
        <p:nvSpPr>
          <p:cNvPr id="14" name="TextBox 13"/>
          <p:cNvSpPr txBox="1"/>
          <p:nvPr/>
        </p:nvSpPr>
        <p:spPr>
          <a:xfrm>
            <a:off x="6419088" y="1837944"/>
            <a:ext cx="5120640" cy="105156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Reclaim works (marker landed exactly at offset 136) — but NO crash. Thread A completed __ep_remove cleanly.</a:t>
            </a:r>
          </a:p>
        </p:txBody>
      </p:sp>
      <p:sp>
        <p:nvSpPr>
          <p:cNvPr id="15" name="Rounded Rectangle 14"/>
          <p:cNvSpPr/>
          <p:nvPr/>
        </p:nvSpPr>
        <p:spPr>
          <a:xfrm>
            <a:off x="502920" y="3108960"/>
            <a:ext cx="5486400" cy="1554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163824"/>
            <a:ext cx="64008" cy="144475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200400"/>
            <a:ext cx="5120640" cy="320040"/>
          </a:xfrm>
          <a:prstGeom prst="rect">
            <a:avLst/>
          </a:prstGeom>
          <a:noFill/>
        </p:spPr>
        <p:txBody>
          <a:bodyPr wrap="square" anchor="t" lIns="25400" rIns="25400" tIns="12700" bIns="12700">
            <a:spAutoFit/>
          </a:bodyPr>
          <a:lstStyle/>
          <a:p>
            <a:pPr algn="l">
              <a:spcAft>
                <a:spcPts val="0"/>
              </a:spcAft>
            </a:pPr>
            <a:r>
              <a:rPr sz="1400" b="1">
                <a:solidFill>
                  <a:srgbClr val="C62828"/>
                </a:solidFill>
                <a:latin typeface="Calibri"/>
              </a:rPr>
              <a:t>Why it failed</a:t>
            </a:r>
          </a:p>
        </p:txBody>
      </p:sp>
      <p:sp>
        <p:nvSpPr>
          <p:cNvPr id="18" name="TextBox 17"/>
          <p:cNvSpPr txBox="1"/>
          <p:nvPr/>
        </p:nvSpPr>
        <p:spPr>
          <a:xfrm>
            <a:off x="704088" y="3529584"/>
            <a:ext cx="5120640" cy="105156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percpu_counter_dec(&amp;ep-&gt;user-&gt;epoll_watches) uses the ep parameter = OUTER eventpoll (valid), not the freed INNER one. The offset-136 bytes are never read in this race path.</a:t>
            </a:r>
          </a:p>
        </p:txBody>
      </p:sp>
      <p:sp>
        <p:nvSpPr>
          <p:cNvPr id="19" name="Rounded Rectangle 18"/>
          <p:cNvSpPr/>
          <p:nvPr/>
        </p:nvSpPr>
        <p:spPr>
          <a:xfrm>
            <a:off x="6217920" y="3108960"/>
            <a:ext cx="5486400" cy="1554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163824"/>
            <a:ext cx="64008" cy="1444752"/>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3200400"/>
            <a:ext cx="5120640" cy="320040"/>
          </a:xfrm>
          <a:prstGeom prst="rect">
            <a:avLst/>
          </a:prstGeom>
          <a:noFill/>
        </p:spPr>
        <p:txBody>
          <a:bodyPr wrap="square" anchor="t" lIns="25400" rIns="25400" tIns="12700" bIns="12700">
            <a:spAutoFit/>
          </a:bodyPr>
          <a:lstStyle/>
          <a:p>
            <a:pPr algn="l">
              <a:spcAft>
                <a:spcPts val="0"/>
              </a:spcAft>
            </a:pPr>
            <a:r>
              <a:rPr sz="1400" b="1">
                <a:solidFill>
                  <a:srgbClr val="F57F17"/>
                </a:solidFill>
                <a:latin typeface="Calibri"/>
              </a:rPr>
              <a:t>Lesson</a:t>
            </a:r>
          </a:p>
        </p:txBody>
      </p:sp>
      <p:sp>
        <p:nvSpPr>
          <p:cNvPr id="22" name="TextBox 21"/>
          <p:cNvSpPr txBox="1"/>
          <p:nvPr/>
        </p:nvSpPr>
        <p:spPr>
          <a:xfrm>
            <a:off x="6419088" y="3529584"/>
            <a:ext cx="5120640" cy="105156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Attacker control of a field means nothing if the code path never reads that field. The only field the freed object's bytes feed is offset 160 via hlist_del_rcu.</a:t>
            </a:r>
          </a:p>
        </p:txBody>
      </p:sp>
      <p:sp>
        <p:nvSpPr>
          <p:cNvPr id="23" name="Rounded Rectangle 22"/>
          <p:cNvSpPr/>
          <p:nvPr/>
        </p:nvSpPr>
        <p:spPr>
          <a:xfrm>
            <a:off x="502920" y="4892040"/>
            <a:ext cx="11201400" cy="137160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029200"/>
            <a:ext cx="10698480" cy="109728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onsolas"/>
              </a:rPr>
              <a:t>Evidence (EXP-019_raw_gdb.log): "Marker at 0xffff0000035c4a48 (offset 136): 0xdead000000000000 ... MATCH" then "No crash occurred - hang timeout (25s) triggered".</a:t>
            </a:r>
          </a:p>
        </p:txBody>
      </p:sp>
      <p:sp>
        <p:nvSpPr>
          <p:cNvPr id="25" name="TextBox 24"/>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CHAIN 1 — RETRACTED (VER-033)</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Dual-Watch KASLR Leak via hlist_del_rcu</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Rounded Rectangle 6"/>
          <p:cNvSpPr/>
          <p:nvPr/>
        </p:nvSpPr>
        <p:spPr>
          <a:xfrm>
            <a:off x="502920" y="1417320"/>
            <a:ext cx="5486400" cy="1554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72184"/>
            <a:ext cx="64008" cy="144475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08760"/>
            <a:ext cx="5120640" cy="320040"/>
          </a:xfrm>
          <a:prstGeom prst="rect">
            <a:avLst/>
          </a:prstGeom>
          <a:noFill/>
        </p:spPr>
        <p:txBody>
          <a:bodyPr wrap="square" anchor="t" lIns="25400" rIns="25400" tIns="12700" bIns="12700">
            <a:spAutoFit/>
          </a:bodyPr>
          <a:lstStyle/>
          <a:p>
            <a:pPr algn="l">
              <a:spcAft>
                <a:spcPts val="0"/>
              </a:spcAft>
            </a:pPr>
            <a:r>
              <a:rPr sz="1400" b="1">
                <a:solidFill>
                  <a:srgbClr val="1565C0"/>
                </a:solidFill>
                <a:latin typeface="Calibri"/>
              </a:rPr>
              <a:t>Theory (EXP-022b)</a:t>
            </a:r>
          </a:p>
        </p:txBody>
      </p:sp>
      <p:sp>
        <p:nvSpPr>
          <p:cNvPr id="10" name="TextBox 9"/>
          <p:cNvSpPr txBox="1"/>
          <p:nvPr/>
        </p:nvSpPr>
        <p:spPr>
          <a:xfrm>
            <a:off x="704088" y="1837944"/>
            <a:ext cx="5120640" cy="105156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Add inner_epoll to TWO outer epolls =&gt; 2 epitems in inner_epoll-&gt;refs. Closing outer1 makes hlist_del_rcu write epi2's address (a kernel pointer) at offset 160 -&gt; read back via msgrcv -&gt; KASLR defeat.</a:t>
            </a:r>
          </a:p>
        </p:txBody>
      </p:sp>
      <p:sp>
        <p:nvSpPr>
          <p:cNvPr id="11" name="Rounded Rectangle 10"/>
          <p:cNvSpPr/>
          <p:nvPr/>
        </p:nvSpPr>
        <p:spPr>
          <a:xfrm>
            <a:off x="6217920" y="1417320"/>
            <a:ext cx="5486400" cy="1554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472184"/>
            <a:ext cx="64008" cy="1444752"/>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508760"/>
            <a:ext cx="5120640" cy="320040"/>
          </a:xfrm>
          <a:prstGeom prst="rect">
            <a:avLst/>
          </a:prstGeom>
          <a:noFill/>
        </p:spPr>
        <p:txBody>
          <a:bodyPr wrap="square" anchor="t" lIns="25400" rIns="25400" tIns="12700" bIns="12700">
            <a:spAutoFit/>
          </a:bodyPr>
          <a:lstStyle/>
          <a:p>
            <a:pPr algn="l">
              <a:spcAft>
                <a:spcPts val="0"/>
              </a:spcAft>
            </a:pPr>
            <a:r>
              <a:rPr sz="1400" b="1">
                <a:solidFill>
                  <a:srgbClr val="F57F17"/>
                </a:solidFill>
                <a:latin typeface="Calibri"/>
              </a:rPr>
              <a:t>Original evidence was flawed</a:t>
            </a:r>
          </a:p>
        </p:txBody>
      </p:sp>
      <p:sp>
        <p:nvSpPr>
          <p:cNvPr id="14" name="TextBox 13"/>
          <p:cNvSpPr txBox="1"/>
          <p:nvPr/>
        </p:nvSpPr>
        <p:spPr>
          <a:xfrm>
            <a:off x="6419088" y="1837944"/>
            <a:ext cx="5120640" cy="105156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EXP-022b log: 'AFTER spray' dump captured BEFORE ep_free; labels inverted; log ends in GDB error with no msgrcv readback ever captured.</a:t>
            </a:r>
          </a:p>
        </p:txBody>
      </p:sp>
      <p:sp>
        <p:nvSpPr>
          <p:cNvPr id="15" name="Rounded Rectangle 14"/>
          <p:cNvSpPr/>
          <p:nvPr/>
        </p:nvSpPr>
        <p:spPr>
          <a:xfrm>
            <a:off x="502920" y="3108960"/>
            <a:ext cx="11201400" cy="1554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163824"/>
            <a:ext cx="64008" cy="144475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200400"/>
            <a:ext cx="10835640" cy="320040"/>
          </a:xfrm>
          <a:prstGeom prst="rect">
            <a:avLst/>
          </a:prstGeom>
          <a:noFill/>
        </p:spPr>
        <p:txBody>
          <a:bodyPr wrap="square" anchor="t" lIns="25400" rIns="25400" tIns="12700" bIns="12700">
            <a:spAutoFit/>
          </a:bodyPr>
          <a:lstStyle/>
          <a:p>
            <a:pPr algn="l">
              <a:spcAft>
                <a:spcPts val="0"/>
              </a:spcAft>
            </a:pPr>
            <a:r>
              <a:rPr sz="1400" b="1">
                <a:solidFill>
                  <a:srgbClr val="C62828"/>
                </a:solidFill>
                <a:latin typeface="Calibri"/>
              </a:rPr>
              <a:t>EXP-024 re-test with hardware watchpoint — result</a:t>
            </a:r>
          </a:p>
        </p:txBody>
      </p:sp>
      <p:sp>
        <p:nvSpPr>
          <p:cNvPr id="18" name="TextBox 17"/>
          <p:cNvSpPr txBox="1"/>
          <p:nvPr/>
        </p:nvSpPr>
        <p:spPr>
          <a:xfrm>
            <a:off x="704088" y="3529584"/>
            <a:ext cx="10835640" cy="105156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With 2+ epitems, the single-epitem check (eventpoll.c:826) is FALSE =&gt; WRITE_ONCE(f_ep, NULL) never executes =&gt; the lockless bypass (VER-026) cannot trigger =&gt; inner_epoll is NEVER freed before hlist_del_rcu. Watchpoint fired on LIVE memory (ep_free_inner_seen: False), value NULL.</a:t>
            </a:r>
          </a:p>
        </p:txBody>
      </p:sp>
      <p:sp>
        <p:nvSpPr>
          <p:cNvPr id="19" name="Rounded Rectangle 18"/>
          <p:cNvSpPr/>
          <p:nvPr/>
        </p:nvSpPr>
        <p:spPr>
          <a:xfrm>
            <a:off x="502920" y="4800600"/>
            <a:ext cx="11201400" cy="146304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855464"/>
            <a:ext cx="64008" cy="135331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892040"/>
            <a:ext cx="10835640" cy="320040"/>
          </a:xfrm>
          <a:prstGeom prst="rect">
            <a:avLst/>
          </a:prstGeom>
          <a:noFill/>
        </p:spPr>
        <p:txBody>
          <a:bodyPr wrap="square" anchor="t" lIns="25400" rIns="25400" tIns="12700" bIns="12700">
            <a:spAutoFit/>
          </a:bodyPr>
          <a:lstStyle/>
          <a:p>
            <a:pPr algn="l">
              <a:spcAft>
                <a:spcPts val="0"/>
              </a:spcAft>
            </a:pPr>
            <a:r>
              <a:rPr sz="1400" b="1">
                <a:solidFill>
                  <a:srgbClr val="C62828"/>
                </a:solidFill>
                <a:latin typeface="Calibri"/>
              </a:rPr>
              <a:t>Structural impossibility (VER-033)</a:t>
            </a:r>
          </a:p>
        </p:txBody>
      </p:sp>
      <p:sp>
        <p:nvSpPr>
          <p:cNvPr id="22" name="TextBox 21"/>
          <p:cNvSpPr txBox="1"/>
          <p:nvPr/>
        </p:nvSpPr>
        <p:spPr>
          <a:xfrm>
            <a:off x="704088" y="5221224"/>
            <a:ext cx="10835640" cy="960120"/>
          </a:xfrm>
          <a:prstGeom prst="rect">
            <a:avLst/>
          </a:prstGeom>
          <a:noFill/>
        </p:spPr>
        <p:txBody>
          <a:bodyPr wrap="square" anchor="t" lIns="25400" rIns="25400" tIns="12700" bIns="12700">
            <a:spAutoFit/>
          </a:bodyPr>
          <a:lstStyle/>
          <a:p>
            <a:pPr algn="l">
              <a:spcAft>
                <a:spcPts val="0"/>
              </a:spcAft>
            </a:pPr>
            <a:r>
              <a:rPr sz="1100" b="1">
                <a:solidFill>
                  <a:srgbClr val="212121"/>
                </a:solidFill>
                <a:latin typeface="Calibri"/>
              </a:rPr>
              <a:t>UAF requires single-epitem (f_ep=NULL); kernel-pointer write requires multi-epitem. No topology satisfies both. VER-029/VER-030 retracted and kept visible.</a:t>
            </a:r>
          </a:p>
        </p:txBody>
      </p:sp>
      <p:sp>
        <p:nvSpPr>
          <p:cNvPr id="23" name="TextBox 22"/>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CHAIN 2 — DEAD (VER-031/032)</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Arbitrary Decrement via Fake user_struct</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Rounded Rectangle 6"/>
          <p:cNvSpPr/>
          <p:nvPr/>
        </p:nvSpPr>
        <p:spPr>
          <a:xfrm>
            <a:off x="502920" y="1417320"/>
            <a:ext cx="5486400" cy="1554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72184"/>
            <a:ext cx="64008" cy="144475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08760"/>
            <a:ext cx="5120640" cy="320040"/>
          </a:xfrm>
          <a:prstGeom prst="rect">
            <a:avLst/>
          </a:prstGeom>
          <a:noFill/>
        </p:spPr>
        <p:txBody>
          <a:bodyPr wrap="square" anchor="t" lIns="25400" rIns="25400" tIns="12700" bIns="12700">
            <a:spAutoFit/>
          </a:bodyPr>
          <a:lstStyle/>
          <a:p>
            <a:pPr algn="l">
              <a:spcAft>
                <a:spcPts val="0"/>
              </a:spcAft>
            </a:pPr>
            <a:r>
              <a:rPr sz="1400" b="1">
                <a:solidFill>
                  <a:srgbClr val="1565C0"/>
                </a:solidFill>
                <a:latin typeface="Calibri"/>
              </a:rPr>
              <a:t>Theory (EXP-023b)</a:t>
            </a:r>
          </a:p>
        </p:txBody>
      </p:sp>
      <p:sp>
        <p:nvSpPr>
          <p:cNvPr id="10" name="TextBox 9"/>
          <p:cNvSpPr txBox="1"/>
          <p:nvPr/>
        </p:nvSpPr>
        <p:spPr>
          <a:xfrm>
            <a:off x="704088" y="1837944"/>
            <a:ext cx="5120640" cy="105156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Second msg_msg spray holds a fake struct user_struct; point ep-&gt;user (offset 136) at it so percpu_counter_dec decrements an attacker-chosen address (modprobe_path).</a:t>
            </a:r>
          </a:p>
        </p:txBody>
      </p:sp>
      <p:sp>
        <p:nvSpPr>
          <p:cNvPr id="11" name="Rounded Rectangle 10"/>
          <p:cNvSpPr/>
          <p:nvPr/>
        </p:nvSpPr>
        <p:spPr>
          <a:xfrm>
            <a:off x="6217920" y="1417320"/>
            <a:ext cx="5486400" cy="1554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472184"/>
            <a:ext cx="64008" cy="144475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508760"/>
            <a:ext cx="5120640" cy="320040"/>
          </a:xfrm>
          <a:prstGeom prst="rect">
            <a:avLst/>
          </a:prstGeom>
          <a:noFill/>
        </p:spPr>
        <p:txBody>
          <a:bodyPr wrap="square" anchor="t" lIns="25400" rIns="25400" tIns="12700" bIns="12700">
            <a:spAutoFit/>
          </a:bodyPr>
          <a:lstStyle/>
          <a:p>
            <a:pPr algn="l">
              <a:spcAft>
                <a:spcPts val="0"/>
              </a:spcAft>
            </a:pPr>
            <a:r>
              <a:rPr sz="1400" b="1">
                <a:solidFill>
                  <a:srgbClr val="1565C0"/>
                </a:solidFill>
                <a:latin typeface="Calibri"/>
              </a:rPr>
              <a:t>What we did</a:t>
            </a:r>
          </a:p>
        </p:txBody>
      </p:sp>
      <p:sp>
        <p:nvSpPr>
          <p:cNvPr id="14" name="TextBox 13"/>
          <p:cNvSpPr txBox="1"/>
          <p:nvPr/>
        </p:nvSpPr>
        <p:spPr>
          <a:xfrm>
            <a:off x="6419088" y="1837944"/>
            <a:ext cx="5120640" cy="105156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GDB wrote the fake user_struct into kernel memory and overwrote outer_epoll-&gt;user (offset 136) to point at it; breakpoint at percpu_counter_add_batch.</a:t>
            </a:r>
          </a:p>
        </p:txBody>
      </p:sp>
      <p:sp>
        <p:nvSpPr>
          <p:cNvPr id="15" name="Rounded Rectangle 14"/>
          <p:cNvSpPr/>
          <p:nvPr/>
        </p:nvSpPr>
        <p:spPr>
          <a:xfrm>
            <a:off x="502920" y="3108960"/>
            <a:ext cx="11201400" cy="1554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163824"/>
            <a:ext cx="64008" cy="144475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200400"/>
            <a:ext cx="10835640" cy="320040"/>
          </a:xfrm>
          <a:prstGeom prst="rect">
            <a:avLst/>
          </a:prstGeom>
          <a:noFill/>
        </p:spPr>
        <p:txBody>
          <a:bodyPr wrap="square" anchor="t" lIns="25400" rIns="25400" tIns="12700" bIns="12700">
            <a:spAutoFit/>
          </a:bodyPr>
          <a:lstStyle/>
          <a:p>
            <a:pPr algn="l">
              <a:spcAft>
                <a:spcPts val="0"/>
              </a:spcAft>
            </a:pPr>
            <a:r>
              <a:rPr sz="1400" b="1">
                <a:solidFill>
                  <a:srgbClr val="C62828"/>
                </a:solidFill>
                <a:latin typeface="Calibri"/>
              </a:rPr>
              <a:t>Result</a:t>
            </a:r>
          </a:p>
        </p:txBody>
      </p:sp>
      <p:sp>
        <p:nvSpPr>
          <p:cNvPr id="18" name="TextBox 17"/>
          <p:cNvSpPr txBox="1"/>
          <p:nvPr/>
        </p:nvSpPr>
        <p:spPr>
          <a:xfrm>
            <a:off x="704088" y="3529584"/>
            <a:ext cx="10835640" cy="105156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Breakpoint hit: fbc = 0xffff80008152bea0 = root_user + 8. The kernel read outer_epoll-&gt;user as the REAL root_user, not our fake pointer. modprobe_path unchanged (still "/sbin/modprobe"). Redirect failed.</a:t>
            </a:r>
          </a:p>
        </p:txBody>
      </p:sp>
      <p:sp>
        <p:nvSpPr>
          <p:cNvPr id="19" name="Rounded Rectangle 18"/>
          <p:cNvSpPr/>
          <p:nvPr/>
        </p:nvSpPr>
        <p:spPr>
          <a:xfrm>
            <a:off x="502920" y="4800600"/>
            <a:ext cx="11201400" cy="146304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855464"/>
            <a:ext cx="64008" cy="135331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892040"/>
            <a:ext cx="10835640" cy="320040"/>
          </a:xfrm>
          <a:prstGeom prst="rect">
            <a:avLst/>
          </a:prstGeom>
          <a:noFill/>
        </p:spPr>
        <p:txBody>
          <a:bodyPr wrap="square" anchor="t" lIns="25400" rIns="25400" tIns="12700" bIns="12700">
            <a:spAutoFit/>
          </a:bodyPr>
          <a:lstStyle/>
          <a:p>
            <a:pPr algn="l">
              <a:spcAft>
                <a:spcPts val="0"/>
              </a:spcAft>
            </a:pPr>
            <a:r>
              <a:rPr sz="1400" b="1">
                <a:solidFill>
                  <a:srgbClr val="C62828"/>
                </a:solidFill>
                <a:latin typeface="Calibri"/>
              </a:rPr>
              <a:t>Why</a:t>
            </a:r>
          </a:p>
        </p:txBody>
      </p:sp>
      <p:sp>
        <p:nvSpPr>
          <p:cNvPr id="22" name="TextBox 21"/>
          <p:cNvSpPr txBox="1"/>
          <p:nvPr/>
        </p:nvSpPr>
        <p:spPr>
          <a:xfrm>
            <a:off x="704088" y="5221224"/>
            <a:ext cx="10835640" cy="960120"/>
          </a:xfrm>
          <a:prstGeom prst="rect">
            <a:avLst/>
          </a:prstGeom>
          <a:noFill/>
        </p:spPr>
        <p:txBody>
          <a:bodyPr wrap="square" anchor="t" lIns="25400" rIns="25400" tIns="12700" bIns="12700">
            <a:spAutoFit/>
          </a:bodyPr>
          <a:lstStyle/>
          <a:p>
            <a:pPr algn="l">
              <a:spcAft>
                <a:spcPts val="0"/>
              </a:spcAft>
            </a:pPr>
            <a:r>
              <a:rPr sz="1100" b="1">
                <a:solidFill>
                  <a:srgbClr val="212121"/>
                </a:solidFill>
                <a:latin typeface="Calibri"/>
              </a:rPr>
              <a:t>Same root cause as Chain 0: percpu_counter_dec always uses the OUTER epoll (valid, never freed, never reclaimable). The only UAF write remains hlist_del_rcu at offset 160.</a:t>
            </a:r>
          </a:p>
        </p:txBody>
      </p:sp>
      <p:sp>
        <p:nvSpPr>
          <p:cNvPr id="23" name="TextBox 22"/>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CHAIN 3 — BLOCKED + EXP-016 AUDIT</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Full LPE and the Remaining Primitive</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Rounded Rectangle 6"/>
          <p:cNvSpPr/>
          <p:nvPr/>
        </p:nvSpPr>
        <p:spPr>
          <a:xfrm>
            <a:off x="502920" y="1417320"/>
            <a:ext cx="5486400" cy="182880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72184"/>
            <a:ext cx="64008" cy="171907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08760"/>
            <a:ext cx="5120640" cy="320040"/>
          </a:xfrm>
          <a:prstGeom prst="rect">
            <a:avLst/>
          </a:prstGeom>
          <a:noFill/>
        </p:spPr>
        <p:txBody>
          <a:bodyPr wrap="square" anchor="t" lIns="25400" rIns="25400" tIns="12700" bIns="12700">
            <a:spAutoFit/>
          </a:bodyPr>
          <a:lstStyle/>
          <a:p>
            <a:pPr algn="l">
              <a:spcAft>
                <a:spcPts val="0"/>
              </a:spcAft>
            </a:pPr>
            <a:r>
              <a:rPr sz="1400" b="1">
                <a:solidFill>
                  <a:srgbClr val="C62828"/>
                </a:solidFill>
                <a:latin typeface="Calibri"/>
              </a:rPr>
              <a:t>Chain 3: Full LPE</a:t>
            </a:r>
          </a:p>
        </p:txBody>
      </p:sp>
      <p:sp>
        <p:nvSpPr>
          <p:cNvPr id="10" name="TextBox 9"/>
          <p:cNvSpPr txBox="1"/>
          <p:nvPr/>
        </p:nvSpPr>
        <p:spPr>
          <a:xfrm>
            <a:off x="704088" y="1837944"/>
            <a:ext cx="5120640" cy="1325880"/>
          </a:xfrm>
          <a:prstGeom prst="rect">
            <a:avLst/>
          </a:prstGeom>
          <a:noFill/>
        </p:spPr>
        <p:txBody>
          <a:bodyPr wrap="square" anchor="t" lIns="25400" rIns="25400" tIns="12700" bIns="12700">
            <a:spAutoFit/>
          </a:bodyPr>
          <a:lstStyle/>
          <a:p>
            <a:pPr algn="l">
              <a:spcAft>
                <a:spcPts val="200"/>
              </a:spcAft>
            </a:pPr>
            <a:r>
              <a:rPr sz="1100" b="0">
                <a:solidFill>
                  <a:srgbClr val="212121"/>
                </a:solidFill>
                <a:latin typeface="Calibri"/>
              </a:rPr>
              <a:t>Depends on Chain 1 (KASLR leak) + Chain 2 (arbitrary write) — both dead.</a:t>
            </a:r>
          </a:p>
          <a:p>
            <a:pPr algn="l">
              <a:spcAft>
                <a:spcPts val="0"/>
              </a:spcAft>
            </a:pPr>
            <a:r>
              <a:rPr sz="1100" b="0">
                <a:solidFill>
                  <a:srgbClr val="212121"/>
                </a:solidFill>
                <a:latin typeface="Calibri"/>
              </a:rPr>
              <a:t>Remaining primitive: fixed-value NULL write at fixed offset 160 of a reclaimed kmalloc-192 slot.</a:t>
            </a:r>
          </a:p>
        </p:txBody>
      </p:sp>
      <p:sp>
        <p:nvSpPr>
          <p:cNvPr id="11" name="Rounded Rectangle 10"/>
          <p:cNvSpPr/>
          <p:nvPr/>
        </p:nvSpPr>
        <p:spPr>
          <a:xfrm>
            <a:off x="6217920" y="1417320"/>
            <a:ext cx="5486400" cy="182880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472184"/>
            <a:ext cx="64008" cy="171907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508760"/>
            <a:ext cx="5120640" cy="320040"/>
          </a:xfrm>
          <a:prstGeom prst="rect">
            <a:avLst/>
          </a:prstGeom>
          <a:noFill/>
        </p:spPr>
        <p:txBody>
          <a:bodyPr wrap="square" anchor="t" lIns="25400" rIns="25400" tIns="12700" bIns="12700">
            <a:spAutoFit/>
          </a:bodyPr>
          <a:lstStyle/>
          <a:p>
            <a:pPr algn="l">
              <a:spcAft>
                <a:spcPts val="0"/>
              </a:spcAft>
            </a:pPr>
            <a:r>
              <a:rPr sz="1400" b="1">
                <a:solidFill>
                  <a:srgbClr val="1565C0"/>
                </a:solidFill>
                <a:latin typeface="Calibri"/>
              </a:rPr>
              <a:t>EXP-016: kmalloc-192 offset-160 audit</a:t>
            </a:r>
          </a:p>
        </p:txBody>
      </p:sp>
      <p:sp>
        <p:nvSpPr>
          <p:cNvPr id="14" name="TextBox 13"/>
          <p:cNvSpPr txBox="1"/>
          <p:nvPr/>
        </p:nvSpPr>
        <p:spPr>
          <a:xfrm>
            <a:off x="6419088" y="1837944"/>
            <a:ext cx="5120640" cy="1325880"/>
          </a:xfrm>
          <a:prstGeom prst="rect">
            <a:avLst/>
          </a:prstGeom>
          <a:noFill/>
        </p:spPr>
        <p:txBody>
          <a:bodyPr wrap="square" anchor="t" lIns="25400" rIns="25400" tIns="12700" bIns="12700">
            <a:spAutoFit/>
          </a:bodyPr>
          <a:lstStyle/>
          <a:p>
            <a:pPr algn="l">
              <a:spcAft>
                <a:spcPts val="200"/>
              </a:spcAft>
            </a:pPr>
            <a:r>
              <a:rPr sz="1100" b="0">
                <a:solidFill>
                  <a:srgbClr val="212121"/>
                </a:solidFill>
                <a:latin typeface="Calibri"/>
              </a:rPr>
              <a:t>All generic-kmalloc 176-192 B structs checked via pahole against the real vmlinux + source audit.</a:t>
            </a:r>
          </a:p>
          <a:p>
            <a:pPr algn="l">
              <a:spcAft>
                <a:spcPts val="0"/>
              </a:spcAft>
            </a:pPr>
            <a:r>
              <a:rPr sz="1100" b="1">
                <a:solidFill>
                  <a:srgbClr val="212121"/>
                </a:solidFill>
                <a:latin typeface="Calibri"/>
              </a:rPr>
              <a:t>Verdict: NULLing offset 160 yields crash-only or benign effects in every candidate.</a:t>
            </a:r>
          </a:p>
        </p:txBody>
      </p:sp>
      <p:graphicFrame>
        <p:nvGraphicFramePr>
          <p:cNvPr id="15" name="Table 14"/>
          <p:cNvGraphicFramePr>
            <a:graphicFrameLocks noGrp="1"/>
          </p:cNvGraphicFramePr>
          <p:nvPr/>
        </p:nvGraphicFramePr>
        <p:xfrm>
          <a:off x="502920" y="3429000"/>
          <a:ext cx="11201399" cy="2743200"/>
        </p:xfrm>
        <a:graphic>
          <a:graphicData uri="http://schemas.openxmlformats.org/drawingml/2006/table">
            <a:tbl>
              <a:tblPr>
                <a:tableStyleId>{5C22544A-7EE6-4342-B048-85BDC9FD1C3A}</a:tableStyleId>
              </a:tblPr>
              <a:tblGrid>
                <a:gridCol w="2103120"/>
                <a:gridCol w="3017520"/>
                <a:gridCol w="3749039"/>
                <a:gridCol w="2331720"/>
              </a:tblGrid>
              <a:tr h="457200">
                <a:tc>
                  <a:txBody>
                    <a:bodyPr lIns="50800" rIns="50800" tIns="12700" bIns="12700"/>
                    <a:lstStyle/>
                    <a:p>
                      <a:pPr algn="l"/>
                      <a:r>
                        <a:rPr sz="1050" b="1">
                          <a:solidFill>
                            <a:srgbClr val="FFFFFF"/>
                          </a:solidFill>
                          <a:latin typeface="Calibri"/>
                        </a:rPr>
                        <a:t>Candidate</a:t>
                      </a:r>
                    </a:p>
                  </a:txBody>
                  <a:tcPr>
                    <a:solidFill>
                      <a:srgbClr val="0F2440"/>
                    </a:solidFill>
                  </a:tcPr>
                </a:tc>
                <a:tc>
                  <a:txBody>
                    <a:bodyPr lIns="50800" rIns="50800" tIns="12700" bIns="12700"/>
                    <a:lstStyle/>
                    <a:p>
                      <a:pPr algn="l"/>
                      <a:r>
                        <a:rPr sz="1050" b="1">
                          <a:solidFill>
                            <a:srgbClr val="FFFFFF"/>
                          </a:solidFill>
                          <a:latin typeface="Calibri"/>
                        </a:rPr>
                        <a:t>Field @160</a:t>
                      </a:r>
                    </a:p>
                  </a:txBody>
                  <a:tcPr>
                    <a:solidFill>
                      <a:srgbClr val="0F2440"/>
                    </a:solidFill>
                  </a:tcPr>
                </a:tc>
                <a:tc>
                  <a:txBody>
                    <a:bodyPr lIns="50800" rIns="50800" tIns="12700" bIns="12700"/>
                    <a:lstStyle/>
                    <a:p>
                      <a:pPr algn="l"/>
                      <a:r>
                        <a:rPr sz="1050" b="1">
                          <a:solidFill>
                            <a:srgbClr val="FFFFFF"/>
                          </a:solidFill>
                          <a:latin typeface="Calibri"/>
                        </a:rPr>
                        <a:t>NULL effect</a:t>
                      </a:r>
                    </a:p>
                  </a:txBody>
                  <a:tcPr>
                    <a:solidFill>
                      <a:srgbClr val="0F2440"/>
                    </a:solidFill>
                  </a:tcPr>
                </a:tc>
                <a:tc>
                  <a:txBody>
                    <a:bodyPr lIns="50800" rIns="50800" tIns="12700" bIns="12700"/>
                    <a:lstStyle/>
                    <a:p>
                      <a:pPr algn="l"/>
                      <a:r>
                        <a:rPr sz="1050" b="1">
                          <a:solidFill>
                            <a:srgbClr val="FFFFFF"/>
                          </a:solidFill>
                          <a:latin typeface="Calibri"/>
                        </a:rPr>
                        <a:t>Verdict</a:t>
                      </a:r>
                    </a:p>
                  </a:txBody>
                  <a:tcPr>
                    <a:solidFill>
                      <a:srgbClr val="0F2440"/>
                    </a:solidFill>
                  </a:tcPr>
                </a:tc>
              </a:tr>
              <a:tr h="457200">
                <a:tc>
                  <a:txBody>
                    <a:bodyPr wrap="square" lIns="50800" rIns="50800" tIns="12700" bIns="12700"/>
                    <a:lstStyle/>
                    <a:p>
                      <a:pPr algn="l"/>
                      <a:r>
                        <a:rPr sz="1050" b="0">
                          <a:solidFill>
                            <a:srgbClr val="212121"/>
                          </a:solidFill>
                          <a:latin typeface="Calibri"/>
                        </a:rPr>
                        <a:t>fib6_info</a:t>
                      </a:r>
                    </a:p>
                  </a:txBody>
                  <a:tcPr>
                    <a:solidFill>
                      <a:srgbClr val="FFFFFF"/>
                    </a:solidFill>
                  </a:tcPr>
                </a:tc>
                <a:tc>
                  <a:txBody>
                    <a:bodyPr wrap="square" lIns="50800" rIns="50800" tIns="12700" bIns="12700"/>
                    <a:lstStyle/>
                    <a:p>
                      <a:pPr algn="l"/>
                      <a:r>
                        <a:rPr sz="1050" b="0">
                          <a:solidFill>
                            <a:srgbClr val="212121"/>
                          </a:solidFill>
                          <a:latin typeface="Calibri"/>
                        </a:rPr>
                        <a:t>rcu.func</a:t>
                      </a:r>
                    </a:p>
                  </a:txBody>
                  <a:tcPr>
                    <a:solidFill>
                      <a:srgbClr val="FFFFFF"/>
                    </a:solidFill>
                  </a:tcPr>
                </a:tc>
                <a:tc>
                  <a:txBody>
                    <a:bodyPr wrap="square" lIns="50800" rIns="50800" tIns="12700" bIns="12700"/>
                    <a:lstStyle/>
                    <a:p>
                      <a:pPr algn="l"/>
                      <a:r>
                        <a:rPr sz="1050" b="0">
                          <a:solidFill>
                            <a:srgbClr val="212121"/>
                          </a:solidFill>
                          <a:latin typeface="Calibri"/>
                        </a:rPr>
                        <a:t>NULL RCU callback call</a:t>
                      </a:r>
                    </a:p>
                  </a:txBody>
                  <a:tcPr>
                    <a:solidFill>
                      <a:srgbClr val="FFFFFF"/>
                    </a:solidFill>
                  </a:tcPr>
                </a:tc>
                <a:tc>
                  <a:txBody>
                    <a:bodyPr wrap="square" lIns="50800" rIns="50800" tIns="12700" bIns="12700"/>
                    <a:lstStyle/>
                    <a:p>
                      <a:pPr algn="l"/>
                      <a:r>
                        <a:rPr sz="1050" b="0">
                          <a:solidFill>
                            <a:srgbClr val="212121"/>
                          </a:solidFill>
                          <a:latin typeface="Calibri"/>
                        </a:rPr>
                        <a:t>Crash only (DoS)</a:t>
                      </a:r>
                    </a:p>
                  </a:txBody>
                  <a:tcPr>
                    <a:solidFill>
                      <a:srgbClr val="FFFFFF"/>
                    </a:solidFill>
                  </a:tcPr>
                </a:tc>
              </a:tr>
              <a:tr h="457200">
                <a:tc>
                  <a:txBody>
                    <a:bodyPr wrap="square" lIns="50800" rIns="50800" tIns="12700" bIns="12700"/>
                    <a:lstStyle/>
                    <a:p>
                      <a:pPr algn="l"/>
                      <a:r>
                        <a:rPr sz="1050" b="0">
                          <a:solidFill>
                            <a:srgbClr val="212121"/>
                          </a:solidFill>
                          <a:latin typeface="Calibri"/>
                        </a:rPr>
                        <a:t>snd_timer_user</a:t>
                      </a:r>
                    </a:p>
                  </a:txBody>
                  <a:tcPr>
                    <a:solidFill>
                      <a:srgbClr val="EEF2F7"/>
                    </a:solidFill>
                  </a:tcPr>
                </a:tc>
                <a:tc>
                  <a:txBody>
                    <a:bodyPr wrap="square" lIns="50800" rIns="50800" tIns="12700" bIns="12700"/>
                    <a:lstStyle/>
                    <a:p>
                      <a:pPr algn="l"/>
                      <a:r>
                        <a:rPr sz="1050" b="0">
                          <a:solidFill>
                            <a:srgbClr val="212121"/>
                          </a:solidFill>
                          <a:latin typeface="Calibri"/>
                        </a:rPr>
                        <a:t>ioctl_lock.wait_list.next</a:t>
                      </a:r>
                    </a:p>
                  </a:txBody>
                  <a:tcPr>
                    <a:solidFill>
                      <a:srgbClr val="EEF2F7"/>
                    </a:solidFill>
                  </a:tcPr>
                </a:tc>
                <a:tc>
                  <a:txBody>
                    <a:bodyPr wrap="square" lIns="50800" rIns="50800" tIns="12700" bIns="12700"/>
                    <a:lstStyle/>
                    <a:p>
                      <a:pPr algn="l"/>
                      <a:r>
                        <a:rPr sz="1050" b="0">
                          <a:solidFill>
                            <a:srgbClr val="212121"/>
                          </a:solidFill>
                          <a:latin typeface="Calibri"/>
                        </a:rPr>
                        <a:t>mutex slowpath NULL deref</a:t>
                      </a:r>
                    </a:p>
                  </a:txBody>
                  <a:tcPr>
                    <a:solidFill>
                      <a:srgbClr val="EEF2F7"/>
                    </a:solidFill>
                  </a:tcPr>
                </a:tc>
                <a:tc>
                  <a:txBody>
                    <a:bodyPr wrap="square" lIns="50800" rIns="50800" tIns="12700" bIns="12700"/>
                    <a:lstStyle/>
                    <a:p>
                      <a:pPr algn="l"/>
                      <a:r>
                        <a:rPr sz="1050" b="0">
                          <a:solidFill>
                            <a:srgbClr val="212121"/>
                          </a:solidFill>
                          <a:latin typeface="Calibri"/>
                        </a:rPr>
                        <a:t>Crash only (DoS)</a:t>
                      </a:r>
                    </a:p>
                  </a:txBody>
                  <a:tcPr>
                    <a:solidFill>
                      <a:srgbClr val="EEF2F7"/>
                    </a:solidFill>
                  </a:tcPr>
                </a:tc>
              </a:tr>
              <a:tr h="457200">
                <a:tc>
                  <a:txBody>
                    <a:bodyPr wrap="square" lIns="50800" rIns="50800" tIns="12700" bIns="12700"/>
                    <a:lstStyle/>
                    <a:p>
                      <a:pPr algn="l"/>
                      <a:r>
                        <a:rPr sz="1050" b="0">
                          <a:solidFill>
                            <a:srgbClr val="212121"/>
                          </a:solidFill>
                          <a:latin typeface="Calibri"/>
                        </a:rPr>
                        <a:t>packet_fanout</a:t>
                      </a:r>
                    </a:p>
                  </a:txBody>
                  <a:tcPr>
                    <a:solidFill>
                      <a:srgbClr val="FFFFFF"/>
                    </a:solidFill>
                  </a:tcPr>
                </a:tc>
                <a:tc>
                  <a:txBody>
                    <a:bodyPr wrap="square" lIns="50800" rIns="50800" tIns="12700" bIns="12700"/>
                    <a:lstStyle/>
                    <a:p>
                      <a:pPr algn="l"/>
                      <a:r>
                        <a:rPr sz="1050" b="0">
                          <a:solidFill>
                            <a:srgbClr val="212121"/>
                          </a:solidFill>
                          <a:latin typeface="Calibri"/>
                        </a:rPr>
                        <a:t>arr[3] (sock*)</a:t>
                      </a:r>
                    </a:p>
                  </a:txBody>
                  <a:tcPr>
                    <a:solidFill>
                      <a:srgbClr val="FFFFFF"/>
                    </a:solidFill>
                  </a:tcPr>
                </a:tc>
                <a:tc>
                  <a:txBody>
                    <a:bodyPr wrap="square" lIns="50800" rIns="50800" tIns="12700" bIns="12700"/>
                    <a:lstStyle/>
                    <a:p>
                      <a:pPr algn="l"/>
                      <a:r>
                        <a:rPr sz="1050" b="0">
                          <a:solidFill>
                            <a:srgbClr val="212121"/>
                          </a:solidFill>
                          <a:latin typeface="Calibri"/>
                        </a:rPr>
                        <a:t>fanout_demux NULL sock</a:t>
                      </a:r>
                    </a:p>
                  </a:txBody>
                  <a:tcPr>
                    <a:solidFill>
                      <a:srgbClr val="FFFFFF"/>
                    </a:solidFill>
                  </a:tcPr>
                </a:tc>
                <a:tc>
                  <a:txBody>
                    <a:bodyPr wrap="square" lIns="50800" rIns="50800" tIns="12700" bIns="12700"/>
                    <a:lstStyle/>
                    <a:p>
                      <a:pPr algn="l"/>
                      <a:r>
                        <a:rPr sz="1050" b="0">
                          <a:solidFill>
                            <a:srgbClr val="212121"/>
                          </a:solidFill>
                          <a:latin typeface="Calibri"/>
                        </a:rPr>
                        <a:t>Crash only (DoS)</a:t>
                      </a:r>
                    </a:p>
                  </a:txBody>
                  <a:tcPr>
                    <a:solidFill>
                      <a:srgbClr val="FFFFFF"/>
                    </a:solidFill>
                  </a:tcPr>
                </a:tc>
              </a:tr>
              <a:tr h="457200">
                <a:tc>
                  <a:txBody>
                    <a:bodyPr wrap="square" lIns="50800" rIns="50800" tIns="12700" bIns="12700"/>
                    <a:lstStyle/>
                    <a:p>
                      <a:pPr algn="l"/>
                      <a:r>
                        <a:rPr sz="1050" b="0">
                          <a:solidFill>
                            <a:srgbClr val="212121"/>
                          </a:solidFill>
                          <a:latin typeface="Calibri"/>
                        </a:rPr>
                        <a:t>urb</a:t>
                      </a:r>
                    </a:p>
                  </a:txBody>
                  <a:tcPr>
                    <a:solidFill>
                      <a:srgbClr val="EEF2F7"/>
                    </a:solidFill>
                  </a:tcPr>
                </a:tc>
                <a:tc>
                  <a:txBody>
                    <a:bodyPr wrap="square" lIns="50800" rIns="50800" tIns="12700" bIns="12700"/>
                    <a:lstStyle/>
                    <a:p>
                      <a:pPr algn="l"/>
                      <a:r>
                        <a:rPr sz="1050" b="0">
                          <a:solidFill>
                            <a:srgbClr val="212121"/>
                          </a:solidFill>
                          <a:latin typeface="Calibri"/>
                        </a:rPr>
                        <a:t>interval (int)</a:t>
                      </a:r>
                    </a:p>
                  </a:txBody>
                  <a:tcPr>
                    <a:solidFill>
                      <a:srgbClr val="EEF2F7"/>
                    </a:solidFill>
                  </a:tcPr>
                </a:tc>
                <a:tc>
                  <a:txBody>
                    <a:bodyPr wrap="square" lIns="50800" rIns="50800" tIns="12700" bIns="12700"/>
                    <a:lstStyle/>
                    <a:p>
                      <a:pPr algn="l"/>
                      <a:r>
                        <a:rPr sz="1050" b="0">
                          <a:solidFill>
                            <a:srgbClr val="212121"/>
                          </a:solidFill>
                          <a:latin typeface="Calibri"/>
                        </a:rPr>
                        <a:t>interval=0</a:t>
                      </a:r>
                    </a:p>
                  </a:txBody>
                  <a:tcPr>
                    <a:solidFill>
                      <a:srgbClr val="EEF2F7"/>
                    </a:solidFill>
                  </a:tcPr>
                </a:tc>
                <a:tc>
                  <a:txBody>
                    <a:bodyPr wrap="square" lIns="50800" rIns="50800" tIns="12700" bIns="12700"/>
                    <a:lstStyle/>
                    <a:p>
                      <a:pPr algn="l"/>
                      <a:r>
                        <a:rPr sz="1050" b="0">
                          <a:solidFill>
                            <a:srgbClr val="212121"/>
                          </a:solidFill>
                          <a:latin typeface="Calibri"/>
                        </a:rPr>
                        <a:t>Benign</a:t>
                      </a:r>
                    </a:p>
                  </a:txBody>
                  <a:tcPr>
                    <a:solidFill>
                      <a:srgbClr val="EEF2F7"/>
                    </a:solidFill>
                  </a:tcPr>
                </a:tc>
              </a:tr>
              <a:tr h="457200">
                <a:tc>
                  <a:txBody>
                    <a:bodyPr wrap="square" lIns="50800" rIns="50800" tIns="12700" bIns="12700"/>
                    <a:lstStyle/>
                    <a:p>
                      <a:pPr algn="l"/>
                      <a:r>
                        <a:rPr sz="1050" b="0">
                          <a:solidFill>
                            <a:srgbClr val="212121"/>
                          </a:solidFill>
                          <a:latin typeface="Calibri"/>
                        </a:rPr>
                        <a:t>wakeup_source</a:t>
                      </a:r>
                    </a:p>
                  </a:txBody>
                  <a:tcPr>
                    <a:solidFill>
                      <a:srgbClr val="FFFFFF"/>
                    </a:solidFill>
                  </a:tcPr>
                </a:tc>
                <a:tc>
                  <a:txBody>
                    <a:bodyPr wrap="square" lIns="50800" rIns="50800" tIns="12700" bIns="12700"/>
                    <a:lstStyle/>
                    <a:p>
                      <a:pPr algn="l"/>
                      <a:r>
                        <a:rPr sz="1050" b="0">
                          <a:solidFill>
                            <a:srgbClr val="212121"/>
                          </a:solidFill>
                          <a:latin typeface="Calibri"/>
                        </a:rPr>
                        <a:t>expire_count</a:t>
                      </a:r>
                    </a:p>
                  </a:txBody>
                  <a:tcPr>
                    <a:solidFill>
                      <a:srgbClr val="FFFFFF"/>
                    </a:solidFill>
                  </a:tcPr>
                </a:tc>
                <a:tc>
                  <a:txBody>
                    <a:bodyPr wrap="square" lIns="50800" rIns="50800" tIns="12700" bIns="12700"/>
                    <a:lstStyle/>
                    <a:p>
                      <a:pPr algn="l"/>
                      <a:r>
                        <a:rPr sz="1050" b="0">
                          <a:solidFill>
                            <a:srgbClr val="212121"/>
                          </a:solidFill>
                          <a:latin typeface="Calibri"/>
                        </a:rPr>
                        <a:t>counter=0</a:t>
                      </a:r>
                    </a:p>
                  </a:txBody>
                  <a:tcPr>
                    <a:solidFill>
                      <a:srgbClr val="FFFFFF"/>
                    </a:solidFill>
                  </a:tcPr>
                </a:tc>
                <a:tc>
                  <a:txBody>
                    <a:bodyPr wrap="square" lIns="50800" rIns="50800" tIns="12700" bIns="12700"/>
                    <a:lstStyle/>
                    <a:p>
                      <a:pPr algn="l"/>
                      <a:r>
                        <a:rPr sz="1050" b="0">
                          <a:solidFill>
                            <a:srgbClr val="212121"/>
                          </a:solidFill>
                          <a:latin typeface="Calibri"/>
                        </a:rPr>
                        <a:t>Benign</a:t>
                      </a:r>
                    </a:p>
                  </a:txBody>
                  <a:tcPr>
                    <a:solidFill>
                      <a:srgbClr val="FFFFFF"/>
                    </a:solidFill>
                  </a:tcPr>
                </a:tc>
              </a:tr>
            </a:tbl>
          </a:graphicData>
        </a:graphic>
      </p:graphicFrame>
      <p:sp>
        <p:nvSpPr>
          <p:cNvPr id="16" name="TextBox 15"/>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PHASE 3 — NATURAL SCHEDULABILITY</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Can the Race Be Won Without GDB?</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TextBox 6"/>
          <p:cNvSpPr txBox="1"/>
          <p:nvPr/>
        </p:nvSpPr>
        <p:spPr>
          <a:xfrm>
            <a:off x="502920" y="1417320"/>
            <a:ext cx="11247120" cy="2834640"/>
          </a:xfrm>
          <a:prstGeom prst="rect">
            <a:avLst/>
          </a:prstGeom>
          <a:noFill/>
        </p:spPr>
        <p:txBody>
          <a:bodyPr wrap="square" lIns="25400" rIns="25400" tIns="12700" bIns="12700">
            <a:spAutoFit/>
          </a:bodyPr>
          <a:lstStyle/>
          <a:p>
            <a:pPr>
              <a:spcAft>
                <a:spcPts val="500"/>
              </a:spcAft>
            </a:pPr>
            <a:r>
              <a:rPr sz="1300" b="0">
                <a:solidFill>
                  <a:srgbClr val="212121"/>
                </a:solidFill>
                <a:latin typeface="Calibri"/>
              </a:rPr>
              <a:t>●  NAT-001 (10,000 iterations, CPU pinning + SCHED_FIFO + timing widening): 0 / 10,000 hits — FAILED (VER-034).</a:t>
            </a:r>
          </a:p>
          <a:p>
            <a:pPr>
              <a:spcAft>
                <a:spcPts val="500"/>
              </a:spcAft>
            </a:pPr>
            <a:r>
              <a:rPr sz="1300" b="0">
                <a:solidFill>
                  <a:srgbClr val="212121"/>
                </a:solidFill>
                <a:latin typeface="Calibri"/>
              </a:rPr>
              <a:t>●  NAT-002: preemption-point audit — cond_resched at lines 888/903 exists but is a NO-OP (see next slide). CORRECTED (VER-035).</a:t>
            </a:r>
          </a:p>
          <a:p>
            <a:pPr>
              <a:spcAft>
                <a:spcPts val="500"/>
              </a:spcAft>
            </a:pPr>
            <a:r>
              <a:rPr sz="1300" b="1">
                <a:solidFill>
                  <a:srgbClr val="212121"/>
                </a:solidFill>
                <a:latin typeface="Calibri"/>
              </a:rPr>
              <a:t>●  NAT-005 (92,740 iterations, closed-loop adaptive search):</a:t>
            </a:r>
          </a:p>
          <a:p>
            <a:pPr>
              <a:spcAft>
                <a:spcPts val="500"/>
              </a:spcAft>
            </a:pPr>
            <a:r>
              <a:rPr sz="1300" b="0">
                <a:solidFill>
                  <a:srgbClr val="212121"/>
                </a:solidFill>
                <a:latin typeface="Calibri"/>
              </a:rPr>
              <a:t>–     Kernel cmdline: isolcpus=1 nohz_full=1 rcu_nocbs=1 (CPU 1 isolated from timer ticks / RCU)</a:t>
            </a:r>
          </a:p>
          <a:p>
            <a:pPr>
              <a:spcAft>
                <a:spcPts val="500"/>
              </a:spcAft>
            </a:pPr>
            <a:r>
              <a:rPr sz="1300" b="0">
                <a:solidFill>
                  <a:srgbClr val="212121"/>
                </a:solidFill>
                <a:latin typeface="Calibri"/>
              </a:rPr>
              <a:t>–     4 MB cache-eviction sweeper worker hammering L1/L2 to induce memory-bus refill delays</a:t>
            </a:r>
          </a:p>
          <a:p>
            <a:pPr>
              <a:spcAft>
                <a:spcPts val="500"/>
              </a:spcAft>
            </a:pPr>
            <a:r>
              <a:rPr sz="1300" b="0">
                <a:solidFill>
                  <a:srgbClr val="212121"/>
                </a:solidFill>
                <a:latin typeface="Calibri"/>
              </a:rPr>
              <a:t>–     Empirically calibrated window: 2,330 cycles; best alignment: 2,360 cycles with 1-cycle (~16 ns) error</a:t>
            </a:r>
          </a:p>
          <a:p>
            <a:pPr>
              <a:spcAft>
                <a:spcPts val="500"/>
              </a:spcAft>
            </a:pPr>
            <a:r>
              <a:rPr sz="1300" b="1">
                <a:solidFill>
                  <a:srgbClr val="C62828"/>
                </a:solidFill>
                <a:latin typeface="Calibri"/>
              </a:rPr>
              <a:t>–     Result: 0 / 92,740 UAF hits — PASSED as a negative result (VER-039)</a:t>
            </a:r>
          </a:p>
          <a:p>
            <a:pPr>
              <a:spcAft>
                <a:spcPts val="500"/>
              </a:spcAft>
            </a:pPr>
            <a:r>
              <a:rPr sz="1300" b="1">
                <a:solidFill>
                  <a:srgbClr val="F57F17"/>
                </a:solidFill>
                <a:latin typeface="Calibri"/>
              </a:rPr>
              <a:t>●  Caveat: QEMU TCG does not model hardware cache-coherency / memory-bus timing; results reflect emulated basic-block scheduling.</a:t>
            </a:r>
          </a:p>
        </p:txBody>
      </p:sp>
      <p:sp>
        <p:nvSpPr>
          <p:cNvPr id="8" name="Rounded Rectangle 7"/>
          <p:cNvSpPr/>
          <p:nvPr/>
        </p:nvSpPr>
        <p:spPr>
          <a:xfrm>
            <a:off x="502920" y="4892040"/>
            <a:ext cx="11201400" cy="137160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4946904"/>
            <a:ext cx="64008" cy="126187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4983480"/>
            <a:ext cx="10835640" cy="320040"/>
          </a:xfrm>
          <a:prstGeom prst="rect">
            <a:avLst/>
          </a:prstGeom>
          <a:noFill/>
        </p:spPr>
        <p:txBody>
          <a:bodyPr wrap="square" anchor="t" lIns="25400" rIns="25400" tIns="12700" bIns="12700">
            <a:spAutoFit/>
          </a:bodyPr>
          <a:lstStyle/>
          <a:p>
            <a:pPr algn="l">
              <a:spcAft>
                <a:spcPts val="0"/>
              </a:spcAft>
            </a:pPr>
            <a:r>
              <a:rPr sz="1400" b="1">
                <a:solidFill>
                  <a:srgbClr val="1565C0"/>
                </a:solidFill>
                <a:latin typeface="Calibri"/>
              </a:rPr>
              <a:t>Still PLANNED</a:t>
            </a:r>
          </a:p>
        </p:txBody>
      </p:sp>
      <p:sp>
        <p:nvSpPr>
          <p:cNvPr id="11" name="TextBox 10"/>
          <p:cNvSpPr txBox="1"/>
          <p:nvPr/>
        </p:nvSpPr>
        <p:spPr>
          <a:xfrm>
            <a:off x="704088" y="5312664"/>
            <a:ext cx="10835640" cy="86868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NAT-003 (msg_msg reclaim under natural timing) · NAT-004 (per-CPU partial-slab interference) · AND-002 (KASLR on/off) · AND-003 (SELinux audit) · AND-004 (MTE/KASAN_HW_TAGS).</a:t>
            </a:r>
          </a:p>
        </p:txBody>
      </p:sp>
      <p:sp>
        <p:nvSpPr>
          <p:cNvPr id="12" name="TextBox 11"/>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WHY: NAT-002 CORRECTION</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cond_resched() Is a No-Op Here — the Mechanism</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TextBox 6"/>
          <p:cNvSpPr txBox="1"/>
          <p:nvPr/>
        </p:nvSpPr>
        <p:spPr>
          <a:xfrm>
            <a:off x="502920" y="1417320"/>
            <a:ext cx="11247120" cy="3749039"/>
          </a:xfrm>
          <a:prstGeom prst="rect">
            <a:avLst/>
          </a:prstGeom>
          <a:noFill/>
        </p:spPr>
        <p:txBody>
          <a:bodyPr wrap="square" lIns="25400" rIns="25400" tIns="12700" bIns="12700">
            <a:spAutoFit/>
          </a:bodyPr>
          <a:lstStyle/>
          <a:p>
            <a:pPr>
              <a:spcAft>
                <a:spcPts val="500"/>
              </a:spcAft>
            </a:pPr>
            <a:r>
              <a:rPr sz="1300" b="0">
                <a:solidFill>
                  <a:srgbClr val="212121"/>
                </a:solidFill>
                <a:latin typeface="Calibri"/>
              </a:rPr>
              <a:t>●  cond_resched() -&gt; dynamic_cond_resched() (static_call): CONFIG_PREEMPT_DYNAMIC=y, default PREEMPT_VOLUNTARY =&gt; static key is FALSE =&gt; returns 0 immediately without yielding.</a:t>
            </a:r>
          </a:p>
          <a:p>
            <a:pPr>
              <a:spcAft>
                <a:spcPts val="500"/>
              </a:spcAft>
            </a:pPr>
            <a:r>
              <a:rPr sz="1300" b="0">
                <a:solidFill>
                  <a:srgbClr val="212121"/>
                </a:solidFill>
                <a:latin typeface="Calibri"/>
              </a:rPr>
              <a:t>●  Even if it called __cond_resched(): should_resched() requires preempt_count()==0 AND TIF_NEED_RESCHED set.</a:t>
            </a:r>
          </a:p>
          <a:p>
            <a:pPr>
              <a:spcAft>
                <a:spcPts val="500"/>
              </a:spcAft>
            </a:pPr>
            <a:r>
              <a:rPr sz="1300" b="0">
                <a:solidFill>
                  <a:srgbClr val="212121"/>
                </a:solidFill>
                <a:latin typeface="Calibri"/>
              </a:rPr>
              <a:t>●  TIF_NEED_RESCHED is NEVER set on our CPU 0: timer tick with queued=0 does not call resched_curr(); Thread B on CPU 1 sends no scheduler IPIs (pinned, idle topology).</a:t>
            </a:r>
          </a:p>
          <a:p>
            <a:pPr>
              <a:spcAft>
                <a:spcPts val="500"/>
              </a:spcAft>
            </a:pPr>
            <a:r>
              <a:rPr sz="1300" b="0">
                <a:solidFill>
                  <a:srgbClr val="212121"/>
                </a:solidFill>
                <a:latin typeface="Calibri"/>
              </a:rPr>
              <a:t>●  Disassembly confirms: bl dynamic_cond_resched at lines 888/903 of ep_clear_and_put; __ep_remove has ZERO cond_resched/might_resched inside.</a:t>
            </a:r>
          </a:p>
          <a:p>
            <a:pPr>
              <a:spcAft>
                <a:spcPts val="500"/>
              </a:spcAft>
            </a:pPr>
            <a:r>
              <a:rPr sz="1300" b="1">
                <a:solidFill>
                  <a:srgbClr val="212121"/>
                </a:solidFill>
                <a:latin typeface="Calibri"/>
              </a:rPr>
              <a:t>●  Consequence: the multi-epitem topology only buys an instruction-count window (~250-550 cycles) between processing epi_N and epi_{N+1} — no scheduling yield.</a:t>
            </a:r>
          </a:p>
          <a:p>
            <a:pPr>
              <a:spcAft>
                <a:spcPts val="500"/>
              </a:spcAft>
            </a:pPr>
            <a:r>
              <a:rPr sz="1300" b="0">
                <a:solidFill>
                  <a:srgbClr val="F57F17"/>
                </a:solidFill>
                <a:latin typeface="Calibri"/>
              </a:rPr>
              <a:t>●  Escalation ideas if pursued: runtime PREEMPT_DYNAMIC switch via debugfs (requires /sys/kernel/debug), a real PREEMPT kernel build, or hardware with real timer variance.</a:t>
            </a:r>
          </a:p>
        </p:txBody>
      </p:sp>
      <p:sp>
        <p:nvSpPr>
          <p:cNvPr id="8" name="TextBox 7"/>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ANDROID PORTABILITY</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AND-001: SysV IPC Works on the Target Kernel</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Rounded Rectangle 6"/>
          <p:cNvSpPr/>
          <p:nvPr/>
        </p:nvSpPr>
        <p:spPr>
          <a:xfrm>
            <a:off x="502920" y="1417320"/>
            <a:ext cx="5486400" cy="192024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72184"/>
            <a:ext cx="64008" cy="181051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508760"/>
            <a:ext cx="5120640" cy="320040"/>
          </a:xfrm>
          <a:prstGeom prst="rect">
            <a:avLst/>
          </a:prstGeom>
          <a:noFill/>
        </p:spPr>
        <p:txBody>
          <a:bodyPr wrap="square" anchor="t" lIns="25400" rIns="25400" tIns="12700" bIns="12700">
            <a:spAutoFit/>
          </a:bodyPr>
          <a:lstStyle/>
          <a:p>
            <a:pPr algn="l">
              <a:spcAft>
                <a:spcPts val="0"/>
              </a:spcAft>
            </a:pPr>
            <a:r>
              <a:rPr sz="1400" b="1">
                <a:solidFill>
                  <a:srgbClr val="2E7D32"/>
                </a:solidFill>
                <a:latin typeface="Calibri"/>
              </a:rPr>
              <a:t>AND-001 — PASSED (VER-038)</a:t>
            </a:r>
          </a:p>
        </p:txBody>
      </p:sp>
      <p:sp>
        <p:nvSpPr>
          <p:cNvPr id="10" name="TextBox 9"/>
          <p:cNvSpPr txBox="1"/>
          <p:nvPr/>
        </p:nvSpPr>
        <p:spPr>
          <a:xfrm>
            <a:off x="704088" y="1837944"/>
            <a:ext cx="5120640" cy="1417320"/>
          </a:xfrm>
          <a:prstGeom prst="rect">
            <a:avLst/>
          </a:prstGeom>
          <a:noFill/>
        </p:spPr>
        <p:txBody>
          <a:bodyPr wrap="square" anchor="t" lIns="25400" rIns="25400" tIns="12700" bIns="12700">
            <a:spAutoFit/>
          </a:bodyPr>
          <a:lstStyle/>
          <a:p>
            <a:pPr algn="l">
              <a:spcAft>
                <a:spcPts val="200"/>
              </a:spcAft>
            </a:pPr>
            <a:r>
              <a:rPr sz="1100" b="0">
                <a:solidFill>
                  <a:srgbClr val="212121"/>
                </a:solidFill>
                <a:latin typeface="Calibri"/>
              </a:rPr>
              <a:t>msgget / msgsnd / msgrcv functional; kernel call trapped at load_msg (ipc/msgutil.c:96, addr 0xffff800080430100) during static-musl harness execution.</a:t>
            </a:r>
          </a:p>
          <a:p>
            <a:pPr algn="l">
              <a:spcAft>
                <a:spcPts val="0"/>
              </a:spcAft>
            </a:pPr>
            <a:r>
              <a:rPr sz="1100" b="1">
                <a:solidFill>
                  <a:srgbClr val="212121"/>
                </a:solidFill>
                <a:latin typeface="Calibri"/>
              </a:rPr>
              <a:t>120 B payload + 48 B header = 168 B =&gt; kmalloc-192 =&gt; msg_msg spray remains viable for eventpoll reclaim on Android.</a:t>
            </a:r>
          </a:p>
        </p:txBody>
      </p:sp>
      <p:sp>
        <p:nvSpPr>
          <p:cNvPr id="11" name="Rounded Rectangle 10"/>
          <p:cNvSpPr/>
          <p:nvPr/>
        </p:nvSpPr>
        <p:spPr>
          <a:xfrm>
            <a:off x="6217920" y="1417320"/>
            <a:ext cx="5486400" cy="192024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472184"/>
            <a:ext cx="64008" cy="1810512"/>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508760"/>
            <a:ext cx="5120640" cy="320040"/>
          </a:xfrm>
          <a:prstGeom prst="rect">
            <a:avLst/>
          </a:prstGeom>
          <a:noFill/>
        </p:spPr>
        <p:txBody>
          <a:bodyPr wrap="square" anchor="t" lIns="25400" rIns="25400" tIns="12700" bIns="12700">
            <a:spAutoFit/>
          </a:bodyPr>
          <a:lstStyle/>
          <a:p>
            <a:pPr algn="l">
              <a:spcAft>
                <a:spcPts val="0"/>
              </a:spcAft>
            </a:pPr>
            <a:r>
              <a:rPr sz="1400" b="1">
                <a:solidFill>
                  <a:srgbClr val="F57F17"/>
                </a:solidFill>
                <a:latin typeface="Calibri"/>
              </a:rPr>
              <a:t>Context caveats</a:t>
            </a:r>
          </a:p>
        </p:txBody>
      </p:sp>
      <p:sp>
        <p:nvSpPr>
          <p:cNvPr id="14" name="TextBox 13"/>
          <p:cNvSpPr txBox="1"/>
          <p:nvPr/>
        </p:nvSpPr>
        <p:spPr>
          <a:xfrm>
            <a:off x="6419088" y="1837944"/>
            <a:ext cx="5120640" cy="1417320"/>
          </a:xfrm>
          <a:prstGeom prst="rect">
            <a:avLst/>
          </a:prstGeom>
          <a:noFill/>
        </p:spPr>
        <p:txBody>
          <a:bodyPr wrap="square" anchor="t" lIns="25400" rIns="25400" tIns="12700" bIns="12700">
            <a:spAutoFit/>
          </a:bodyPr>
          <a:lstStyle/>
          <a:p>
            <a:pPr algn="l">
              <a:spcAft>
                <a:spcPts val="200"/>
              </a:spcAft>
            </a:pPr>
            <a:r>
              <a:rPr sz="1100" b="0">
                <a:solidFill>
                  <a:srgbClr val="212121"/>
                </a:solidFill>
                <a:latin typeface="Calibri"/>
              </a:rPr>
              <a:t>Test ran in the QEMU initramfs as root (shell context), NOT inside an app under SELinux enforcing + seccomp.</a:t>
            </a:r>
          </a:p>
          <a:p>
            <a:pPr algn="l">
              <a:spcAft>
                <a:spcPts val="0"/>
              </a:spcAft>
            </a:pPr>
            <a:r>
              <a:rPr sz="1100" b="1">
                <a:solidFill>
                  <a:srgbClr val="F57F17"/>
                </a:solidFill>
                <a:latin typeface="Calibri"/>
              </a:rPr>
              <a:t>AND-003 (SELinux syscall policy audit) and app-context seccomp checks are still PLANNED.</a:t>
            </a:r>
          </a:p>
        </p:txBody>
      </p:sp>
      <p:sp>
        <p:nvSpPr>
          <p:cNvPr id="15" name="TextBox 14"/>
          <p:cNvSpPr txBox="1"/>
          <p:nvPr/>
        </p:nvSpPr>
        <p:spPr>
          <a:xfrm>
            <a:off x="502920" y="3520440"/>
            <a:ext cx="11247120" cy="2743200"/>
          </a:xfrm>
          <a:prstGeom prst="rect">
            <a:avLst/>
          </a:prstGeom>
          <a:noFill/>
        </p:spPr>
        <p:txBody>
          <a:bodyPr wrap="square" lIns="25400" rIns="25400" tIns="12700" bIns="12700">
            <a:spAutoFit/>
          </a:bodyPr>
          <a:lstStyle/>
          <a:p>
            <a:pPr>
              <a:spcAft>
                <a:spcPts val="500"/>
              </a:spcAft>
            </a:pPr>
            <a:r>
              <a:rPr sz="1300" b="0">
                <a:solidFill>
                  <a:srgbClr val="212121"/>
                </a:solidFill>
                <a:latin typeface="Calibri"/>
              </a:rPr>
              <a:t>●  Kernel: same source commit 7e35917775b8 (Android 14 GKI 6.12.67) used for the QEMU build — portability of the primitive is direct.</a:t>
            </a:r>
          </a:p>
          <a:p>
            <a:pPr>
              <a:spcAft>
                <a:spcPts val="500"/>
              </a:spcAft>
            </a:pPr>
            <a:r>
              <a:rPr sz="1300" b="0">
                <a:solidFill>
                  <a:srgbClr val="212121"/>
                </a:solidFill>
                <a:latin typeface="Calibri"/>
              </a:rPr>
              <a:t>●  PAC / BTI: never reached — the surviving primitive is a data-only NULL write, so PAC/BTI are irrelevant unless a new chain is found (assumption A-028, hypothesis).</a:t>
            </a:r>
          </a:p>
          <a:p>
            <a:pPr>
              <a:spcAft>
                <a:spcPts val="500"/>
              </a:spcAft>
            </a:pPr>
            <a:r>
              <a:rPr sz="1300" b="0">
                <a:solidFill>
                  <a:srgbClr val="F57F17"/>
                </a:solidFill>
                <a:latin typeface="Calibri"/>
              </a:rPr>
              <a:t>●  MTE / KASAN_HW_TAGS: AND-004 PLANNED — MTE on production devices may turn the UAF into a detected fault (DoS) rather than silent corruption.</a:t>
            </a:r>
          </a:p>
          <a:p>
            <a:pPr>
              <a:spcAft>
                <a:spcPts val="500"/>
              </a:spcAft>
            </a:pPr>
            <a:r>
              <a:rPr sz="1300" b="0">
                <a:solidFill>
                  <a:srgbClr val="212121"/>
                </a:solidFill>
                <a:latin typeface="Calibri"/>
              </a:rPr>
              <a:t>●  KASLR: AND-002 PLANNED — KASLR does not change race reachability (offsets are resolved per-boot), only leak-based chains would care.</a:t>
            </a:r>
          </a:p>
          <a:p>
            <a:pPr>
              <a:spcAft>
                <a:spcPts val="500"/>
              </a:spcAft>
            </a:pPr>
            <a:r>
              <a:rPr sz="1300" b="0">
                <a:solidFill>
                  <a:srgbClr val="212121"/>
                </a:solidFill>
                <a:latin typeface="Calibri"/>
              </a:rPr>
              <a:t>●  SELinux: even with UID 0, Android confines root via SELinux contexts — Tier 1 writeup already flagged that LPE on Android would need selinux_state patching.</a:t>
            </a:r>
          </a:p>
        </p:txBody>
      </p:sp>
      <p:sp>
        <p:nvSpPr>
          <p:cNvPr id="16" name="TextBox 15"/>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DECISION</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Three Paths Forward</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graphicFrame>
        <p:nvGraphicFramePr>
          <p:cNvPr id="7" name="Table 6"/>
          <p:cNvGraphicFramePr>
            <a:graphicFrameLocks noGrp="1"/>
          </p:cNvGraphicFramePr>
          <p:nvPr/>
        </p:nvGraphicFramePr>
        <p:xfrm>
          <a:off x="502920" y="1417320"/>
          <a:ext cx="11201400" cy="3840480"/>
        </p:xfrm>
        <a:graphic>
          <a:graphicData uri="http://schemas.openxmlformats.org/drawingml/2006/table">
            <a:tbl>
              <a:tblPr>
                <a:tableStyleId>{5C22544A-7EE6-4342-B048-85BDC9FD1C3A}</a:tableStyleId>
              </a:tblPr>
              <a:tblGrid>
                <a:gridCol w="1371600"/>
                <a:gridCol w="3474720"/>
                <a:gridCol w="3474720"/>
                <a:gridCol w="2880360"/>
              </a:tblGrid>
              <a:tr h="640080">
                <a:tc>
                  <a:txBody>
                    <a:bodyPr lIns="50800" rIns="50800" tIns="12700" bIns="12700"/>
                    <a:lstStyle/>
                    <a:p>
                      <a:pPr algn="l"/>
                      <a:r>
                        <a:rPr sz="1000" b="1">
                          <a:solidFill>
                            <a:srgbClr val="FFFFFF"/>
                          </a:solidFill>
                          <a:latin typeface="Calibri"/>
                        </a:rPr>
                        <a:t/>
                      </a:r>
                    </a:p>
                  </a:txBody>
                  <a:tcPr>
                    <a:solidFill>
                      <a:srgbClr val="0F2440"/>
                    </a:solidFill>
                  </a:tcPr>
                </a:tc>
                <a:tc>
                  <a:txBody>
                    <a:bodyPr lIns="50800" rIns="50800" tIns="12700" bIns="12700"/>
                    <a:lstStyle/>
                    <a:p>
                      <a:pPr algn="l"/>
                      <a:r>
                        <a:rPr sz="1000" b="1">
                          <a:solidFill>
                            <a:srgbClr val="FFFFFF"/>
                          </a:solidFill>
                          <a:latin typeface="Calibri"/>
                        </a:rPr>
                        <a:t>Path A: Hardware timing-widening</a:t>
                      </a:r>
                    </a:p>
                  </a:txBody>
                  <a:tcPr>
                    <a:solidFill>
                      <a:srgbClr val="0F2440"/>
                    </a:solidFill>
                  </a:tcPr>
                </a:tc>
                <a:tc>
                  <a:txBody>
                    <a:bodyPr lIns="50800" rIns="50800" tIns="12700" bIns="12700"/>
                    <a:lstStyle/>
                    <a:p>
                      <a:pPr algn="l"/>
                      <a:r>
                        <a:rPr sz="1000" b="1">
                          <a:solidFill>
                            <a:srgbClr val="FFFFFF"/>
                          </a:solidFill>
                          <a:latin typeface="Calibri"/>
                        </a:rPr>
                        <a:t>Path B: Alternative race variant</a:t>
                      </a:r>
                    </a:p>
                  </a:txBody>
                  <a:tcPr>
                    <a:solidFill>
                      <a:srgbClr val="0F2440"/>
                    </a:solidFill>
                  </a:tcPr>
                </a:tc>
                <a:tc>
                  <a:txBody>
                    <a:bodyPr lIns="50800" rIns="50800" tIns="12700" bIns="12700"/>
                    <a:lstStyle/>
                    <a:p>
                      <a:pPr algn="l"/>
                      <a:r>
                        <a:rPr sz="1000" b="1">
                          <a:solidFill>
                            <a:srgbClr val="FFFFFF"/>
                          </a:solidFill>
                          <a:latin typeface="Calibri"/>
                        </a:rPr>
                        <a:t>Path C: Conclude DoS-only</a:t>
                      </a:r>
                    </a:p>
                  </a:txBody>
                  <a:tcPr>
                    <a:solidFill>
                      <a:srgbClr val="0F2440"/>
                    </a:solidFill>
                  </a:tcPr>
                </a:tc>
              </a:tr>
              <a:tr h="640080">
                <a:tc>
                  <a:txBody>
                    <a:bodyPr wrap="square" lIns="50800" rIns="50800" tIns="12700" bIns="12700"/>
                    <a:lstStyle/>
                    <a:p>
                      <a:pPr algn="l"/>
                      <a:r>
                        <a:rPr sz="1000" b="0">
                          <a:solidFill>
                            <a:srgbClr val="212121"/>
                          </a:solidFill>
                          <a:latin typeface="Calibri"/>
                        </a:rPr>
                        <a:t>Idea</a:t>
                      </a:r>
                    </a:p>
                  </a:txBody>
                  <a:tcPr>
                    <a:solidFill>
                      <a:srgbClr val="FFFFFF"/>
                    </a:solidFill>
                  </a:tcPr>
                </a:tc>
                <a:tc>
                  <a:txBody>
                    <a:bodyPr wrap="square" lIns="50800" rIns="50800" tIns="12700" bIns="12700"/>
                    <a:lstStyle/>
                    <a:p>
                      <a:pPr algn="l"/>
                      <a:r>
                        <a:rPr sz="1000" b="0">
                          <a:solidFill>
                            <a:srgbClr val="212121"/>
                          </a:solidFill>
                          <a:latin typeface="Calibri"/>
                        </a:rPr>
                        <a:t>Physical ARM64 device; false-sharing cache-line bouncing, slab contention, IPI/timer storms</a:t>
                      </a:r>
                    </a:p>
                  </a:txBody>
                  <a:tcPr>
                    <a:solidFill>
                      <a:srgbClr val="FFFFFF"/>
                    </a:solidFill>
                  </a:tcPr>
                </a:tc>
                <a:tc>
                  <a:txBody>
                    <a:bodyPr wrap="square" lIns="50800" rIns="50800" tIns="12700" bIns="12700"/>
                    <a:lstStyle/>
                    <a:p>
                      <a:pPr algn="l"/>
                      <a:r>
                        <a:rPr sz="1000" b="0">
                          <a:solidFill>
                            <a:srgbClr val="212121"/>
                          </a:solidFill>
                          <a:latin typeface="Calibri"/>
                        </a:rPr>
                        <a:t>Find a race where the freed object IS the ep parameter (e.g., different epoll topology / other subsystems)</a:t>
                      </a:r>
                    </a:p>
                  </a:txBody>
                  <a:tcPr>
                    <a:solidFill>
                      <a:srgbClr val="FFFFFF"/>
                    </a:solidFill>
                  </a:tcPr>
                </a:tc>
                <a:tc>
                  <a:txBody>
                    <a:bodyPr wrap="square" lIns="50800" rIns="50800" tIns="12700" bIns="12700"/>
                    <a:lstStyle/>
                    <a:p>
                      <a:pPr algn="l"/>
                      <a:r>
                        <a:rPr sz="1000" b="0">
                          <a:solidFill>
                            <a:srgbClr val="212121"/>
                          </a:solidFill>
                          <a:latin typeface="Calibri"/>
                        </a:rPr>
                        <a:t>Document all 21 dead ends + statistical negatives; publish negative-result writeup</a:t>
                      </a:r>
                    </a:p>
                  </a:txBody>
                  <a:tcPr>
                    <a:solidFill>
                      <a:srgbClr val="FFFFFF"/>
                    </a:solidFill>
                  </a:tcPr>
                </a:tc>
              </a:tr>
              <a:tr h="640080">
                <a:tc>
                  <a:txBody>
                    <a:bodyPr wrap="square" lIns="50800" rIns="50800" tIns="12700" bIns="12700"/>
                    <a:lstStyle/>
                    <a:p>
                      <a:pPr algn="l"/>
                      <a:r>
                        <a:rPr sz="1000" b="0">
                          <a:solidFill>
                            <a:srgbClr val="212121"/>
                          </a:solidFill>
                          <a:latin typeface="Calibri"/>
                        </a:rPr>
                        <a:t>Effort</a:t>
                      </a:r>
                    </a:p>
                  </a:txBody>
                  <a:tcPr>
                    <a:solidFill>
                      <a:srgbClr val="EEF2F7"/>
                    </a:solidFill>
                  </a:tcPr>
                </a:tc>
                <a:tc>
                  <a:txBody>
                    <a:bodyPr wrap="square" lIns="50800" rIns="50800" tIns="12700" bIns="12700"/>
                    <a:lstStyle/>
                    <a:p>
                      <a:pPr algn="l"/>
                      <a:r>
                        <a:rPr sz="1000" b="0">
                          <a:solidFill>
                            <a:srgbClr val="212121"/>
                          </a:solidFill>
                          <a:latin typeface="Calibri"/>
                        </a:rPr>
                        <a:t>2-4 weeks</a:t>
                      </a:r>
                    </a:p>
                  </a:txBody>
                  <a:tcPr>
                    <a:solidFill>
                      <a:srgbClr val="EEF2F7"/>
                    </a:solidFill>
                  </a:tcPr>
                </a:tc>
                <a:tc>
                  <a:txBody>
                    <a:bodyPr wrap="square" lIns="50800" rIns="50800" tIns="12700" bIns="12700"/>
                    <a:lstStyle/>
                    <a:p>
                      <a:pPr algn="l"/>
                      <a:r>
                        <a:rPr sz="1000" b="0">
                          <a:solidFill>
                            <a:srgbClr val="212121"/>
                          </a:solidFill>
                          <a:latin typeface="Calibri"/>
                        </a:rPr>
                        <a:t>2-4 weeks research</a:t>
                      </a:r>
                    </a:p>
                  </a:txBody>
                  <a:tcPr>
                    <a:solidFill>
                      <a:srgbClr val="EEF2F7"/>
                    </a:solidFill>
                  </a:tcPr>
                </a:tc>
                <a:tc>
                  <a:txBody>
                    <a:bodyPr wrap="square" lIns="50800" rIns="50800" tIns="12700" bIns="12700"/>
                    <a:lstStyle/>
                    <a:p>
                      <a:pPr algn="l"/>
                      <a:r>
                        <a:rPr sz="1000" b="0">
                          <a:solidFill>
                            <a:srgbClr val="212121"/>
                          </a:solidFill>
                          <a:latin typeface="Calibri"/>
                        </a:rPr>
                        <a:t>~1 week</a:t>
                      </a:r>
                    </a:p>
                  </a:txBody>
                  <a:tcPr>
                    <a:solidFill>
                      <a:srgbClr val="EEF2F7"/>
                    </a:solidFill>
                  </a:tcPr>
                </a:tc>
              </a:tr>
              <a:tr h="640080">
                <a:tc>
                  <a:txBody>
                    <a:bodyPr wrap="square" lIns="50800" rIns="50800" tIns="12700" bIns="12700"/>
                    <a:lstStyle/>
                    <a:p>
                      <a:pPr algn="l"/>
                      <a:r>
                        <a:rPr sz="1000" b="0">
                          <a:solidFill>
                            <a:srgbClr val="212121"/>
                          </a:solidFill>
                          <a:latin typeface="Calibri"/>
                        </a:rPr>
                        <a:t>Risk</a:t>
                      </a:r>
                    </a:p>
                  </a:txBody>
                  <a:tcPr>
                    <a:solidFill>
                      <a:srgbClr val="FFFFFF"/>
                    </a:solidFill>
                  </a:tcPr>
                </a:tc>
                <a:tc>
                  <a:txBody>
                    <a:bodyPr wrap="square" lIns="50800" rIns="50800" tIns="12700" bIns="12700"/>
                    <a:lstStyle/>
                    <a:p>
                      <a:pPr algn="l"/>
                      <a:r>
                        <a:rPr sz="1000" b="0">
                          <a:solidFill>
                            <a:srgbClr val="212121"/>
                          </a:solidFill>
                          <a:latin typeface="Calibri"/>
                        </a:rPr>
                        <a:t>Medium (hardware access needed)</a:t>
                      </a:r>
                    </a:p>
                  </a:txBody>
                  <a:tcPr>
                    <a:solidFill>
                      <a:srgbClr val="FFFFFF"/>
                    </a:solidFill>
                  </a:tcPr>
                </a:tc>
                <a:tc>
                  <a:txBody>
                    <a:bodyPr wrap="square" lIns="50800" rIns="50800" tIns="12700" bIns="12700"/>
                    <a:lstStyle/>
                    <a:p>
                      <a:pPr algn="l"/>
                      <a:r>
                        <a:rPr sz="1000" b="0">
                          <a:solidFill>
                            <a:srgbClr val="212121"/>
                          </a:solidFill>
                          <a:latin typeface="Calibri"/>
                        </a:rPr>
                        <a:t>High (structural dead ends likely)</a:t>
                      </a:r>
                    </a:p>
                  </a:txBody>
                  <a:tcPr>
                    <a:solidFill>
                      <a:srgbClr val="FFFFFF"/>
                    </a:solidFill>
                  </a:tcPr>
                </a:tc>
                <a:tc>
                  <a:txBody>
                    <a:bodyPr wrap="square" lIns="50800" rIns="50800" tIns="12700" bIns="12700"/>
                    <a:lstStyle/>
                    <a:p>
                      <a:pPr algn="l"/>
                      <a:r>
                        <a:rPr sz="1000" b="0">
                          <a:solidFill>
                            <a:srgbClr val="212121"/>
                          </a:solidFill>
                          <a:latin typeface="Calibri"/>
                        </a:rPr>
                        <a:t>Low</a:t>
                      </a:r>
                    </a:p>
                  </a:txBody>
                  <a:tcPr>
                    <a:solidFill>
                      <a:srgbClr val="FFFFFF"/>
                    </a:solidFill>
                  </a:tcPr>
                </a:tc>
              </a:tr>
              <a:tr h="640080">
                <a:tc>
                  <a:txBody>
                    <a:bodyPr wrap="square" lIns="50800" rIns="50800" tIns="12700" bIns="12700"/>
                    <a:lstStyle/>
                    <a:p>
                      <a:pPr algn="l"/>
                      <a:r>
                        <a:rPr sz="1000" b="0">
                          <a:solidFill>
                            <a:srgbClr val="212121"/>
                          </a:solidFill>
                          <a:latin typeface="Calibri"/>
                        </a:rPr>
                        <a:t>Success prob.</a:t>
                      </a:r>
                    </a:p>
                  </a:txBody>
                  <a:tcPr>
                    <a:solidFill>
                      <a:srgbClr val="EEF2F7"/>
                    </a:solidFill>
                  </a:tcPr>
                </a:tc>
                <a:tc>
                  <a:txBody>
                    <a:bodyPr wrap="square" lIns="50800" rIns="50800" tIns="12700" bIns="12700"/>
                    <a:lstStyle/>
                    <a:p>
                      <a:pPr algn="l"/>
                      <a:r>
                        <a:rPr sz="1000" b="0">
                          <a:solidFill>
                            <a:srgbClr val="212121"/>
                          </a:solidFill>
                          <a:latin typeface="Calibri"/>
                        </a:rPr>
                        <a:t>Medium — only path with theoretical basis; TCG cannot model the variable</a:t>
                      </a:r>
                    </a:p>
                  </a:txBody>
                  <a:tcPr>
                    <a:solidFill>
                      <a:srgbClr val="EEF2F7"/>
                    </a:solidFill>
                  </a:tcPr>
                </a:tc>
                <a:tc>
                  <a:txBody>
                    <a:bodyPr wrap="square" lIns="50800" rIns="50800" tIns="12700" bIns="12700"/>
                    <a:lstStyle/>
                    <a:p>
                      <a:pPr algn="l"/>
                      <a:r>
                        <a:rPr sz="1000" b="0">
                          <a:solidFill>
                            <a:srgbClr val="212121"/>
                          </a:solidFill>
                          <a:latin typeface="Calibri"/>
                        </a:rPr>
                        <a:t>Low — source shows zero preemption inside __ep_remove</a:t>
                      </a:r>
                    </a:p>
                  </a:txBody>
                  <a:tcPr>
                    <a:solidFill>
                      <a:srgbClr val="EEF2F7"/>
                    </a:solidFill>
                  </a:tcPr>
                </a:tc>
                <a:tc>
                  <a:txBody>
                    <a:bodyPr wrap="square" lIns="50800" rIns="50800" tIns="12700" bIns="12700"/>
                    <a:lstStyle/>
                    <a:p>
                      <a:pPr algn="l"/>
                      <a:r>
                        <a:rPr sz="1000" b="0">
                          <a:solidFill>
                            <a:srgbClr val="212121"/>
                          </a:solidFill>
                          <a:latin typeface="Calibri"/>
                        </a:rPr>
                        <a:t>High confidence in conclusion</a:t>
                      </a:r>
                    </a:p>
                  </a:txBody>
                  <a:tcPr>
                    <a:solidFill>
                      <a:srgbClr val="EEF2F7"/>
                    </a:solidFill>
                  </a:tcPr>
                </a:tc>
              </a:tr>
              <a:tr h="640080">
                <a:tc>
                  <a:txBody>
                    <a:bodyPr wrap="square" lIns="50800" rIns="50800" tIns="12700" bIns="12700"/>
                    <a:lstStyle/>
                    <a:p>
                      <a:pPr algn="l"/>
                      <a:r>
                        <a:rPr sz="1000" b="0">
                          <a:solidFill>
                            <a:srgbClr val="212121"/>
                          </a:solidFill>
                          <a:latin typeface="Calibri"/>
                        </a:rPr>
                        <a:t>Outcome if ok</a:t>
                      </a:r>
                    </a:p>
                  </a:txBody>
                  <a:tcPr>
                    <a:solidFill>
                      <a:srgbClr val="FFFFFF"/>
                    </a:solidFill>
                  </a:tcPr>
                </a:tc>
                <a:tc>
                  <a:txBody>
                    <a:bodyPr wrap="square" lIns="50800" rIns="50800" tIns="12700" bIns="12700"/>
                    <a:lstStyle/>
                    <a:p>
                      <a:pPr algn="l"/>
                      <a:r>
                        <a:rPr sz="1000" b="0">
                          <a:solidFill>
                            <a:srgbClr val="212121"/>
                          </a:solidFill>
                          <a:latin typeface="Calibri"/>
                        </a:rPr>
                        <a:t>Natural UAF hit -&gt; resume chain work</a:t>
                      </a:r>
                    </a:p>
                  </a:txBody>
                  <a:tcPr>
                    <a:solidFill>
                      <a:srgbClr val="FFFFFF"/>
                    </a:solidFill>
                  </a:tcPr>
                </a:tc>
                <a:tc>
                  <a:txBody>
                    <a:bodyPr wrap="square" lIns="50800" rIns="50800" tIns="12700" bIns="12700"/>
                    <a:lstStyle/>
                    <a:p>
                      <a:pPr algn="l"/>
                      <a:r>
                        <a:rPr sz="1000" b="0">
                          <a:solidFill>
                            <a:srgbClr val="212121"/>
                          </a:solidFill>
                          <a:latin typeface="Calibri"/>
                        </a:rPr>
                        <a:t>New primitive -&gt; resume chain work</a:t>
                      </a:r>
                    </a:p>
                  </a:txBody>
                  <a:tcPr>
                    <a:solidFill>
                      <a:srgbClr val="FFFFFF"/>
                    </a:solidFill>
                  </a:tcPr>
                </a:tc>
                <a:tc>
                  <a:txBody>
                    <a:bodyPr wrap="square" lIns="50800" rIns="50800" tIns="12700" bIns="12700"/>
                    <a:lstStyle/>
                    <a:p>
                      <a:pPr algn="l"/>
                      <a:r>
                        <a:rPr sz="1000" b="0">
                          <a:solidFill>
                            <a:srgbClr val="212121"/>
                          </a:solidFill>
                          <a:latin typeface="Calibri"/>
                        </a:rPr>
                        <a:t>Defensible, honest negative result</a:t>
                      </a:r>
                    </a:p>
                  </a:txBody>
                  <a:tcPr>
                    <a:solidFill>
                      <a:srgbClr val="FFFFFF"/>
                    </a:solidFill>
                  </a:tcPr>
                </a:tc>
              </a:tr>
            </a:tbl>
          </a:graphicData>
        </a:graphic>
      </p:graphicFrame>
      <p:sp>
        <p:nvSpPr>
          <p:cNvPr id="8" name="Rounded Rectangle 7"/>
          <p:cNvSpPr/>
          <p:nvPr/>
        </p:nvSpPr>
        <p:spPr>
          <a:xfrm>
            <a:off x="502920" y="5257800"/>
            <a:ext cx="11201400" cy="1005840"/>
          </a:xfrm>
          <a:prstGeom prst="roundRect">
            <a:avLst>
              <a:gd name="adj" fmla="val 4500"/>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94960"/>
            <a:ext cx="10698480" cy="777240"/>
          </a:xfrm>
          <a:prstGeom prst="rect">
            <a:avLst/>
          </a:prstGeom>
          <a:noFill/>
        </p:spPr>
        <p:txBody>
          <a:bodyPr wrap="square" anchor="t" lIns="25400" rIns="25400" tIns="12700" bIns="12700">
            <a:spAutoFit/>
          </a:bodyPr>
          <a:lstStyle/>
          <a:p>
            <a:pPr algn="l">
              <a:spcAft>
                <a:spcPts val="0"/>
              </a:spcAft>
            </a:pPr>
            <a:r>
              <a:rPr sz="1300" b="1">
                <a:solidFill>
                  <a:srgbClr val="FFFFFF"/>
                </a:solidFill>
                <a:latin typeface="Calibri"/>
              </a:rPr>
              <a:t>Hybrid recommendation: Path A for a strict 2-week timebox with kill-criteria; if 0 hits in ~1M iterations with all widening techniques -&gt; Path C.</a:t>
            </a:r>
          </a:p>
        </p:txBody>
      </p:sp>
      <p:sp>
        <p:nvSpPr>
          <p:cNvPr id="10" name="TextBox 9"/>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RECOMMENDATION</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What I Propose + What I Need</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TextBox 6"/>
          <p:cNvSpPr txBox="1"/>
          <p:nvPr/>
        </p:nvSpPr>
        <p:spPr>
          <a:xfrm>
            <a:off x="502920" y="1417320"/>
            <a:ext cx="11247120" cy="2926080"/>
          </a:xfrm>
          <a:prstGeom prst="rect">
            <a:avLst/>
          </a:prstGeom>
          <a:noFill/>
        </p:spPr>
        <p:txBody>
          <a:bodyPr wrap="square" lIns="25400" rIns="25400" tIns="12700" bIns="12700">
            <a:spAutoFit/>
          </a:bodyPr>
          <a:lstStyle/>
          <a:p>
            <a:pPr>
              <a:spcAft>
                <a:spcPts val="500"/>
              </a:spcAft>
            </a:pPr>
            <a:r>
              <a:rPr sz="1300" b="1">
                <a:solidFill>
                  <a:srgbClr val="212121"/>
                </a:solidFill>
                <a:latin typeface="Calibri"/>
              </a:rPr>
              <a:t>●  Primary: run Path A as a 2-week timebox on physical ARM64 hardware (or an ARM64 KVM host).</a:t>
            </a:r>
          </a:p>
          <a:p>
            <a:pPr>
              <a:spcAft>
                <a:spcPts val="500"/>
              </a:spcAft>
            </a:pPr>
            <a:r>
              <a:rPr sz="1300" b="0">
                <a:solidFill>
                  <a:srgbClr val="212121"/>
                </a:solidFill>
                <a:latin typeface="Calibri"/>
              </a:rPr>
              <a:t>●  Techniques: false-sharing cache-line bouncing (3rd thread), slab/grooming contention, IPI storms, timerfd storms, and closed-loop delay calibration ported from NAT-005.</a:t>
            </a:r>
          </a:p>
          <a:p>
            <a:pPr>
              <a:spcAft>
                <a:spcPts val="500"/>
              </a:spcAft>
            </a:pPr>
            <a:r>
              <a:rPr sz="1300" b="0">
                <a:solidFill>
                  <a:srgbClr val="212121"/>
                </a:solidFill>
                <a:latin typeface="Calibri"/>
              </a:rPr>
              <a:t>●  Kill-criteria: 0 natural UAF hits across ~1M iterations with all widening techniques enabled =&gt; conclude Path C.</a:t>
            </a:r>
          </a:p>
          <a:p>
            <a:pPr>
              <a:spcAft>
                <a:spcPts val="500"/>
              </a:spcAft>
            </a:pPr>
            <a:r>
              <a:rPr sz="1300" b="0">
                <a:solidFill>
                  <a:srgbClr val="212121"/>
                </a:solidFill>
                <a:latin typeface="Calibri"/>
              </a:rPr>
              <a:t>●  Fallback deliverable: final negative-result writeup (exploitability assessment) covering the CVE, all chains, and the DoS-only conclusion — suitable as a research note / CVE assessment.</a:t>
            </a:r>
          </a:p>
          <a:p>
            <a:pPr>
              <a:spcAft>
                <a:spcPts val="500"/>
              </a:spcAft>
            </a:pPr>
            <a:r>
              <a:rPr sz="1300" b="0">
                <a:solidFill>
                  <a:srgbClr val="212121"/>
                </a:solidFill>
                <a:latin typeface="Calibri"/>
              </a:rPr>
              <a:t>●  Whatever the outcome, evidence protocol continues: every run logged in EXPERIMENT_INDEX, VER ledger updated, raw logs committed and pushed.</a:t>
            </a:r>
          </a:p>
        </p:txBody>
      </p:sp>
      <p:sp>
        <p:nvSpPr>
          <p:cNvPr id="8" name="Rounded Rectangle 7"/>
          <p:cNvSpPr/>
          <p:nvPr/>
        </p:nvSpPr>
        <p:spPr>
          <a:xfrm>
            <a:off x="502920" y="4663440"/>
            <a:ext cx="11201400" cy="1554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4718304"/>
            <a:ext cx="64008" cy="14447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4754880"/>
            <a:ext cx="10835640" cy="320040"/>
          </a:xfrm>
          <a:prstGeom prst="rect">
            <a:avLst/>
          </a:prstGeom>
          <a:noFill/>
        </p:spPr>
        <p:txBody>
          <a:bodyPr wrap="square" anchor="t" lIns="25400" rIns="25400" tIns="12700" bIns="12700">
            <a:spAutoFit/>
          </a:bodyPr>
          <a:lstStyle/>
          <a:p>
            <a:pPr algn="l">
              <a:spcAft>
                <a:spcPts val="0"/>
              </a:spcAft>
            </a:pPr>
            <a:r>
              <a:rPr sz="1400" b="1">
                <a:solidFill>
                  <a:srgbClr val="2E7D32"/>
                </a:solidFill>
                <a:latin typeface="Calibri"/>
              </a:rPr>
              <a:t>What I need from you (mentor)</a:t>
            </a:r>
          </a:p>
        </p:txBody>
      </p:sp>
      <p:sp>
        <p:nvSpPr>
          <p:cNvPr id="11" name="TextBox 10"/>
          <p:cNvSpPr txBox="1"/>
          <p:nvPr/>
        </p:nvSpPr>
        <p:spPr>
          <a:xfrm>
            <a:off x="704088" y="5084064"/>
            <a:ext cx="10835640" cy="1051560"/>
          </a:xfrm>
          <a:prstGeom prst="rect">
            <a:avLst/>
          </a:prstGeom>
          <a:noFill/>
        </p:spPr>
        <p:txBody>
          <a:bodyPr wrap="square" anchor="t" lIns="25400" rIns="25400" tIns="12700" bIns="12700">
            <a:spAutoFit/>
          </a:bodyPr>
          <a:lstStyle/>
          <a:p>
            <a:pPr algn="l">
              <a:spcAft>
                <a:spcPts val="300"/>
              </a:spcAft>
            </a:pPr>
            <a:r>
              <a:rPr sz="1200" b="0">
                <a:solidFill>
                  <a:srgbClr val="212121"/>
                </a:solidFill>
                <a:latin typeface="Calibri"/>
              </a:rPr>
              <a:t>1) Decision: approve the 2-week hardware timebox (Path A), or conclude DoS-only now (Path C)?</a:t>
            </a:r>
          </a:p>
          <a:p>
            <a:pPr algn="l">
              <a:spcAft>
                <a:spcPts val="0"/>
              </a:spcAft>
            </a:pPr>
            <a:r>
              <a:rPr sz="1200" b="0">
                <a:solidFill>
                  <a:srgbClr val="212121"/>
                </a:solidFill>
                <a:latin typeface="Calibri"/>
              </a:rPr>
              <a:t>2) Access: ARM64 test device (e.g., unlocked dev unit) or ARM64 KVM host + ability to read kernel logs.</a:t>
            </a:r>
          </a:p>
        </p:txBody>
      </p:sp>
      <p:sp>
        <p:nvSpPr>
          <p:cNvPr id="12" name="TextBox 11"/>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RISKS</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Risk Register</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graphicFrame>
        <p:nvGraphicFramePr>
          <p:cNvPr id="7" name="Table 6"/>
          <p:cNvGraphicFramePr>
            <a:graphicFrameLocks noGrp="1"/>
          </p:cNvGraphicFramePr>
          <p:nvPr/>
        </p:nvGraphicFramePr>
        <p:xfrm>
          <a:off x="502920" y="1417320"/>
          <a:ext cx="11201400" cy="4526280"/>
        </p:xfrm>
        <a:graphic>
          <a:graphicData uri="http://schemas.openxmlformats.org/drawingml/2006/table">
            <a:tbl>
              <a:tblPr>
                <a:tableStyleId>{5C22544A-7EE6-4342-B048-85BDC9FD1C3A}</a:tableStyleId>
              </a:tblPr>
              <a:tblGrid>
                <a:gridCol w="4206240"/>
                <a:gridCol w="1371600"/>
                <a:gridCol w="5623560"/>
              </a:tblGrid>
              <a:tr h="502920">
                <a:tc>
                  <a:txBody>
                    <a:bodyPr lIns="50800" rIns="50800" tIns="12700" bIns="12700"/>
                    <a:lstStyle/>
                    <a:p>
                      <a:pPr algn="l"/>
                      <a:r>
                        <a:rPr sz="1050" b="1">
                          <a:solidFill>
                            <a:srgbClr val="FFFFFF"/>
                          </a:solidFill>
                          <a:latin typeface="Calibri"/>
                        </a:rPr>
                        <a:t>Risk</a:t>
                      </a:r>
                    </a:p>
                  </a:txBody>
                  <a:tcPr>
                    <a:solidFill>
                      <a:srgbClr val="0F2440"/>
                    </a:solidFill>
                  </a:tcPr>
                </a:tc>
                <a:tc>
                  <a:txBody>
                    <a:bodyPr lIns="50800" rIns="50800" tIns="12700" bIns="12700"/>
                    <a:lstStyle/>
                    <a:p>
                      <a:pPr algn="l"/>
                      <a:r>
                        <a:rPr sz="1050" b="1">
                          <a:solidFill>
                            <a:srgbClr val="FFFFFF"/>
                          </a:solidFill>
                          <a:latin typeface="Calibri"/>
                        </a:rPr>
                        <a:t>Likelihood</a:t>
                      </a:r>
                    </a:p>
                  </a:txBody>
                  <a:tcPr>
                    <a:solidFill>
                      <a:srgbClr val="0F2440"/>
                    </a:solidFill>
                  </a:tcPr>
                </a:tc>
                <a:tc>
                  <a:txBody>
                    <a:bodyPr lIns="50800" rIns="50800" tIns="12700" bIns="12700"/>
                    <a:lstStyle/>
                    <a:p>
                      <a:pPr algn="l"/>
                      <a:r>
                        <a:rPr sz="1050" b="1">
                          <a:solidFill>
                            <a:srgbClr val="FFFFFF"/>
                          </a:solidFill>
                          <a:latin typeface="Calibri"/>
                        </a:rPr>
                        <a:t>Mitigation / note</a:t>
                      </a:r>
                    </a:p>
                  </a:txBody>
                  <a:tcPr>
                    <a:solidFill>
                      <a:srgbClr val="0F2440"/>
                    </a:solidFill>
                  </a:tcPr>
                </a:tc>
              </a:tr>
              <a:tr h="502920">
                <a:tc>
                  <a:txBody>
                    <a:bodyPr wrap="square" lIns="50800" rIns="50800" tIns="12700" bIns="12700"/>
                    <a:lstStyle/>
                    <a:p>
                      <a:pPr algn="l"/>
                      <a:r>
                        <a:rPr sz="1050" b="0">
                          <a:solidFill>
                            <a:srgbClr val="212121"/>
                          </a:solidFill>
                          <a:latin typeface="Calibri"/>
                        </a:rPr>
                        <a:t>TCG vs real hardware timing divergence</a:t>
                      </a:r>
                    </a:p>
                  </a:txBody>
                  <a:tcPr>
                    <a:solidFill>
                      <a:srgbClr val="FFFFFF"/>
                    </a:solidFill>
                  </a:tcPr>
                </a:tc>
                <a:tc>
                  <a:txBody>
                    <a:bodyPr wrap="square" lIns="50800" rIns="50800" tIns="12700" bIns="12700"/>
                    <a:lstStyle/>
                    <a:p>
                      <a:pPr algn="l"/>
                      <a:r>
                        <a:rPr sz="1050" b="0">
                          <a:solidFill>
                            <a:srgbClr val="212121"/>
                          </a:solidFill>
                          <a:latin typeface="Calibri"/>
                        </a:rPr>
                        <a:t>Medium</a:t>
                      </a:r>
                    </a:p>
                  </a:txBody>
                  <a:tcPr>
                    <a:solidFill>
                      <a:srgbClr val="FFFFFF"/>
                    </a:solidFill>
                  </a:tcPr>
                </a:tc>
                <a:tc>
                  <a:txBody>
                    <a:bodyPr wrap="square" lIns="50800" rIns="50800" tIns="12700" bIns="12700"/>
                    <a:lstStyle/>
                    <a:p>
                      <a:pPr algn="l"/>
                      <a:r>
                        <a:rPr sz="1050" b="0">
                          <a:solidFill>
                            <a:srgbClr val="212121"/>
                          </a:solidFill>
                          <a:latin typeface="Calibri"/>
                        </a:rPr>
                        <a:t>Mitigation: Path A on physical device; treat QEMU results as lower-bound evidence</a:t>
                      </a:r>
                    </a:p>
                  </a:txBody>
                  <a:tcPr>
                    <a:solidFill>
                      <a:srgbClr val="FFFFFF"/>
                    </a:solidFill>
                  </a:tcPr>
                </a:tc>
              </a:tr>
              <a:tr h="502920">
                <a:tc>
                  <a:txBody>
                    <a:bodyPr wrap="square" lIns="50800" rIns="50800" tIns="12700" bIns="12700"/>
                    <a:lstStyle/>
                    <a:p>
                      <a:pPr algn="l"/>
                      <a:r>
                        <a:rPr sz="1050" b="0">
                          <a:solidFill>
                            <a:srgbClr val="212121"/>
                          </a:solidFill>
                          <a:latin typeface="Calibri"/>
                        </a:rPr>
                        <a:t>SELinux/seccomp may block msgget/msgsnd in real app context</a:t>
                      </a:r>
                    </a:p>
                  </a:txBody>
                  <a:tcPr>
                    <a:solidFill>
                      <a:srgbClr val="EEF2F7"/>
                    </a:solidFill>
                  </a:tcPr>
                </a:tc>
                <a:tc>
                  <a:txBody>
                    <a:bodyPr wrap="square" lIns="50800" rIns="50800" tIns="12700" bIns="12700"/>
                    <a:lstStyle/>
                    <a:p>
                      <a:pPr algn="l"/>
                      <a:r>
                        <a:rPr sz="1050" b="0">
                          <a:solidFill>
                            <a:srgbClr val="212121"/>
                          </a:solidFill>
                          <a:latin typeface="Calibri"/>
                        </a:rPr>
                        <a:t>Medium</a:t>
                      </a:r>
                    </a:p>
                  </a:txBody>
                  <a:tcPr>
                    <a:solidFill>
                      <a:srgbClr val="EEF2F7"/>
                    </a:solidFill>
                  </a:tcPr>
                </a:tc>
                <a:tc>
                  <a:txBody>
                    <a:bodyPr wrap="square" lIns="50800" rIns="50800" tIns="12700" bIns="12700"/>
                    <a:lstStyle/>
                    <a:p>
                      <a:pPr algn="l"/>
                      <a:r>
                        <a:rPr sz="1050" b="0">
                          <a:solidFill>
                            <a:srgbClr val="212121"/>
                          </a:solidFill>
                          <a:latin typeface="Calibri"/>
                        </a:rPr>
                        <a:t>AND-003 planned; AND-001 tested shell context only</a:t>
                      </a:r>
                    </a:p>
                  </a:txBody>
                  <a:tcPr>
                    <a:solidFill>
                      <a:srgbClr val="EEF2F7"/>
                    </a:solidFill>
                  </a:tcPr>
                </a:tc>
              </a:tr>
              <a:tr h="502920">
                <a:tc>
                  <a:txBody>
                    <a:bodyPr wrap="square" lIns="50800" rIns="50800" tIns="12700" bIns="12700"/>
                    <a:lstStyle/>
                    <a:p>
                      <a:pPr algn="l"/>
                      <a:r>
                        <a:rPr sz="1050" b="0">
                          <a:solidFill>
                            <a:srgbClr val="212121"/>
                          </a:solidFill>
                          <a:latin typeface="Calibri"/>
                        </a:rPr>
                        <a:t>Scheduler divergence (2-CPU QEMU vs big.LITTLE device)</a:t>
                      </a:r>
                    </a:p>
                  </a:txBody>
                  <a:tcPr>
                    <a:solidFill>
                      <a:srgbClr val="FFFFFF"/>
                    </a:solidFill>
                  </a:tcPr>
                </a:tc>
                <a:tc>
                  <a:txBody>
                    <a:bodyPr wrap="square" lIns="50800" rIns="50800" tIns="12700" bIns="12700"/>
                    <a:lstStyle/>
                    <a:p>
                      <a:pPr algn="l"/>
                      <a:r>
                        <a:rPr sz="1050" b="0">
                          <a:solidFill>
                            <a:srgbClr val="212121"/>
                          </a:solidFill>
                          <a:latin typeface="Calibri"/>
                        </a:rPr>
                        <a:t>Low-Med</a:t>
                      </a:r>
                    </a:p>
                  </a:txBody>
                  <a:tcPr>
                    <a:solidFill>
                      <a:srgbClr val="FFFFFF"/>
                    </a:solidFill>
                  </a:tcPr>
                </a:tc>
                <a:tc>
                  <a:txBody>
                    <a:bodyPr wrap="square" lIns="50800" rIns="50800" tIns="12700" bIns="12700"/>
                    <a:lstStyle/>
                    <a:p>
                      <a:pPr algn="l"/>
                      <a:r>
                        <a:rPr sz="1050" b="0">
                          <a:solidFill>
                            <a:srgbClr val="212121"/>
                          </a:solidFill>
                          <a:latin typeface="Calibri"/>
                        </a:rPr>
                        <a:t>Retest timing on device before concluding</a:t>
                      </a:r>
                    </a:p>
                  </a:txBody>
                  <a:tcPr>
                    <a:solidFill>
                      <a:srgbClr val="FFFFFF"/>
                    </a:solidFill>
                  </a:tcPr>
                </a:tc>
              </a:tr>
              <a:tr h="502920">
                <a:tc>
                  <a:txBody>
                    <a:bodyPr wrap="square" lIns="50800" rIns="50800" tIns="12700" bIns="12700"/>
                    <a:lstStyle/>
                    <a:p>
                      <a:pPr algn="l"/>
                      <a:r>
                        <a:rPr sz="1050" b="0">
                          <a:solidFill>
                            <a:srgbClr val="212121"/>
                          </a:solidFill>
                          <a:latin typeface="Calibri"/>
                        </a:rPr>
                        <a:t>Device SLUB config may differ from QEMU .config</a:t>
                      </a:r>
                    </a:p>
                  </a:txBody>
                  <a:tcPr>
                    <a:solidFill>
                      <a:srgbClr val="EEF2F7"/>
                    </a:solidFill>
                  </a:tcPr>
                </a:tc>
                <a:tc>
                  <a:txBody>
                    <a:bodyPr wrap="square" lIns="50800" rIns="50800" tIns="12700" bIns="12700"/>
                    <a:lstStyle/>
                    <a:p>
                      <a:pPr algn="l"/>
                      <a:r>
                        <a:rPr sz="1050" b="0">
                          <a:solidFill>
                            <a:srgbClr val="212121"/>
                          </a:solidFill>
                          <a:latin typeface="Calibri"/>
                        </a:rPr>
                        <a:t>Low</a:t>
                      </a:r>
                    </a:p>
                  </a:txBody>
                  <a:tcPr>
                    <a:solidFill>
                      <a:srgbClr val="EEF2F7"/>
                    </a:solidFill>
                  </a:tcPr>
                </a:tc>
                <a:tc>
                  <a:txBody>
                    <a:bodyPr wrap="square" lIns="50800" rIns="50800" tIns="12700" bIns="12700"/>
                    <a:lstStyle/>
                    <a:p>
                      <a:pPr algn="l"/>
                      <a:r>
                        <a:rPr sz="1050" b="0">
                          <a:solidFill>
                            <a:srgbClr val="212121"/>
                          </a:solidFill>
                          <a:latin typeface="Calibri"/>
                        </a:rPr>
                        <a:t>Fetch device /proc/slabinfo before spray work</a:t>
                      </a:r>
                    </a:p>
                  </a:txBody>
                  <a:tcPr>
                    <a:solidFill>
                      <a:srgbClr val="EEF2F7"/>
                    </a:solidFill>
                  </a:tcPr>
                </a:tc>
              </a:tr>
              <a:tr h="502920">
                <a:tc>
                  <a:txBody>
                    <a:bodyPr wrap="square" lIns="50800" rIns="50800" tIns="12700" bIns="12700"/>
                    <a:lstStyle/>
                    <a:p>
                      <a:pPr algn="l"/>
                      <a:r>
                        <a:rPr sz="1050" b="0">
                          <a:solidFill>
                            <a:srgbClr val="212121"/>
                          </a:solidFill>
                          <a:latin typeface="Calibri"/>
                        </a:rPr>
                        <a:t>MTE on production devices detects the UAF -&gt; fault, not corruption</a:t>
                      </a:r>
                    </a:p>
                  </a:txBody>
                  <a:tcPr>
                    <a:solidFill>
                      <a:srgbClr val="FFFFFF"/>
                    </a:solidFill>
                  </a:tcPr>
                </a:tc>
                <a:tc>
                  <a:txBody>
                    <a:bodyPr wrap="square" lIns="50800" rIns="50800" tIns="12700" bIns="12700"/>
                    <a:lstStyle/>
                    <a:p>
                      <a:pPr algn="l"/>
                      <a:r>
                        <a:rPr sz="1050" b="0">
                          <a:solidFill>
                            <a:srgbClr val="212121"/>
                          </a:solidFill>
                          <a:latin typeface="Calibri"/>
                        </a:rPr>
                        <a:t>Unknown</a:t>
                      </a:r>
                    </a:p>
                  </a:txBody>
                  <a:tcPr>
                    <a:solidFill>
                      <a:srgbClr val="FFFFFF"/>
                    </a:solidFill>
                  </a:tcPr>
                </a:tc>
                <a:tc>
                  <a:txBody>
                    <a:bodyPr wrap="square" lIns="50800" rIns="50800" tIns="12700" bIns="12700"/>
                    <a:lstStyle/>
                    <a:p>
                      <a:pPr algn="l"/>
                      <a:r>
                        <a:rPr sz="1050" b="0">
                          <a:solidFill>
                            <a:srgbClr val="212121"/>
                          </a:solidFill>
                          <a:latin typeface="Calibri"/>
                        </a:rPr>
                        <a:t>AND-004 planned; may cap impact at DoS regardless</a:t>
                      </a:r>
                    </a:p>
                  </a:txBody>
                  <a:tcPr>
                    <a:solidFill>
                      <a:srgbClr val="FFFFFF"/>
                    </a:solidFill>
                  </a:tcPr>
                </a:tc>
              </a:tr>
              <a:tr h="502920">
                <a:tc>
                  <a:txBody>
                    <a:bodyPr wrap="square" lIns="50800" rIns="50800" tIns="12700" bIns="12700"/>
                    <a:lstStyle/>
                    <a:p>
                      <a:pPr algn="l"/>
                      <a:r>
                        <a:rPr sz="1050" b="0">
                          <a:solidFill>
                            <a:srgbClr val="212121"/>
                          </a:solidFill>
                          <a:latin typeface="Calibri"/>
                        </a:rPr>
                        <a:t>Timebox creep on hardware tuning</a:t>
                      </a:r>
                    </a:p>
                  </a:txBody>
                  <a:tcPr>
                    <a:solidFill>
                      <a:srgbClr val="EEF2F7"/>
                    </a:solidFill>
                  </a:tcPr>
                </a:tc>
                <a:tc>
                  <a:txBody>
                    <a:bodyPr wrap="square" lIns="50800" rIns="50800" tIns="12700" bIns="12700"/>
                    <a:lstStyle/>
                    <a:p>
                      <a:pPr algn="l"/>
                      <a:r>
                        <a:rPr sz="1050" b="0">
                          <a:solidFill>
                            <a:srgbClr val="212121"/>
                          </a:solidFill>
                          <a:latin typeface="Calibri"/>
                        </a:rPr>
                        <a:t>Medium</a:t>
                      </a:r>
                    </a:p>
                  </a:txBody>
                  <a:tcPr>
                    <a:solidFill>
                      <a:srgbClr val="EEF2F7"/>
                    </a:solidFill>
                  </a:tcPr>
                </a:tc>
                <a:tc>
                  <a:txBody>
                    <a:bodyPr wrap="square" lIns="50800" rIns="50800" tIns="12700" bIns="12700"/>
                    <a:lstStyle/>
                    <a:p>
                      <a:pPr algn="l"/>
                      <a:r>
                        <a:rPr sz="1050" b="0">
                          <a:solidFill>
                            <a:srgbClr val="212121"/>
                          </a:solidFill>
                          <a:latin typeface="Calibri"/>
                        </a:rPr>
                        <a:t>Hard 2-week cap with kill-criteria (slide 16)</a:t>
                      </a:r>
                    </a:p>
                  </a:txBody>
                  <a:tcPr>
                    <a:solidFill>
                      <a:srgbClr val="EEF2F7"/>
                    </a:solidFill>
                  </a:tcPr>
                </a:tc>
              </a:tr>
              <a:tr h="502920">
                <a:tc>
                  <a:txBody>
                    <a:bodyPr wrap="square" lIns="50800" rIns="50800" tIns="12700" bIns="12700"/>
                    <a:lstStyle/>
                    <a:p>
                      <a:pPr algn="l"/>
                      <a:r>
                        <a:rPr sz="1050" b="0">
                          <a:solidFill>
                            <a:srgbClr val="212121"/>
                          </a:solidFill>
                          <a:latin typeface="Calibri"/>
                        </a:rPr>
                        <a:t>False confidence from GDB-assisted success</a:t>
                      </a:r>
                    </a:p>
                  </a:txBody>
                  <a:tcPr>
                    <a:solidFill>
                      <a:srgbClr val="FFFFFF"/>
                    </a:solidFill>
                  </a:tcPr>
                </a:tc>
                <a:tc>
                  <a:txBody>
                    <a:bodyPr wrap="square" lIns="50800" rIns="50800" tIns="12700" bIns="12700"/>
                    <a:lstStyle/>
                    <a:p>
                      <a:pPr algn="l"/>
                      <a:r>
                        <a:rPr sz="1050" b="0">
                          <a:solidFill>
                            <a:srgbClr val="212121"/>
                          </a:solidFill>
                          <a:latin typeface="Calibri"/>
                        </a:rPr>
                        <a:t>Handled</a:t>
                      </a:r>
                    </a:p>
                  </a:txBody>
                  <a:tcPr>
                    <a:solidFill>
                      <a:srgbClr val="FFFFFF"/>
                    </a:solidFill>
                  </a:tcPr>
                </a:tc>
                <a:tc>
                  <a:txBody>
                    <a:bodyPr wrap="square" lIns="50800" rIns="50800" tIns="12700" bIns="12700"/>
                    <a:lstStyle/>
                    <a:p>
                      <a:pPr algn="l"/>
                      <a:r>
                        <a:rPr sz="1050" b="0">
                          <a:solidFill>
                            <a:srgbClr val="212121"/>
                          </a:solidFill>
                          <a:latin typeface="Calibri"/>
                        </a:rPr>
                        <a:t>Phase 3 falsification campaign (EVO-009); labels STATIC/RUNTIME everywhere</a:t>
                      </a:r>
                    </a:p>
                  </a:txBody>
                  <a:tcPr>
                    <a:solidFill>
                      <a:srgbClr val="FFFFFF"/>
                    </a:solidFill>
                  </a:tcPr>
                </a:tc>
              </a:tr>
              <a:tr h="502920">
                <a:tc>
                  <a:txBody>
                    <a:bodyPr wrap="square" lIns="50800" rIns="50800" tIns="12700" bIns="12700"/>
                    <a:lstStyle/>
                    <a:p>
                      <a:pPr algn="l"/>
                      <a:r>
                        <a:rPr sz="1050" b="0">
                          <a:solidFill>
                            <a:srgbClr val="212121"/>
                          </a:solidFill>
                          <a:latin typeface="Calibri"/>
                        </a:rPr>
                        <a:t>PAC/BTI if a new control-flow chain is found</a:t>
                      </a:r>
                    </a:p>
                  </a:txBody>
                  <a:tcPr>
                    <a:solidFill>
                      <a:srgbClr val="EEF2F7"/>
                    </a:solidFill>
                  </a:tcPr>
                </a:tc>
                <a:tc>
                  <a:txBody>
                    <a:bodyPr wrap="square" lIns="50800" rIns="50800" tIns="12700" bIns="12700"/>
                    <a:lstStyle/>
                    <a:p>
                      <a:pPr algn="l"/>
                      <a:r>
                        <a:rPr sz="1050" b="0">
                          <a:solidFill>
                            <a:srgbClr val="212121"/>
                          </a:solidFill>
                          <a:latin typeface="Calibri"/>
                        </a:rPr>
                        <a:t>Low now</a:t>
                      </a:r>
                    </a:p>
                  </a:txBody>
                  <a:tcPr>
                    <a:solidFill>
                      <a:srgbClr val="EEF2F7"/>
                    </a:solidFill>
                  </a:tcPr>
                </a:tc>
                <a:tc>
                  <a:txBody>
                    <a:bodyPr wrap="square" lIns="50800" rIns="50800" tIns="12700" bIns="12700"/>
                    <a:lstStyle/>
                    <a:p>
                      <a:pPr algn="l"/>
                      <a:r>
                        <a:rPr sz="1050" b="0">
                          <a:solidFill>
                            <a:srgbClr val="212121"/>
                          </a:solidFill>
                          <a:latin typeface="Calibri"/>
                        </a:rPr>
                        <a:t>Data-only primitive avoids them; re-assess only if new chain appears</a:t>
                      </a:r>
                    </a:p>
                  </a:txBody>
                  <a:tcPr>
                    <a:solidFill>
                      <a:srgbClr val="EEF2F7"/>
                    </a:solidFill>
                  </a:tcPr>
                </a:tc>
              </a:tr>
            </a:tbl>
          </a:graphicData>
        </a:graphic>
      </p:graphicFrame>
      <p:sp>
        <p:nvSpPr>
          <p:cNvPr id="8" name="TextBox 7"/>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APPENDIX</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Experiment Index (19 executed + planned)</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graphicFrame>
        <p:nvGraphicFramePr>
          <p:cNvPr id="7" name="Table 6"/>
          <p:cNvGraphicFramePr>
            <a:graphicFrameLocks noGrp="1"/>
          </p:cNvGraphicFramePr>
          <p:nvPr/>
        </p:nvGraphicFramePr>
        <p:xfrm>
          <a:off x="502920" y="1417320"/>
          <a:ext cx="11201400" cy="4937760"/>
        </p:xfrm>
        <a:graphic>
          <a:graphicData uri="http://schemas.openxmlformats.org/drawingml/2006/table">
            <a:tbl>
              <a:tblPr>
                <a:tableStyleId>{5C22544A-7EE6-4342-B048-85BDC9FD1C3A}</a:tableStyleId>
              </a:tblPr>
              <a:tblGrid>
                <a:gridCol w="1005840"/>
                <a:gridCol w="914400"/>
                <a:gridCol w="6400800"/>
                <a:gridCol w="2880360"/>
              </a:tblGrid>
              <a:tr h="274320">
                <a:tc>
                  <a:txBody>
                    <a:bodyPr lIns="50800" rIns="50800" tIns="12700" bIns="12700"/>
                    <a:lstStyle/>
                    <a:p>
                      <a:pPr algn="l"/>
                      <a:r>
                        <a:rPr sz="950" b="1">
                          <a:solidFill>
                            <a:srgbClr val="FFFFFF"/>
                          </a:solidFill>
                          <a:latin typeface="Calibri"/>
                        </a:rPr>
                        <a:t>ID</a:t>
                      </a:r>
                    </a:p>
                  </a:txBody>
                  <a:tcPr>
                    <a:solidFill>
                      <a:srgbClr val="0F2440"/>
                    </a:solidFill>
                  </a:tcPr>
                </a:tc>
                <a:tc>
                  <a:txBody>
                    <a:bodyPr lIns="50800" rIns="50800" tIns="12700" bIns="12700"/>
                    <a:lstStyle/>
                    <a:p>
                      <a:pPr algn="l"/>
                      <a:r>
                        <a:rPr sz="950" b="1">
                          <a:solidFill>
                            <a:srgbClr val="FFFFFF"/>
                          </a:solidFill>
                          <a:latin typeface="Calibri"/>
                        </a:rPr>
                        <a:t>Date</a:t>
                      </a:r>
                    </a:p>
                  </a:txBody>
                  <a:tcPr>
                    <a:solidFill>
                      <a:srgbClr val="0F2440"/>
                    </a:solidFill>
                  </a:tcPr>
                </a:tc>
                <a:tc>
                  <a:txBody>
                    <a:bodyPr lIns="50800" rIns="50800" tIns="12700" bIns="12700"/>
                    <a:lstStyle/>
                    <a:p>
                      <a:pPr algn="l"/>
                      <a:r>
                        <a:rPr sz="950" b="1">
                          <a:solidFill>
                            <a:srgbClr val="FFFFFF"/>
                          </a:solidFill>
                          <a:latin typeface="Calibri"/>
                        </a:rPr>
                        <a:t>Objective</a:t>
                      </a:r>
                    </a:p>
                  </a:txBody>
                  <a:tcPr>
                    <a:solidFill>
                      <a:srgbClr val="0F2440"/>
                    </a:solidFill>
                  </a:tcPr>
                </a:tc>
                <a:tc>
                  <a:txBody>
                    <a:bodyPr lIns="50800" rIns="50800" tIns="12700" bIns="12700"/>
                    <a:lstStyle/>
                    <a:p>
                      <a:pPr algn="l"/>
                      <a:r>
                        <a:rPr sz="950" b="1">
                          <a:solidFill>
                            <a:srgbClr val="FFFFFF"/>
                          </a:solidFill>
                          <a:latin typeface="Calibri"/>
                        </a:rPr>
                        <a:t>Result</a:t>
                      </a:r>
                    </a:p>
                  </a:txBody>
                  <a:tcPr>
                    <a:solidFill>
                      <a:srgbClr val="0F2440"/>
                    </a:solidFill>
                  </a:tcPr>
                </a:tc>
              </a:tr>
              <a:tr h="274320">
                <a:tc>
                  <a:txBody>
                    <a:bodyPr wrap="square" lIns="50800" rIns="50800" tIns="12700" bIns="12700"/>
                    <a:lstStyle/>
                    <a:p>
                      <a:pPr algn="l"/>
                      <a:r>
                        <a:rPr sz="950" b="0">
                          <a:solidFill>
                            <a:srgbClr val="212121"/>
                          </a:solidFill>
                          <a:latin typeface="Calibri"/>
                        </a:rPr>
                        <a:t>EXP-006</a:t>
                      </a:r>
                    </a:p>
                  </a:txBody>
                  <a:tcPr>
                    <a:solidFill>
                      <a:srgbClr val="FFFFFF"/>
                    </a:solidFill>
                  </a:tcPr>
                </a:tc>
                <a:tc>
                  <a:txBody>
                    <a:bodyPr wrap="square" lIns="50800" rIns="50800" tIns="12700" bIns="12700"/>
                    <a:lstStyle/>
                    <a:p>
                      <a:pPr algn="l"/>
                      <a:r>
                        <a:rPr sz="950" b="0">
                          <a:solidFill>
                            <a:srgbClr val="212121"/>
                          </a:solidFill>
                          <a:latin typeface="Calibri"/>
                        </a:rPr>
                        <a:t>07-23</a:t>
                      </a:r>
                    </a:p>
                  </a:txBody>
                  <a:tcPr>
                    <a:solidFill>
                      <a:srgbClr val="FFFFFF"/>
                    </a:solidFill>
                  </a:tcPr>
                </a:tc>
                <a:tc>
                  <a:txBody>
                    <a:bodyPr wrap="square" lIns="50800" rIns="50800" tIns="12700" bIns="12700"/>
                    <a:lstStyle/>
                    <a:p>
                      <a:pPr algn="l"/>
                      <a:r>
                        <a:rPr sz="950" b="0">
                          <a:solidFill>
                            <a:srgbClr val="212121"/>
                          </a:solidFill>
                          <a:latin typeface="Calibri"/>
                        </a:rPr>
                        <a:t>pipe_buffer cross-cache struct-file UAF</a:t>
                      </a:r>
                    </a:p>
                  </a:txBody>
                  <a:tcPr>
                    <a:solidFill>
                      <a:srgbClr val="FFFFFF"/>
                    </a:solidFill>
                  </a:tcPr>
                </a:tc>
                <a:tc>
                  <a:txBody>
                    <a:bodyPr wrap="square" lIns="50800" rIns="50800" tIns="12700" bIns="12700"/>
                    <a:lstStyle/>
                    <a:p>
                      <a:pPr algn="l"/>
                      <a:r>
                        <a:rPr sz="950" b="0">
                          <a:solidFill>
                            <a:srgbClr val="212121"/>
                          </a:solidFill>
                          <a:latin typeface="Calibri"/>
                        </a:rPr>
                        <a:t>INCONCLUSIVE</a:t>
                      </a:r>
                    </a:p>
                  </a:txBody>
                  <a:tcPr>
                    <a:solidFill>
                      <a:srgbClr val="FFFFFF"/>
                    </a:solidFill>
                  </a:tcPr>
                </a:tc>
              </a:tr>
              <a:tr h="274320">
                <a:tc>
                  <a:txBody>
                    <a:bodyPr wrap="square" lIns="50800" rIns="50800" tIns="12700" bIns="12700"/>
                    <a:lstStyle/>
                    <a:p>
                      <a:pPr algn="l"/>
                      <a:r>
                        <a:rPr sz="950" b="0">
                          <a:solidFill>
                            <a:srgbClr val="212121"/>
                          </a:solidFill>
                          <a:latin typeface="Calibri"/>
                        </a:rPr>
                        <a:t>EXP-007</a:t>
                      </a:r>
                    </a:p>
                  </a:txBody>
                  <a:tcPr>
                    <a:solidFill>
                      <a:srgbClr val="EEF2F7"/>
                    </a:solidFill>
                  </a:tcPr>
                </a:tc>
                <a:tc>
                  <a:txBody>
                    <a:bodyPr wrap="square" lIns="50800" rIns="50800" tIns="12700" bIns="12700"/>
                    <a:lstStyle/>
                    <a:p>
                      <a:pPr algn="l"/>
                      <a:r>
                        <a:rPr sz="950" b="0">
                          <a:solidFill>
                            <a:srgbClr val="212121"/>
                          </a:solidFill>
                          <a:latin typeface="Calibri"/>
                        </a:rPr>
                        <a:t>07-27</a:t>
                      </a:r>
                    </a:p>
                  </a:txBody>
                  <a:tcPr>
                    <a:solidFill>
                      <a:srgbClr val="EEF2F7"/>
                    </a:solidFill>
                  </a:tcPr>
                </a:tc>
                <a:tc>
                  <a:txBody>
                    <a:bodyPr wrap="square" lIns="50800" rIns="50800" tIns="12700" bIns="12700"/>
                    <a:lstStyle/>
                    <a:p>
                      <a:pPr algn="l"/>
                      <a:r>
                        <a:rPr sz="950" b="0">
                          <a:solidFill>
                            <a:srgbClr val="212121"/>
                          </a:solidFill>
                          <a:latin typeface="Calibri"/>
                        </a:rPr>
                        <a:t>same-cache epitem reclaim</a:t>
                      </a:r>
                    </a:p>
                  </a:txBody>
                  <a:tcPr>
                    <a:solidFill>
                      <a:srgbClr val="EEF2F7"/>
                    </a:solidFill>
                  </a:tcPr>
                </a:tc>
                <a:tc>
                  <a:txBody>
                    <a:bodyPr wrap="square" lIns="50800" rIns="50800" tIns="12700" bIns="12700"/>
                    <a:lstStyle/>
                    <a:p>
                      <a:pPr algn="l"/>
                      <a:r>
                        <a:rPr sz="950" b="0">
                          <a:solidFill>
                            <a:srgbClr val="212121"/>
                          </a:solidFill>
                          <a:latin typeface="Calibri"/>
                        </a:rPr>
                        <a:t>PASSED</a:t>
                      </a:r>
                    </a:p>
                  </a:txBody>
                  <a:tcPr>
                    <a:solidFill>
                      <a:srgbClr val="EEF2F7"/>
                    </a:solidFill>
                  </a:tcPr>
                </a:tc>
              </a:tr>
              <a:tr h="274320">
                <a:tc>
                  <a:txBody>
                    <a:bodyPr wrap="square" lIns="50800" rIns="50800" tIns="12700" bIns="12700"/>
                    <a:lstStyle/>
                    <a:p>
                      <a:pPr algn="l"/>
                      <a:r>
                        <a:rPr sz="950" b="0">
                          <a:solidFill>
                            <a:srgbClr val="212121"/>
                          </a:solidFill>
                          <a:latin typeface="Calibri"/>
                        </a:rPr>
                        <a:t>EXP-008</a:t>
                      </a:r>
                    </a:p>
                  </a:txBody>
                  <a:tcPr>
                    <a:solidFill>
                      <a:srgbClr val="FFFFFF"/>
                    </a:solidFill>
                  </a:tcPr>
                </a:tc>
                <a:tc>
                  <a:txBody>
                    <a:bodyPr wrap="square" lIns="50800" rIns="50800" tIns="12700" bIns="12700"/>
                    <a:lstStyle/>
                    <a:p>
                      <a:pPr algn="l"/>
                      <a:r>
                        <a:rPr sz="950" b="0">
                          <a:solidFill>
                            <a:srgbClr val="212121"/>
                          </a:solidFill>
                          <a:latin typeface="Calibri"/>
                        </a:rPr>
                        <a:t>07-28</a:t>
                      </a:r>
                    </a:p>
                  </a:txBody>
                  <a:tcPr>
                    <a:solidFill>
                      <a:srgbClr val="FFFFFF"/>
                    </a:solidFill>
                  </a:tcPr>
                </a:tc>
                <a:tc>
                  <a:txBody>
                    <a:bodyPr wrap="square" lIns="50800" rIns="50800" tIns="12700" bIns="12700"/>
                    <a:lstStyle/>
                    <a:p>
                      <a:pPr algn="l"/>
                      <a:r>
                        <a:rPr sz="950" b="0">
                          <a:solidFill>
                            <a:srgbClr val="212121"/>
                          </a:solidFill>
                          <a:latin typeface="Calibri"/>
                        </a:rPr>
                        <a:t>timing: list_del_init before free</a:t>
                      </a:r>
                    </a:p>
                  </a:txBody>
                  <a:tcPr>
                    <a:solidFill>
                      <a:srgbClr val="FFFFFF"/>
                    </a:solidFill>
                  </a:tcPr>
                </a:tc>
                <a:tc>
                  <a:txBody>
                    <a:bodyPr wrap="square" lIns="50800" rIns="50800" tIns="12700" bIns="12700"/>
                    <a:lstStyle/>
                    <a:p>
                      <a:pPr algn="l"/>
                      <a:r>
                        <a:rPr sz="950" b="0">
                          <a:solidFill>
                            <a:srgbClr val="212121"/>
                          </a:solidFill>
                          <a:latin typeface="Calibri"/>
                        </a:rPr>
                        <a:t>PASSED (dead end)</a:t>
                      </a:r>
                    </a:p>
                  </a:txBody>
                  <a:tcPr>
                    <a:solidFill>
                      <a:srgbClr val="FFFFFF"/>
                    </a:solidFill>
                  </a:tcPr>
                </a:tc>
              </a:tr>
              <a:tr h="274320">
                <a:tc>
                  <a:txBody>
                    <a:bodyPr wrap="square" lIns="50800" rIns="50800" tIns="12700" bIns="12700"/>
                    <a:lstStyle/>
                    <a:p>
                      <a:pPr algn="l"/>
                      <a:r>
                        <a:rPr sz="950" b="0">
                          <a:solidFill>
                            <a:srgbClr val="212121"/>
                          </a:solidFill>
                          <a:latin typeface="Calibri"/>
                        </a:rPr>
                        <a:t>EXP-009</a:t>
                      </a:r>
                    </a:p>
                  </a:txBody>
                  <a:tcPr>
                    <a:solidFill>
                      <a:srgbClr val="EEF2F7"/>
                    </a:solidFill>
                  </a:tcPr>
                </a:tc>
                <a:tc>
                  <a:txBody>
                    <a:bodyPr wrap="square" lIns="50800" rIns="50800" tIns="12700" bIns="12700"/>
                    <a:lstStyle/>
                    <a:p>
                      <a:pPr algn="l"/>
                      <a:r>
                        <a:rPr sz="950" b="0">
                          <a:solidFill>
                            <a:srgbClr val="212121"/>
                          </a:solidFill>
                          <a:latin typeface="Calibri"/>
                        </a:rPr>
                        <a:t>07-28</a:t>
                      </a:r>
                    </a:p>
                  </a:txBody>
                  <a:tcPr>
                    <a:solidFill>
                      <a:srgbClr val="EEF2F7"/>
                    </a:solidFill>
                  </a:tcPr>
                </a:tc>
                <a:tc>
                  <a:txBody>
                    <a:bodyPr wrap="square" lIns="50800" rIns="50800" tIns="12700" bIns="12700"/>
                    <a:lstStyle/>
                    <a:p>
                      <a:pPr algn="l"/>
                      <a:r>
                        <a:rPr sz="950" b="0">
                          <a:solidFill>
                            <a:srgbClr val="212121"/>
                          </a:solidFill>
                          <a:latin typeface="Calibri"/>
                        </a:rPr>
                        <a:t>struct file reclaim via open() spray</a:t>
                      </a:r>
                    </a:p>
                  </a:txBody>
                  <a:tcPr>
                    <a:solidFill>
                      <a:srgbClr val="EEF2F7"/>
                    </a:solidFill>
                  </a:tcPr>
                </a:tc>
                <a:tc>
                  <a:txBody>
                    <a:bodyPr wrap="square" lIns="50800" rIns="50800" tIns="12700" bIns="12700"/>
                    <a:lstStyle/>
                    <a:p>
                      <a:pPr algn="l"/>
                      <a:r>
                        <a:rPr sz="950" b="0">
                          <a:solidFill>
                            <a:srgbClr val="212121"/>
                          </a:solidFill>
                          <a:latin typeface="Calibri"/>
                        </a:rPr>
                        <a:t>PASSED</a:t>
                      </a:r>
                    </a:p>
                  </a:txBody>
                  <a:tcPr>
                    <a:solidFill>
                      <a:srgbClr val="EEF2F7"/>
                    </a:solidFill>
                  </a:tcPr>
                </a:tc>
              </a:tr>
              <a:tr h="274320">
                <a:tc>
                  <a:txBody>
                    <a:bodyPr wrap="square" lIns="50800" rIns="50800" tIns="12700" bIns="12700"/>
                    <a:lstStyle/>
                    <a:p>
                      <a:pPr algn="l"/>
                      <a:r>
                        <a:rPr sz="950" b="0">
                          <a:solidFill>
                            <a:srgbClr val="212121"/>
                          </a:solidFill>
                          <a:latin typeface="Calibri"/>
                        </a:rPr>
                        <a:t>EXP-010</a:t>
                      </a:r>
                    </a:p>
                  </a:txBody>
                  <a:tcPr>
                    <a:solidFill>
                      <a:srgbClr val="FFFFFF"/>
                    </a:solidFill>
                  </a:tcPr>
                </a:tc>
                <a:tc>
                  <a:txBody>
                    <a:bodyPr wrap="square" lIns="50800" rIns="50800" tIns="12700" bIns="12700"/>
                    <a:lstStyle/>
                    <a:p>
                      <a:pPr algn="l"/>
                      <a:r>
                        <a:rPr sz="950" b="0">
                          <a:solidFill>
                            <a:srgbClr val="212121"/>
                          </a:solidFill>
                          <a:latin typeface="Calibri"/>
                        </a:rPr>
                        <a:t>07-29</a:t>
                      </a:r>
                    </a:p>
                  </a:txBody>
                  <a:tcPr>
                    <a:solidFill>
                      <a:srgbClr val="FFFFFF"/>
                    </a:solidFill>
                  </a:tcPr>
                </a:tc>
                <a:tc>
                  <a:txBody>
                    <a:bodyPr wrap="square" lIns="50800" rIns="50800" tIns="12700" bIns="12700"/>
                    <a:lstStyle/>
                    <a:p>
                      <a:pPr algn="l"/>
                      <a:r>
                        <a:rPr sz="950" b="0">
                          <a:solidFill>
                            <a:srgbClr val="212121"/>
                          </a:solidFill>
                          <a:latin typeface="Calibri"/>
                        </a:rPr>
                        <a:t>pipe_buffer content control</a:t>
                      </a:r>
                    </a:p>
                  </a:txBody>
                  <a:tcPr>
                    <a:solidFill>
                      <a:srgbClr val="FFFFFF"/>
                    </a:solidFill>
                  </a:tcPr>
                </a:tc>
                <a:tc>
                  <a:txBody>
                    <a:bodyPr wrap="square" lIns="50800" rIns="50800" tIns="12700" bIns="12700"/>
                    <a:lstStyle/>
                    <a:p>
                      <a:pPr algn="l"/>
                      <a:r>
                        <a:rPr sz="950" b="0">
                          <a:solidFill>
                            <a:srgbClr val="212121"/>
                          </a:solidFill>
                          <a:latin typeface="Calibri"/>
                        </a:rPr>
                        <a:t>PASSED (dead end)</a:t>
                      </a:r>
                    </a:p>
                  </a:txBody>
                  <a:tcPr>
                    <a:solidFill>
                      <a:srgbClr val="FFFFFF"/>
                    </a:solidFill>
                  </a:tcPr>
                </a:tc>
              </a:tr>
              <a:tr h="274320">
                <a:tc>
                  <a:txBody>
                    <a:bodyPr wrap="square" lIns="50800" rIns="50800" tIns="12700" bIns="12700"/>
                    <a:lstStyle/>
                    <a:p>
                      <a:pPr algn="l"/>
                      <a:r>
                        <a:rPr sz="950" b="0">
                          <a:solidFill>
                            <a:srgbClr val="212121"/>
                          </a:solidFill>
                          <a:latin typeface="Calibri"/>
                        </a:rPr>
                        <a:t>EXP-014</a:t>
                      </a:r>
                    </a:p>
                  </a:txBody>
                  <a:tcPr>
                    <a:solidFill>
                      <a:srgbClr val="EEF2F7"/>
                    </a:solidFill>
                  </a:tcPr>
                </a:tc>
                <a:tc>
                  <a:txBody>
                    <a:bodyPr wrap="square" lIns="50800" rIns="50800" tIns="12700" bIns="12700"/>
                    <a:lstStyle/>
                    <a:p>
                      <a:pPr algn="l"/>
                      <a:r>
                        <a:rPr sz="950" b="0">
                          <a:solidFill>
                            <a:srgbClr val="212121"/>
                          </a:solidFill>
                          <a:latin typeface="Calibri"/>
                        </a:rPr>
                        <a:t>07-30</a:t>
                      </a:r>
                    </a:p>
                  </a:txBody>
                  <a:tcPr>
                    <a:solidFill>
                      <a:srgbClr val="EEF2F7"/>
                    </a:solidFill>
                  </a:tcPr>
                </a:tc>
                <a:tc>
                  <a:txBody>
                    <a:bodyPr wrap="square" lIns="50800" rIns="50800" tIns="12700" bIns="12700"/>
                    <a:lstStyle/>
                    <a:p>
                      <a:pPr algn="l"/>
                      <a:r>
                        <a:rPr sz="950" b="0">
                          <a:solidFill>
                            <a:srgbClr val="212121"/>
                          </a:solidFill>
                          <a:latin typeface="Calibri"/>
                        </a:rPr>
                        <a:t>eventpoll_release_file stale-epi path</a:t>
                      </a:r>
                    </a:p>
                  </a:txBody>
                  <a:tcPr>
                    <a:solidFill>
                      <a:srgbClr val="EEF2F7"/>
                    </a:solidFill>
                  </a:tcPr>
                </a:tc>
                <a:tc>
                  <a:txBody>
                    <a:bodyPr wrap="square" lIns="50800" rIns="50800" tIns="12700" bIns="12700"/>
                    <a:lstStyle/>
                    <a:p>
                      <a:pPr algn="l"/>
                      <a:r>
                        <a:rPr sz="950" b="0">
                          <a:solidFill>
                            <a:srgbClr val="212121"/>
                          </a:solidFill>
                          <a:latin typeface="Calibri"/>
                        </a:rPr>
                        <a:t>DISPROVED</a:t>
                      </a:r>
                    </a:p>
                  </a:txBody>
                  <a:tcPr>
                    <a:solidFill>
                      <a:srgbClr val="EEF2F7"/>
                    </a:solidFill>
                  </a:tcPr>
                </a:tc>
              </a:tr>
              <a:tr h="274320">
                <a:tc>
                  <a:txBody>
                    <a:bodyPr wrap="square" lIns="50800" rIns="50800" tIns="12700" bIns="12700"/>
                    <a:lstStyle/>
                    <a:p>
                      <a:pPr algn="l"/>
                      <a:r>
                        <a:rPr sz="950" b="0">
                          <a:solidFill>
                            <a:srgbClr val="212121"/>
                          </a:solidFill>
                          <a:latin typeface="Calibri"/>
                        </a:rPr>
                        <a:t>EXP-015</a:t>
                      </a:r>
                    </a:p>
                  </a:txBody>
                  <a:tcPr>
                    <a:solidFill>
                      <a:srgbClr val="FFFFFF"/>
                    </a:solidFill>
                  </a:tcPr>
                </a:tc>
                <a:tc>
                  <a:txBody>
                    <a:bodyPr wrap="square" lIns="50800" rIns="50800" tIns="12700" bIns="12700"/>
                    <a:lstStyle/>
                    <a:p>
                      <a:pPr algn="l"/>
                      <a:r>
                        <a:rPr sz="950" b="0">
                          <a:solidFill>
                            <a:srgbClr val="212121"/>
                          </a:solidFill>
                          <a:latin typeface="Calibri"/>
                        </a:rPr>
                        <a:t>07-31</a:t>
                      </a:r>
                    </a:p>
                  </a:txBody>
                  <a:tcPr>
                    <a:solidFill>
                      <a:srgbClr val="FFFFFF"/>
                    </a:solidFill>
                  </a:tcPr>
                </a:tc>
                <a:tc>
                  <a:txBody>
                    <a:bodyPr wrap="square" lIns="50800" rIns="50800" tIns="12700" bIns="12700"/>
                    <a:lstStyle/>
                    <a:p>
                      <a:pPr algn="l"/>
                      <a:r>
                        <a:rPr sz="950" b="0">
                          <a:solidFill>
                            <a:srgbClr val="212121"/>
                          </a:solidFill>
                          <a:latin typeface="Calibri"/>
                        </a:rPr>
                        <a:t>HW trace: lockless-path race (VER-026)</a:t>
                      </a:r>
                    </a:p>
                  </a:txBody>
                  <a:tcPr>
                    <a:solidFill>
                      <a:srgbClr val="FFFFFF"/>
                    </a:solidFill>
                  </a:tcPr>
                </a:tc>
                <a:tc>
                  <a:txBody>
                    <a:bodyPr wrap="square" lIns="50800" rIns="50800" tIns="12700" bIns="12700"/>
                    <a:lstStyle/>
                    <a:p>
                      <a:pPr algn="l"/>
                      <a:r>
                        <a:rPr sz="950" b="0">
                          <a:solidFill>
                            <a:srgbClr val="212121"/>
                          </a:solidFill>
                          <a:latin typeface="Calibri"/>
                        </a:rPr>
                        <a:t>VERIFIED</a:t>
                      </a:r>
                    </a:p>
                  </a:txBody>
                  <a:tcPr>
                    <a:solidFill>
                      <a:srgbClr val="FFFFFF"/>
                    </a:solidFill>
                  </a:tcPr>
                </a:tc>
              </a:tr>
              <a:tr h="274320">
                <a:tc>
                  <a:txBody>
                    <a:bodyPr wrap="square" lIns="50800" rIns="50800" tIns="12700" bIns="12700"/>
                    <a:lstStyle/>
                    <a:p>
                      <a:pPr algn="l"/>
                      <a:r>
                        <a:rPr sz="950" b="0">
                          <a:solidFill>
                            <a:srgbClr val="212121"/>
                          </a:solidFill>
                          <a:latin typeface="Calibri"/>
                        </a:rPr>
                        <a:t>EXP-016</a:t>
                      </a:r>
                    </a:p>
                  </a:txBody>
                  <a:tcPr>
                    <a:solidFill>
                      <a:srgbClr val="EEF2F7"/>
                    </a:solidFill>
                  </a:tcPr>
                </a:tc>
                <a:tc>
                  <a:txBody>
                    <a:bodyPr wrap="square" lIns="50800" rIns="50800" tIns="12700" bIns="12700"/>
                    <a:lstStyle/>
                    <a:p>
                      <a:pPr algn="l"/>
                      <a:r>
                        <a:rPr sz="950" b="0">
                          <a:solidFill>
                            <a:srgbClr val="212121"/>
                          </a:solidFill>
                          <a:latin typeface="Calibri"/>
                        </a:rPr>
                        <a:t>07-31</a:t>
                      </a:r>
                    </a:p>
                  </a:txBody>
                  <a:tcPr>
                    <a:solidFill>
                      <a:srgbClr val="EEF2F7"/>
                    </a:solidFill>
                  </a:tcPr>
                </a:tc>
                <a:tc>
                  <a:txBody>
                    <a:bodyPr wrap="square" lIns="50800" rIns="50800" tIns="12700" bIns="12700"/>
                    <a:lstStyle/>
                    <a:p>
                      <a:pPr algn="l"/>
                      <a:r>
                        <a:rPr sz="950" b="0">
                          <a:solidFill>
                            <a:srgbClr val="212121"/>
                          </a:solidFill>
                          <a:latin typeface="Calibri"/>
                        </a:rPr>
                        <a:t>kmalloc-192 offset-160 target audit</a:t>
                      </a:r>
                    </a:p>
                  </a:txBody>
                  <a:tcPr>
                    <a:solidFill>
                      <a:srgbClr val="EEF2F7"/>
                    </a:solidFill>
                  </a:tcPr>
                </a:tc>
                <a:tc>
                  <a:txBody>
                    <a:bodyPr wrap="square" lIns="50800" rIns="50800" tIns="12700" bIns="12700"/>
                    <a:lstStyle/>
                    <a:p>
                      <a:pPr algn="l"/>
                      <a:r>
                        <a:rPr sz="950" b="0">
                          <a:solidFill>
                            <a:srgbClr val="212121"/>
                          </a:solidFill>
                          <a:latin typeface="Calibri"/>
                        </a:rPr>
                        <a:t>CLEAN NEGATIVE</a:t>
                      </a:r>
                    </a:p>
                  </a:txBody>
                  <a:tcPr>
                    <a:solidFill>
                      <a:srgbClr val="EEF2F7"/>
                    </a:solidFill>
                  </a:tcPr>
                </a:tc>
              </a:tr>
              <a:tr h="274320">
                <a:tc>
                  <a:txBody>
                    <a:bodyPr wrap="square" lIns="50800" rIns="50800" tIns="12700" bIns="12700"/>
                    <a:lstStyle/>
                    <a:p>
                      <a:pPr algn="l"/>
                      <a:r>
                        <a:rPr sz="950" b="0">
                          <a:solidFill>
                            <a:srgbClr val="212121"/>
                          </a:solidFill>
                          <a:latin typeface="Calibri"/>
                        </a:rPr>
                        <a:t>EXP-018</a:t>
                      </a:r>
                    </a:p>
                  </a:txBody>
                  <a:tcPr>
                    <a:solidFill>
                      <a:srgbClr val="FFFFFF"/>
                    </a:solidFill>
                  </a:tcPr>
                </a:tc>
                <a:tc>
                  <a:txBody>
                    <a:bodyPr wrap="square" lIns="50800" rIns="50800" tIns="12700" bIns="12700"/>
                    <a:lstStyle/>
                    <a:p>
                      <a:pPr algn="l"/>
                      <a:r>
                        <a:rPr sz="950" b="0">
                          <a:solidFill>
                            <a:srgbClr val="212121"/>
                          </a:solidFill>
                          <a:latin typeface="Calibri"/>
                        </a:rPr>
                        <a:t>08-01</a:t>
                      </a:r>
                    </a:p>
                  </a:txBody>
                  <a:tcPr>
                    <a:solidFill>
                      <a:srgbClr val="FFFFFF"/>
                    </a:solidFill>
                  </a:tcPr>
                </a:tc>
                <a:tc>
                  <a:txBody>
                    <a:bodyPr wrap="square" lIns="50800" rIns="50800" tIns="12700" bIns="12700"/>
                    <a:lstStyle/>
                    <a:p>
                      <a:pPr algn="l"/>
                      <a:r>
                        <a:rPr sz="950" b="0">
                          <a:solidFill>
                            <a:srgbClr val="212121"/>
                          </a:solidFill>
                          <a:latin typeface="Calibri"/>
                        </a:rPr>
                        <a:t>msg_msg reclaim (VER-027)</a:t>
                      </a:r>
                    </a:p>
                  </a:txBody>
                  <a:tcPr>
                    <a:solidFill>
                      <a:srgbClr val="FFFFFF"/>
                    </a:solidFill>
                  </a:tcPr>
                </a:tc>
                <a:tc>
                  <a:txBody>
                    <a:bodyPr wrap="square" lIns="50800" rIns="50800" tIns="12700" bIns="12700"/>
                    <a:lstStyle/>
                    <a:p>
                      <a:pPr algn="l"/>
                      <a:r>
                        <a:rPr sz="950" b="0">
                          <a:solidFill>
                            <a:srgbClr val="212121"/>
                          </a:solidFill>
                          <a:latin typeface="Calibri"/>
                        </a:rPr>
                        <a:t>PASSED</a:t>
                      </a:r>
                    </a:p>
                  </a:txBody>
                  <a:tcPr>
                    <a:solidFill>
                      <a:srgbClr val="FFFFFF"/>
                    </a:solidFill>
                  </a:tcPr>
                </a:tc>
              </a:tr>
              <a:tr h="274320">
                <a:tc>
                  <a:txBody>
                    <a:bodyPr wrap="square" lIns="50800" rIns="50800" tIns="12700" bIns="12700"/>
                    <a:lstStyle/>
                    <a:p>
                      <a:pPr algn="l"/>
                      <a:r>
                        <a:rPr sz="950" b="0">
                          <a:solidFill>
                            <a:srgbClr val="212121"/>
                          </a:solidFill>
                          <a:latin typeface="Calibri"/>
                        </a:rPr>
                        <a:t>EXP-019</a:t>
                      </a:r>
                    </a:p>
                  </a:txBody>
                  <a:tcPr>
                    <a:solidFill>
                      <a:srgbClr val="EEF2F7"/>
                    </a:solidFill>
                  </a:tcPr>
                </a:tc>
                <a:tc>
                  <a:txBody>
                    <a:bodyPr wrap="square" lIns="50800" rIns="50800" tIns="12700" bIns="12700"/>
                    <a:lstStyle/>
                    <a:p>
                      <a:pPr algn="l"/>
                      <a:r>
                        <a:rPr sz="950" b="0">
                          <a:solidFill>
                            <a:srgbClr val="212121"/>
                          </a:solidFill>
                          <a:latin typeface="Calibri"/>
                        </a:rPr>
                        <a:t>08-01</a:t>
                      </a:r>
                    </a:p>
                  </a:txBody>
                  <a:tcPr>
                    <a:solidFill>
                      <a:srgbClr val="EEF2F7"/>
                    </a:solidFill>
                  </a:tcPr>
                </a:tc>
                <a:tc>
                  <a:txBody>
                    <a:bodyPr wrap="square" lIns="50800" rIns="50800" tIns="12700" bIns="12700"/>
                    <a:lstStyle/>
                    <a:p>
                      <a:pPr algn="l"/>
                      <a:r>
                        <a:rPr sz="950" b="0">
                          <a:solidFill>
                            <a:srgbClr val="212121"/>
                          </a:solidFill>
                          <a:latin typeface="Calibri"/>
                        </a:rPr>
                        <a:t>Chain 0 controlled crash</a:t>
                      </a:r>
                    </a:p>
                  </a:txBody>
                  <a:tcPr>
                    <a:solidFill>
                      <a:srgbClr val="EEF2F7"/>
                    </a:solidFill>
                  </a:tcPr>
                </a:tc>
                <a:tc>
                  <a:txBody>
                    <a:bodyPr wrap="square" lIns="50800" rIns="50800" tIns="12700" bIns="12700"/>
                    <a:lstStyle/>
                    <a:p>
                      <a:pPr algn="l"/>
                      <a:r>
                        <a:rPr sz="950" b="0">
                          <a:solidFill>
                            <a:srgbClr val="212121"/>
                          </a:solidFill>
                          <a:latin typeface="Calibri"/>
                        </a:rPr>
                        <a:t>FAILED (VER-028)</a:t>
                      </a:r>
                    </a:p>
                  </a:txBody>
                  <a:tcPr>
                    <a:solidFill>
                      <a:srgbClr val="EEF2F7"/>
                    </a:solidFill>
                  </a:tcPr>
                </a:tc>
              </a:tr>
              <a:tr h="274320">
                <a:tc>
                  <a:txBody>
                    <a:bodyPr wrap="square" lIns="50800" rIns="50800" tIns="12700" bIns="12700"/>
                    <a:lstStyle/>
                    <a:p>
                      <a:pPr algn="l"/>
                      <a:r>
                        <a:rPr sz="950" b="0">
                          <a:solidFill>
                            <a:srgbClr val="212121"/>
                          </a:solidFill>
                          <a:latin typeface="Calibri"/>
                        </a:rPr>
                        <a:t>EXP-022b</a:t>
                      </a:r>
                    </a:p>
                  </a:txBody>
                  <a:tcPr>
                    <a:solidFill>
                      <a:srgbClr val="FFFFFF"/>
                    </a:solidFill>
                  </a:tcPr>
                </a:tc>
                <a:tc>
                  <a:txBody>
                    <a:bodyPr wrap="square" lIns="50800" rIns="50800" tIns="12700" bIns="12700"/>
                    <a:lstStyle/>
                    <a:p>
                      <a:pPr algn="l"/>
                      <a:r>
                        <a:rPr sz="950" b="0">
                          <a:solidFill>
                            <a:srgbClr val="212121"/>
                          </a:solidFill>
                          <a:latin typeface="Calibri"/>
                        </a:rPr>
                        <a:t>08-01</a:t>
                      </a:r>
                    </a:p>
                  </a:txBody>
                  <a:tcPr>
                    <a:solidFill>
                      <a:srgbClr val="FFFFFF"/>
                    </a:solidFill>
                  </a:tcPr>
                </a:tc>
                <a:tc>
                  <a:txBody>
                    <a:bodyPr wrap="square" lIns="50800" rIns="50800" tIns="12700" bIns="12700"/>
                    <a:lstStyle/>
                    <a:p>
                      <a:pPr algn="l"/>
                      <a:r>
                        <a:rPr sz="950" b="0">
                          <a:solidFill>
                            <a:srgbClr val="212121"/>
                          </a:solidFill>
                          <a:latin typeface="Calibri"/>
                        </a:rPr>
                        <a:t>Chain 1 dual-watch leak</a:t>
                      </a:r>
                    </a:p>
                  </a:txBody>
                  <a:tcPr>
                    <a:solidFill>
                      <a:srgbClr val="FFFFFF"/>
                    </a:solidFill>
                  </a:tcPr>
                </a:tc>
                <a:tc>
                  <a:txBody>
                    <a:bodyPr wrap="square" lIns="50800" rIns="50800" tIns="12700" bIns="12700"/>
                    <a:lstStyle/>
                    <a:p>
                      <a:pPr algn="l"/>
                      <a:r>
                        <a:rPr sz="950" b="0">
                          <a:solidFill>
                            <a:srgbClr val="212121"/>
                          </a:solidFill>
                          <a:latin typeface="Calibri"/>
                        </a:rPr>
                        <a:t>RETRACTED (VER-033)</a:t>
                      </a:r>
                    </a:p>
                  </a:txBody>
                  <a:tcPr>
                    <a:solidFill>
                      <a:srgbClr val="FFFFFF"/>
                    </a:solidFill>
                  </a:tcPr>
                </a:tc>
              </a:tr>
              <a:tr h="274320">
                <a:tc>
                  <a:txBody>
                    <a:bodyPr wrap="square" lIns="50800" rIns="50800" tIns="12700" bIns="12700"/>
                    <a:lstStyle/>
                    <a:p>
                      <a:pPr algn="l"/>
                      <a:r>
                        <a:rPr sz="950" b="0">
                          <a:solidFill>
                            <a:srgbClr val="212121"/>
                          </a:solidFill>
                          <a:latin typeface="Calibri"/>
                        </a:rPr>
                        <a:t>EXP-023b</a:t>
                      </a:r>
                    </a:p>
                  </a:txBody>
                  <a:tcPr>
                    <a:solidFill>
                      <a:srgbClr val="EEF2F7"/>
                    </a:solidFill>
                  </a:tcPr>
                </a:tc>
                <a:tc>
                  <a:txBody>
                    <a:bodyPr wrap="square" lIns="50800" rIns="50800" tIns="12700" bIns="12700"/>
                    <a:lstStyle/>
                    <a:p>
                      <a:pPr algn="l"/>
                      <a:r>
                        <a:rPr sz="950" b="0">
                          <a:solidFill>
                            <a:srgbClr val="212121"/>
                          </a:solidFill>
                          <a:latin typeface="Calibri"/>
                        </a:rPr>
                        <a:t>08-01</a:t>
                      </a:r>
                    </a:p>
                  </a:txBody>
                  <a:tcPr>
                    <a:solidFill>
                      <a:srgbClr val="EEF2F7"/>
                    </a:solidFill>
                  </a:tcPr>
                </a:tc>
                <a:tc>
                  <a:txBody>
                    <a:bodyPr wrap="square" lIns="50800" rIns="50800" tIns="12700" bIns="12700"/>
                    <a:lstStyle/>
                    <a:p>
                      <a:pPr algn="l"/>
                      <a:r>
                        <a:rPr sz="950" b="0">
                          <a:solidFill>
                            <a:srgbClr val="212121"/>
                          </a:solidFill>
                          <a:latin typeface="Calibri"/>
                        </a:rPr>
                        <a:t>Chain 2 arbitrary decrement</a:t>
                      </a:r>
                    </a:p>
                  </a:txBody>
                  <a:tcPr>
                    <a:solidFill>
                      <a:srgbClr val="EEF2F7"/>
                    </a:solidFill>
                  </a:tcPr>
                </a:tc>
                <a:tc>
                  <a:txBody>
                    <a:bodyPr wrap="square" lIns="50800" rIns="50800" tIns="12700" bIns="12700"/>
                    <a:lstStyle/>
                    <a:p>
                      <a:pPr algn="l"/>
                      <a:r>
                        <a:rPr sz="950" b="0">
                          <a:solidFill>
                            <a:srgbClr val="212121"/>
                          </a:solidFill>
                          <a:latin typeface="Calibri"/>
                        </a:rPr>
                        <a:t>NEGATIVE (VER-031)</a:t>
                      </a:r>
                    </a:p>
                  </a:txBody>
                  <a:tcPr>
                    <a:solidFill>
                      <a:srgbClr val="EEF2F7"/>
                    </a:solidFill>
                  </a:tcPr>
                </a:tc>
              </a:tr>
              <a:tr h="274320">
                <a:tc>
                  <a:txBody>
                    <a:bodyPr wrap="square" lIns="50800" rIns="50800" tIns="12700" bIns="12700"/>
                    <a:lstStyle/>
                    <a:p>
                      <a:pPr algn="l"/>
                      <a:r>
                        <a:rPr sz="950" b="0">
                          <a:solidFill>
                            <a:srgbClr val="212121"/>
                          </a:solidFill>
                          <a:latin typeface="Calibri"/>
                        </a:rPr>
                        <a:t>EXP-024</a:t>
                      </a:r>
                    </a:p>
                  </a:txBody>
                  <a:tcPr>
                    <a:solidFill>
                      <a:srgbClr val="FFFFFF"/>
                    </a:solidFill>
                  </a:tcPr>
                </a:tc>
                <a:tc>
                  <a:txBody>
                    <a:bodyPr wrap="square" lIns="50800" rIns="50800" tIns="12700" bIns="12700"/>
                    <a:lstStyle/>
                    <a:p>
                      <a:pPr algn="l"/>
                      <a:r>
                        <a:rPr sz="950" b="0">
                          <a:solidFill>
                            <a:srgbClr val="212121"/>
                          </a:solidFill>
                          <a:latin typeface="Calibri"/>
                        </a:rPr>
                        <a:t>08-02</a:t>
                      </a:r>
                    </a:p>
                  </a:txBody>
                  <a:tcPr>
                    <a:solidFill>
                      <a:srgbClr val="FFFFFF"/>
                    </a:solidFill>
                  </a:tcPr>
                </a:tc>
                <a:tc>
                  <a:txBody>
                    <a:bodyPr wrap="square" lIns="50800" rIns="50800" tIns="12700" bIns="12700"/>
                    <a:lstStyle/>
                    <a:p>
                      <a:pPr algn="l"/>
                      <a:r>
                        <a:rPr sz="950" b="0">
                          <a:solidFill>
                            <a:srgbClr val="212121"/>
                          </a:solidFill>
                          <a:latin typeface="Calibri"/>
                        </a:rPr>
                        <a:t>dual-watch re-test</a:t>
                      </a:r>
                    </a:p>
                  </a:txBody>
                  <a:tcPr>
                    <a:solidFill>
                      <a:srgbClr val="FFFFFF"/>
                    </a:solidFill>
                  </a:tcPr>
                </a:tc>
                <a:tc>
                  <a:txBody>
                    <a:bodyPr wrap="square" lIns="50800" rIns="50800" tIns="12700" bIns="12700"/>
                    <a:lstStyle/>
                    <a:p>
                      <a:pPr algn="l"/>
                      <a:r>
                        <a:rPr sz="950" b="0">
                          <a:solidFill>
                            <a:srgbClr val="212121"/>
                          </a:solidFill>
                          <a:latin typeface="Calibri"/>
                        </a:rPr>
                        <a:t>PASSED negative (VER-033)</a:t>
                      </a:r>
                    </a:p>
                  </a:txBody>
                  <a:tcPr>
                    <a:solidFill>
                      <a:srgbClr val="FFFFFF"/>
                    </a:solidFill>
                  </a:tcPr>
                </a:tc>
              </a:tr>
              <a:tr h="274320">
                <a:tc>
                  <a:txBody>
                    <a:bodyPr wrap="square" lIns="50800" rIns="50800" tIns="12700" bIns="12700"/>
                    <a:lstStyle/>
                    <a:p>
                      <a:pPr algn="l"/>
                      <a:r>
                        <a:rPr sz="950" b="0">
                          <a:solidFill>
                            <a:srgbClr val="212121"/>
                          </a:solidFill>
                          <a:latin typeface="Calibri"/>
                        </a:rPr>
                        <a:t>NAT-001</a:t>
                      </a:r>
                    </a:p>
                  </a:txBody>
                  <a:tcPr>
                    <a:solidFill>
                      <a:srgbClr val="EEF2F7"/>
                    </a:solidFill>
                  </a:tcPr>
                </a:tc>
                <a:tc>
                  <a:txBody>
                    <a:bodyPr wrap="square" lIns="50800" rIns="50800" tIns="12700" bIns="12700"/>
                    <a:lstStyle/>
                    <a:p>
                      <a:pPr algn="l"/>
                      <a:r>
                        <a:rPr sz="950" b="0">
                          <a:solidFill>
                            <a:srgbClr val="212121"/>
                          </a:solidFill>
                          <a:latin typeface="Calibri"/>
                        </a:rPr>
                        <a:t>08-02</a:t>
                      </a:r>
                    </a:p>
                  </a:txBody>
                  <a:tcPr>
                    <a:solidFill>
                      <a:srgbClr val="EEF2F7"/>
                    </a:solidFill>
                  </a:tcPr>
                </a:tc>
                <a:tc>
                  <a:txBody>
                    <a:bodyPr wrap="square" lIns="50800" rIns="50800" tIns="12700" bIns="12700"/>
                    <a:lstStyle/>
                    <a:p>
                      <a:pPr algn="l"/>
                      <a:r>
                        <a:rPr sz="950" b="0">
                          <a:solidFill>
                            <a:srgbClr val="212121"/>
                          </a:solidFill>
                          <a:latin typeface="Calibri"/>
                        </a:rPr>
                        <a:t>10,000-iter natural race</a:t>
                      </a:r>
                    </a:p>
                  </a:txBody>
                  <a:tcPr>
                    <a:solidFill>
                      <a:srgbClr val="EEF2F7"/>
                    </a:solidFill>
                  </a:tcPr>
                </a:tc>
                <a:tc>
                  <a:txBody>
                    <a:bodyPr wrap="square" lIns="50800" rIns="50800" tIns="12700" bIns="12700"/>
                    <a:lstStyle/>
                    <a:p>
                      <a:pPr algn="l"/>
                      <a:r>
                        <a:rPr sz="950" b="0">
                          <a:solidFill>
                            <a:srgbClr val="212121"/>
                          </a:solidFill>
                          <a:latin typeface="Calibri"/>
                        </a:rPr>
                        <a:t>FAILED 0/10,000</a:t>
                      </a:r>
                    </a:p>
                  </a:txBody>
                  <a:tcPr>
                    <a:solidFill>
                      <a:srgbClr val="EEF2F7"/>
                    </a:solidFill>
                  </a:tcPr>
                </a:tc>
              </a:tr>
              <a:tr h="274320">
                <a:tc>
                  <a:txBody>
                    <a:bodyPr wrap="square" lIns="50800" rIns="50800" tIns="12700" bIns="12700"/>
                    <a:lstStyle/>
                    <a:p>
                      <a:pPr algn="l"/>
                      <a:r>
                        <a:rPr sz="950" b="0">
                          <a:solidFill>
                            <a:srgbClr val="212121"/>
                          </a:solidFill>
                          <a:latin typeface="Calibri"/>
                        </a:rPr>
                        <a:t>NAT-002</a:t>
                      </a:r>
                    </a:p>
                  </a:txBody>
                  <a:tcPr>
                    <a:solidFill>
                      <a:srgbClr val="FFFFFF"/>
                    </a:solidFill>
                  </a:tcPr>
                </a:tc>
                <a:tc>
                  <a:txBody>
                    <a:bodyPr wrap="square" lIns="50800" rIns="50800" tIns="12700" bIns="12700"/>
                    <a:lstStyle/>
                    <a:p>
                      <a:pPr algn="l"/>
                      <a:r>
                        <a:rPr sz="950" b="0">
                          <a:solidFill>
                            <a:srgbClr val="212121"/>
                          </a:solidFill>
                          <a:latin typeface="Calibri"/>
                        </a:rPr>
                        <a:t>08-02</a:t>
                      </a:r>
                    </a:p>
                  </a:txBody>
                  <a:tcPr>
                    <a:solidFill>
                      <a:srgbClr val="FFFFFF"/>
                    </a:solidFill>
                  </a:tcPr>
                </a:tc>
                <a:tc>
                  <a:txBody>
                    <a:bodyPr wrap="square" lIns="50800" rIns="50800" tIns="12700" bIns="12700"/>
                    <a:lstStyle/>
                    <a:p>
                      <a:pPr algn="l"/>
                      <a:r>
                        <a:rPr sz="950" b="0">
                          <a:solidFill>
                            <a:srgbClr val="212121"/>
                          </a:solidFill>
                          <a:latin typeface="Calibri"/>
                        </a:rPr>
                        <a:t>preemption-point audit</a:t>
                      </a:r>
                    </a:p>
                  </a:txBody>
                  <a:tcPr>
                    <a:solidFill>
                      <a:srgbClr val="FFFFFF"/>
                    </a:solidFill>
                  </a:tcPr>
                </a:tc>
                <a:tc>
                  <a:txBody>
                    <a:bodyPr wrap="square" lIns="50800" rIns="50800" tIns="12700" bIns="12700"/>
                    <a:lstStyle/>
                    <a:p>
                      <a:pPr algn="l"/>
                      <a:r>
                        <a:rPr sz="950" b="0">
                          <a:solidFill>
                            <a:srgbClr val="212121"/>
                          </a:solidFill>
                          <a:latin typeface="Calibri"/>
                        </a:rPr>
                        <a:t>CORRECTED</a:t>
                      </a:r>
                    </a:p>
                  </a:txBody>
                  <a:tcPr>
                    <a:solidFill>
                      <a:srgbClr val="FFFFFF"/>
                    </a:solidFill>
                  </a:tcPr>
                </a:tc>
              </a:tr>
              <a:tr h="274320">
                <a:tc>
                  <a:txBody>
                    <a:bodyPr wrap="square" lIns="50800" rIns="50800" tIns="12700" bIns="12700"/>
                    <a:lstStyle/>
                    <a:p>
                      <a:pPr algn="l"/>
                      <a:r>
                        <a:rPr sz="950" b="0">
                          <a:solidFill>
                            <a:srgbClr val="212121"/>
                          </a:solidFill>
                          <a:latin typeface="Calibri"/>
                        </a:rPr>
                        <a:t>NAT-005</a:t>
                      </a:r>
                    </a:p>
                  </a:txBody>
                  <a:tcPr>
                    <a:solidFill>
                      <a:srgbClr val="EEF2F7"/>
                    </a:solidFill>
                  </a:tcPr>
                </a:tc>
                <a:tc>
                  <a:txBody>
                    <a:bodyPr wrap="square" lIns="50800" rIns="50800" tIns="12700" bIns="12700"/>
                    <a:lstStyle/>
                    <a:p>
                      <a:pPr algn="l"/>
                      <a:r>
                        <a:rPr sz="950" b="0">
                          <a:solidFill>
                            <a:srgbClr val="212121"/>
                          </a:solidFill>
                          <a:latin typeface="Calibri"/>
                        </a:rPr>
                        <a:t>08-05</a:t>
                      </a:r>
                    </a:p>
                  </a:txBody>
                  <a:tcPr>
                    <a:solidFill>
                      <a:srgbClr val="EEF2F7"/>
                    </a:solidFill>
                  </a:tcPr>
                </a:tc>
                <a:tc>
                  <a:txBody>
                    <a:bodyPr wrap="square" lIns="50800" rIns="50800" tIns="12700" bIns="12700"/>
                    <a:lstStyle/>
                    <a:p>
                      <a:pPr algn="l"/>
                      <a:r>
                        <a:rPr sz="950" b="0">
                          <a:solidFill>
                            <a:srgbClr val="212121"/>
                          </a:solidFill>
                          <a:latin typeface="Calibri"/>
                        </a:rPr>
                        <a:t>92,740-iter closed-loop search</a:t>
                      </a:r>
                    </a:p>
                  </a:txBody>
                  <a:tcPr>
                    <a:solidFill>
                      <a:srgbClr val="EEF2F7"/>
                    </a:solidFill>
                  </a:tcPr>
                </a:tc>
                <a:tc>
                  <a:txBody>
                    <a:bodyPr wrap="square" lIns="50800" rIns="50800" tIns="12700" bIns="12700"/>
                    <a:lstStyle/>
                    <a:p>
                      <a:pPr algn="l"/>
                      <a:r>
                        <a:rPr sz="950" b="0">
                          <a:solidFill>
                            <a:srgbClr val="212121"/>
                          </a:solidFill>
                          <a:latin typeface="Calibri"/>
                        </a:rPr>
                        <a:t>PASSED negative (VER-039)</a:t>
                      </a:r>
                    </a:p>
                  </a:txBody>
                  <a:tcPr>
                    <a:solidFill>
                      <a:srgbClr val="EEF2F7"/>
                    </a:solidFill>
                  </a:tcPr>
                </a:tc>
              </a:tr>
              <a:tr h="274320">
                <a:tc>
                  <a:txBody>
                    <a:bodyPr wrap="square" lIns="50800" rIns="50800" tIns="12700" bIns="12700"/>
                    <a:lstStyle/>
                    <a:p>
                      <a:pPr algn="l"/>
                      <a:r>
                        <a:rPr sz="950" b="0">
                          <a:solidFill>
                            <a:srgbClr val="212121"/>
                          </a:solidFill>
                          <a:latin typeface="Calibri"/>
                        </a:rPr>
                        <a:t>AND-001</a:t>
                      </a:r>
                    </a:p>
                  </a:txBody>
                  <a:tcPr>
                    <a:solidFill>
                      <a:srgbClr val="FFFFFF"/>
                    </a:solidFill>
                  </a:tcPr>
                </a:tc>
                <a:tc>
                  <a:txBody>
                    <a:bodyPr wrap="square" lIns="50800" rIns="50800" tIns="12700" bIns="12700"/>
                    <a:lstStyle/>
                    <a:p>
                      <a:pPr algn="l"/>
                      <a:r>
                        <a:rPr sz="950" b="0">
                          <a:solidFill>
                            <a:srgbClr val="212121"/>
                          </a:solidFill>
                          <a:latin typeface="Calibri"/>
                        </a:rPr>
                        <a:t>08-05</a:t>
                      </a:r>
                    </a:p>
                  </a:txBody>
                  <a:tcPr>
                    <a:solidFill>
                      <a:srgbClr val="FFFFFF"/>
                    </a:solidFill>
                  </a:tcPr>
                </a:tc>
                <a:tc>
                  <a:txBody>
                    <a:bodyPr wrap="square" lIns="50800" rIns="50800" tIns="12700" bIns="12700"/>
                    <a:lstStyle/>
                    <a:p>
                      <a:pPr algn="l"/>
                      <a:r>
                        <a:rPr sz="950" b="0">
                          <a:solidFill>
                            <a:srgbClr val="212121"/>
                          </a:solidFill>
                          <a:latin typeface="Calibri"/>
                        </a:rPr>
                        <a:t>SysV IPC on target kernel</a:t>
                      </a:r>
                    </a:p>
                  </a:txBody>
                  <a:tcPr>
                    <a:solidFill>
                      <a:srgbClr val="FFFFFF"/>
                    </a:solidFill>
                  </a:tcPr>
                </a:tc>
                <a:tc>
                  <a:txBody>
                    <a:bodyPr wrap="square" lIns="50800" rIns="50800" tIns="12700" bIns="12700"/>
                    <a:lstStyle/>
                    <a:p>
                      <a:pPr algn="l"/>
                      <a:r>
                        <a:rPr sz="950" b="0">
                          <a:solidFill>
                            <a:srgbClr val="212121"/>
                          </a:solidFill>
                          <a:latin typeface="Calibri"/>
                        </a:rPr>
                        <a:t>PASSED (VER-038)</a:t>
                      </a:r>
                    </a:p>
                  </a:txBody>
                  <a:tcPr>
                    <a:solidFill>
                      <a:srgbClr val="FFFFFF"/>
                    </a:solidFill>
                  </a:tcPr>
                </a:tc>
              </a:tr>
            </a:tbl>
          </a:graphicData>
        </a:graphic>
      </p:graphicFrame>
      <p:sp>
        <p:nvSpPr>
          <p:cNvPr id="8" name="TextBox 7"/>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APPENDIX</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Verification Ledger Highlights (VER-014 .. VER-039)</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graphicFrame>
        <p:nvGraphicFramePr>
          <p:cNvPr id="7" name="Table 6"/>
          <p:cNvGraphicFramePr>
            <a:graphicFrameLocks noGrp="1"/>
          </p:cNvGraphicFramePr>
          <p:nvPr/>
        </p:nvGraphicFramePr>
        <p:xfrm>
          <a:off x="502920" y="1417320"/>
          <a:ext cx="11201400" cy="4663440"/>
        </p:xfrm>
        <a:graphic>
          <a:graphicData uri="http://schemas.openxmlformats.org/drawingml/2006/table">
            <a:tbl>
              <a:tblPr>
                <a:tableStyleId>{5C22544A-7EE6-4342-B048-85BDC9FD1C3A}</a:tableStyleId>
              </a:tblPr>
              <a:tblGrid>
                <a:gridCol w="1005840"/>
                <a:gridCol w="8869680"/>
                <a:gridCol w="1325880"/>
              </a:tblGrid>
              <a:tr h="274320">
                <a:tc>
                  <a:txBody>
                    <a:bodyPr lIns="50800" rIns="50800" tIns="12700" bIns="12700"/>
                    <a:lstStyle/>
                    <a:p>
                      <a:pPr algn="l"/>
                      <a:r>
                        <a:rPr sz="950" b="1">
                          <a:solidFill>
                            <a:srgbClr val="FFFFFF"/>
                          </a:solidFill>
                          <a:latin typeface="Calibri"/>
                        </a:rPr>
                        <a:t>VER</a:t>
                      </a:r>
                    </a:p>
                  </a:txBody>
                  <a:tcPr>
                    <a:solidFill>
                      <a:srgbClr val="0F2440"/>
                    </a:solidFill>
                  </a:tcPr>
                </a:tc>
                <a:tc>
                  <a:txBody>
                    <a:bodyPr lIns="50800" rIns="50800" tIns="12700" bIns="12700"/>
                    <a:lstStyle/>
                    <a:p>
                      <a:pPr algn="l"/>
                      <a:r>
                        <a:rPr sz="950" b="1">
                          <a:solidFill>
                            <a:srgbClr val="FFFFFF"/>
                          </a:solidFill>
                          <a:latin typeface="Calibri"/>
                        </a:rPr>
                        <a:t>Claim</a:t>
                      </a:r>
                    </a:p>
                  </a:txBody>
                  <a:tcPr>
                    <a:solidFill>
                      <a:srgbClr val="0F2440"/>
                    </a:solidFill>
                  </a:tcPr>
                </a:tc>
                <a:tc>
                  <a:txBody>
                    <a:bodyPr lIns="50800" rIns="50800" tIns="12700" bIns="12700"/>
                    <a:lstStyle/>
                    <a:p>
                      <a:pPr algn="l"/>
                      <a:r>
                        <a:rPr sz="950" b="1">
                          <a:solidFill>
                            <a:srgbClr val="FFFFFF"/>
                          </a:solidFill>
                          <a:latin typeface="Calibri"/>
                        </a:rPr>
                        <a:t>Method</a:t>
                      </a:r>
                    </a:p>
                  </a:txBody>
                  <a:tcPr>
                    <a:solidFill>
                      <a:srgbClr val="0F2440"/>
                    </a:solidFill>
                  </a:tcPr>
                </a:tc>
              </a:tr>
              <a:tr h="274320">
                <a:tc>
                  <a:txBody>
                    <a:bodyPr wrap="square" lIns="50800" rIns="50800" tIns="12700" bIns="12700"/>
                    <a:lstStyle/>
                    <a:p>
                      <a:pPr algn="l"/>
                      <a:r>
                        <a:rPr sz="950" b="0">
                          <a:solidFill>
                            <a:srgbClr val="212121"/>
                          </a:solidFill>
                          <a:latin typeface="Calibri"/>
                        </a:rPr>
                        <a:t>VER-014</a:t>
                      </a:r>
                    </a:p>
                  </a:txBody>
                  <a:tcPr>
                    <a:solidFill>
                      <a:srgbClr val="FFFFFF"/>
                    </a:solidFill>
                  </a:tcPr>
                </a:tc>
                <a:tc>
                  <a:txBody>
                    <a:bodyPr wrap="square" lIns="50800" rIns="50800" tIns="12700" bIns="12700"/>
                    <a:lstStyle/>
                    <a:p>
                      <a:pPr algn="l"/>
                      <a:r>
                        <a:rPr sz="950" b="0">
                          <a:solidFill>
                            <a:srgbClr val="212121"/>
                          </a:solidFill>
                          <a:latin typeface="Calibri"/>
                        </a:rPr>
                        <a:t>eventpoll_epi is isolated dedicated cache (SLAB_ACCOUNT) — no merge into kmalloc-128</a:t>
                      </a:r>
                    </a:p>
                  </a:txBody>
                  <a:tcPr>
                    <a:solidFill>
                      <a:srgbClr val="FFFFFF"/>
                    </a:solidFill>
                  </a:tcPr>
                </a:tc>
                <a:tc>
                  <a:txBody>
                    <a:bodyPr wrap="square" lIns="50800" rIns="50800" tIns="12700" bIns="12700"/>
                    <a:lstStyle/>
                    <a:p>
                      <a:pPr algn="l"/>
                      <a:r>
                        <a:rPr sz="950" b="0">
                          <a:solidFill>
                            <a:srgbClr val="212121"/>
                          </a:solidFill>
                          <a:latin typeface="Calibri"/>
                        </a:rPr>
                        <a:t>STATIC</a:t>
                      </a:r>
                    </a:p>
                  </a:txBody>
                  <a:tcPr>
                    <a:solidFill>
                      <a:srgbClr val="FFFFFF"/>
                    </a:solidFill>
                  </a:tcPr>
                </a:tc>
              </a:tr>
              <a:tr h="274320">
                <a:tc>
                  <a:txBody>
                    <a:bodyPr wrap="square" lIns="50800" rIns="50800" tIns="12700" bIns="12700"/>
                    <a:lstStyle/>
                    <a:p>
                      <a:pPr algn="l"/>
                      <a:r>
                        <a:rPr sz="950" b="0">
                          <a:solidFill>
                            <a:srgbClr val="212121"/>
                          </a:solidFill>
                          <a:latin typeface="Calibri"/>
                        </a:rPr>
                        <a:t>VER-015</a:t>
                      </a:r>
                    </a:p>
                  </a:txBody>
                  <a:tcPr>
                    <a:solidFill>
                      <a:srgbClr val="EEF2F7"/>
                    </a:solidFill>
                  </a:tcPr>
                </a:tc>
                <a:tc>
                  <a:txBody>
                    <a:bodyPr wrap="square" lIns="50800" rIns="50800" tIns="12700" bIns="12700"/>
                    <a:lstStyle/>
                    <a:p>
                      <a:pPr algn="l"/>
                      <a:r>
                        <a:rPr sz="950" b="0">
                          <a:solidFill>
                            <a:srgbClr val="212121"/>
                          </a:solidFill>
                          <a:latin typeface="Calibri"/>
                        </a:rPr>
                        <a:t>same-cache epitem reclaim occupies exact freed slot</a:t>
                      </a:r>
                    </a:p>
                  </a:txBody>
                  <a:tcPr>
                    <a:solidFill>
                      <a:srgbClr val="EEF2F7"/>
                    </a:solidFill>
                  </a:tcPr>
                </a:tc>
                <a:tc>
                  <a:txBody>
                    <a:bodyPr wrap="square" lIns="50800" rIns="50800" tIns="12700" bIns="12700"/>
                    <a:lstStyle/>
                    <a:p>
                      <a:pPr algn="l"/>
                      <a:r>
                        <a:rPr sz="950" b="0">
                          <a:solidFill>
                            <a:srgbClr val="212121"/>
                          </a:solidFill>
                          <a:latin typeface="Calibri"/>
                        </a:rPr>
                        <a:t>RUNTIME</a:t>
                      </a:r>
                    </a:p>
                  </a:txBody>
                  <a:tcPr>
                    <a:solidFill>
                      <a:srgbClr val="EEF2F7"/>
                    </a:solidFill>
                  </a:tcPr>
                </a:tc>
              </a:tr>
              <a:tr h="274320">
                <a:tc>
                  <a:txBody>
                    <a:bodyPr wrap="square" lIns="50800" rIns="50800" tIns="12700" bIns="12700"/>
                    <a:lstStyle/>
                    <a:p>
                      <a:pPr algn="l"/>
                      <a:r>
                        <a:rPr sz="950" b="0">
                          <a:solidFill>
                            <a:srgbClr val="212121"/>
                          </a:solidFill>
                          <a:latin typeface="Calibri"/>
                        </a:rPr>
                        <a:t>VER-016</a:t>
                      </a:r>
                    </a:p>
                  </a:txBody>
                  <a:tcPr>
                    <a:solidFill>
                      <a:srgbClr val="FFFFFF"/>
                    </a:solidFill>
                  </a:tcPr>
                </a:tc>
                <a:tc>
                  <a:txBody>
                    <a:bodyPr wrap="square" lIns="50800" rIns="50800" tIns="12700" bIns="12700"/>
                    <a:lstStyle/>
                    <a:p>
                      <a:pPr algn="l"/>
                      <a:r>
                        <a:rPr sz="950" b="0">
                          <a:solidFill>
                            <a:srgbClr val="212121"/>
                          </a:solidFill>
                          <a:latin typeface="Calibri"/>
                        </a:rPr>
                        <a:t>epitem same-cache reclaim dead: rdllink corrupted before free</a:t>
                      </a:r>
                    </a:p>
                  </a:txBody>
                  <a:tcPr>
                    <a:solidFill>
                      <a:srgbClr val="FFFFFF"/>
                    </a:solidFill>
                  </a:tcPr>
                </a:tc>
                <a:tc>
                  <a:txBody>
                    <a:bodyPr wrap="square" lIns="50800" rIns="50800" tIns="12700" bIns="12700"/>
                    <a:lstStyle/>
                    <a:p>
                      <a:pPr algn="l"/>
                      <a:r>
                        <a:rPr sz="950" b="0">
                          <a:solidFill>
                            <a:srgbClr val="212121"/>
                          </a:solidFill>
                          <a:latin typeface="Calibri"/>
                        </a:rPr>
                        <a:t>RUNTIME</a:t>
                      </a:r>
                    </a:p>
                  </a:txBody>
                  <a:tcPr>
                    <a:solidFill>
                      <a:srgbClr val="FFFFFF"/>
                    </a:solidFill>
                  </a:tcPr>
                </a:tc>
              </a:tr>
              <a:tr h="274320">
                <a:tc>
                  <a:txBody>
                    <a:bodyPr wrap="square" lIns="50800" rIns="50800" tIns="12700" bIns="12700"/>
                    <a:lstStyle/>
                    <a:p>
                      <a:pPr algn="l"/>
                      <a:r>
                        <a:rPr sz="950" b="0">
                          <a:solidFill>
                            <a:srgbClr val="212121"/>
                          </a:solidFill>
                          <a:latin typeface="Calibri"/>
                        </a:rPr>
                        <a:t>VER-018</a:t>
                      </a:r>
                    </a:p>
                  </a:txBody>
                  <a:tcPr>
                    <a:solidFill>
                      <a:srgbClr val="EEF2F7"/>
                    </a:solidFill>
                  </a:tcPr>
                </a:tc>
                <a:tc>
                  <a:txBody>
                    <a:bodyPr wrap="square" lIns="50800" rIns="50800" tIns="12700" bIns="12700"/>
                    <a:lstStyle/>
                    <a:p>
                      <a:pPr algn="l"/>
                      <a:r>
                        <a:rPr sz="950" b="0">
                          <a:solidFill>
                            <a:srgbClr val="212121"/>
                          </a:solidFill>
                          <a:latin typeface="Calibri"/>
                        </a:rPr>
                        <a:t>filp cache SLAB_TYPESAFE_BY_RCU — struct file cross-cache dead</a:t>
                      </a:r>
                    </a:p>
                  </a:txBody>
                  <a:tcPr>
                    <a:solidFill>
                      <a:srgbClr val="EEF2F7"/>
                    </a:solidFill>
                  </a:tcPr>
                </a:tc>
                <a:tc>
                  <a:txBody>
                    <a:bodyPr wrap="square" lIns="50800" rIns="50800" tIns="12700" bIns="12700"/>
                    <a:lstStyle/>
                    <a:p>
                      <a:pPr algn="l"/>
                      <a:r>
                        <a:rPr sz="950" b="0">
                          <a:solidFill>
                            <a:srgbClr val="212121"/>
                          </a:solidFill>
                          <a:latin typeface="Calibri"/>
                        </a:rPr>
                        <a:t>STATIC</a:t>
                      </a:r>
                    </a:p>
                  </a:txBody>
                  <a:tcPr>
                    <a:solidFill>
                      <a:srgbClr val="EEF2F7"/>
                    </a:solidFill>
                  </a:tcPr>
                </a:tc>
              </a:tr>
              <a:tr h="274320">
                <a:tc>
                  <a:txBody>
                    <a:bodyPr wrap="square" lIns="50800" rIns="50800" tIns="12700" bIns="12700"/>
                    <a:lstStyle/>
                    <a:p>
                      <a:pPr algn="l"/>
                      <a:r>
                        <a:rPr sz="950" b="0">
                          <a:solidFill>
                            <a:srgbClr val="212121"/>
                          </a:solidFill>
                          <a:latin typeface="Calibri"/>
                        </a:rPr>
                        <a:t>VER-020</a:t>
                      </a:r>
                    </a:p>
                  </a:txBody>
                  <a:tcPr>
                    <a:solidFill>
                      <a:srgbClr val="FFFFFF"/>
                    </a:solidFill>
                  </a:tcPr>
                </a:tc>
                <a:tc>
                  <a:txBody>
                    <a:bodyPr wrap="square" lIns="50800" rIns="50800" tIns="12700" bIns="12700"/>
                    <a:lstStyle/>
                    <a:p>
                      <a:pPr algn="l"/>
                      <a:r>
                        <a:rPr sz="950" b="0">
                          <a:solidFill>
                            <a:srgbClr val="212121"/>
                          </a:solidFill>
                          <a:latin typeface="Calibri"/>
                        </a:rPr>
                        <a:t>struct eventpoll = 176 B -&gt; kmalloc-192; refs @ offset 160</a:t>
                      </a:r>
                    </a:p>
                  </a:txBody>
                  <a:tcPr>
                    <a:solidFill>
                      <a:srgbClr val="FFFFFF"/>
                    </a:solidFill>
                  </a:tcPr>
                </a:tc>
                <a:tc>
                  <a:txBody>
                    <a:bodyPr wrap="square" lIns="50800" rIns="50800" tIns="12700" bIns="12700"/>
                    <a:lstStyle/>
                    <a:p>
                      <a:pPr algn="l"/>
                      <a:r>
                        <a:rPr sz="950" b="0">
                          <a:solidFill>
                            <a:srgbClr val="212121"/>
                          </a:solidFill>
                          <a:latin typeface="Calibri"/>
                        </a:rPr>
                        <a:t>STATIC</a:t>
                      </a:r>
                    </a:p>
                  </a:txBody>
                  <a:tcPr>
                    <a:solidFill>
                      <a:srgbClr val="FFFFFF"/>
                    </a:solidFill>
                  </a:tcPr>
                </a:tc>
              </a:tr>
              <a:tr h="274320">
                <a:tc>
                  <a:txBody>
                    <a:bodyPr wrap="square" lIns="50800" rIns="50800" tIns="12700" bIns="12700"/>
                    <a:lstStyle/>
                    <a:p>
                      <a:pPr algn="l"/>
                      <a:r>
                        <a:rPr sz="950" b="0">
                          <a:solidFill>
                            <a:srgbClr val="212121"/>
                          </a:solidFill>
                          <a:latin typeface="Calibri"/>
                        </a:rPr>
                        <a:t>VER-025</a:t>
                      </a:r>
                    </a:p>
                  </a:txBody>
                  <a:tcPr>
                    <a:solidFill>
                      <a:srgbClr val="EEF2F7"/>
                    </a:solidFill>
                  </a:tcPr>
                </a:tc>
                <a:tc>
                  <a:txBody>
                    <a:bodyPr wrap="square" lIns="50800" rIns="50800" tIns="12700" bIns="12700"/>
                    <a:lstStyle/>
                    <a:p>
                      <a:pPr algn="l"/>
                      <a:r>
                        <a:rPr sz="950" b="0">
                          <a:solidFill>
                            <a:srgbClr val="212121"/>
                          </a:solidFill>
                          <a:latin typeface="Calibri"/>
                        </a:rPr>
                        <a:t>struct file UAF benign: f_op/f_lock accesses safe (filp-only cache)</a:t>
                      </a:r>
                    </a:p>
                  </a:txBody>
                  <a:tcPr>
                    <a:solidFill>
                      <a:srgbClr val="EEF2F7"/>
                    </a:solidFill>
                  </a:tcPr>
                </a:tc>
                <a:tc>
                  <a:txBody>
                    <a:bodyPr wrap="square" lIns="50800" rIns="50800" tIns="12700" bIns="12700"/>
                    <a:lstStyle/>
                    <a:p>
                      <a:pPr algn="l"/>
                      <a:r>
                        <a:rPr sz="950" b="0">
                          <a:solidFill>
                            <a:srgbClr val="212121"/>
                          </a:solidFill>
                          <a:latin typeface="Calibri"/>
                        </a:rPr>
                        <a:t>STATIC</a:t>
                      </a:r>
                    </a:p>
                  </a:txBody>
                  <a:tcPr>
                    <a:solidFill>
                      <a:srgbClr val="EEF2F7"/>
                    </a:solidFill>
                  </a:tcPr>
                </a:tc>
              </a:tr>
              <a:tr h="274320">
                <a:tc>
                  <a:txBody>
                    <a:bodyPr wrap="square" lIns="50800" rIns="50800" tIns="12700" bIns="12700"/>
                    <a:lstStyle/>
                    <a:p>
                      <a:pPr algn="l"/>
                      <a:r>
                        <a:rPr sz="950" b="0">
                          <a:solidFill>
                            <a:srgbClr val="212121"/>
                          </a:solidFill>
                          <a:latin typeface="Calibri"/>
                        </a:rPr>
                        <a:t>VER-026</a:t>
                      </a:r>
                    </a:p>
                  </a:txBody>
                  <a:tcPr>
                    <a:solidFill>
                      <a:srgbClr val="FFFFFF"/>
                    </a:solidFill>
                  </a:tcPr>
                </a:tc>
                <a:tc>
                  <a:txBody>
                    <a:bodyPr wrap="square" lIns="50800" rIns="50800" tIns="12700" bIns="12700"/>
                    <a:lstStyle/>
                    <a:p>
                      <a:pPr algn="l"/>
                      <a:r>
                        <a:rPr sz="950" b="0">
                          <a:solidFill>
                            <a:srgbClr val="212121"/>
                          </a:solidFill>
                          <a:latin typeface="Calibri"/>
                        </a:rPr>
                        <a:t>RACE PROVEN: HW watchpoint, NULL write @ freed+160 via lockless path</a:t>
                      </a:r>
                    </a:p>
                  </a:txBody>
                  <a:tcPr>
                    <a:solidFill>
                      <a:srgbClr val="FFFFFF"/>
                    </a:solidFill>
                  </a:tcPr>
                </a:tc>
                <a:tc>
                  <a:txBody>
                    <a:bodyPr wrap="square" lIns="50800" rIns="50800" tIns="12700" bIns="12700"/>
                    <a:lstStyle/>
                    <a:p>
                      <a:pPr algn="l"/>
                      <a:r>
                        <a:rPr sz="950" b="0">
                          <a:solidFill>
                            <a:srgbClr val="212121"/>
                          </a:solidFill>
                          <a:latin typeface="Calibri"/>
                        </a:rPr>
                        <a:t>RUNTIME</a:t>
                      </a:r>
                    </a:p>
                  </a:txBody>
                  <a:tcPr>
                    <a:solidFill>
                      <a:srgbClr val="FFFFFF"/>
                    </a:solidFill>
                  </a:tcPr>
                </a:tc>
              </a:tr>
              <a:tr h="274320">
                <a:tc>
                  <a:txBody>
                    <a:bodyPr wrap="square" lIns="50800" rIns="50800" tIns="12700" bIns="12700"/>
                    <a:lstStyle/>
                    <a:p>
                      <a:pPr algn="l"/>
                      <a:r>
                        <a:rPr sz="950" b="0">
                          <a:solidFill>
                            <a:srgbClr val="212121"/>
                          </a:solidFill>
                          <a:latin typeface="Calibri"/>
                        </a:rPr>
                        <a:t>VER-027</a:t>
                      </a:r>
                    </a:p>
                  </a:txBody>
                  <a:tcPr>
                    <a:solidFill>
                      <a:srgbClr val="EEF2F7"/>
                    </a:solidFill>
                  </a:tcPr>
                </a:tc>
                <a:tc>
                  <a:txBody>
                    <a:bodyPr wrap="square" lIns="50800" rIns="50800" tIns="12700" bIns="12700"/>
                    <a:lstStyle/>
                    <a:p>
                      <a:pPr algn="l"/>
                      <a:r>
                        <a:rPr sz="950" b="0">
                          <a:solidFill>
                            <a:srgbClr val="212121"/>
                          </a:solidFill>
                          <a:latin typeface="Calibri"/>
                        </a:rPr>
                        <a:t>msg_msg 144 B reclaims freed eventpoll; attacker control 48+</a:t>
                      </a:r>
                    </a:p>
                  </a:txBody>
                  <a:tcPr>
                    <a:solidFill>
                      <a:srgbClr val="EEF2F7"/>
                    </a:solidFill>
                  </a:tcPr>
                </a:tc>
                <a:tc>
                  <a:txBody>
                    <a:bodyPr wrap="square" lIns="50800" rIns="50800" tIns="12700" bIns="12700"/>
                    <a:lstStyle/>
                    <a:p>
                      <a:pPr algn="l"/>
                      <a:r>
                        <a:rPr sz="950" b="0">
                          <a:solidFill>
                            <a:srgbClr val="212121"/>
                          </a:solidFill>
                          <a:latin typeface="Calibri"/>
                        </a:rPr>
                        <a:t>RUNTIME</a:t>
                      </a:r>
                    </a:p>
                  </a:txBody>
                  <a:tcPr>
                    <a:solidFill>
                      <a:srgbClr val="EEF2F7"/>
                    </a:solidFill>
                  </a:tcPr>
                </a:tc>
              </a:tr>
              <a:tr h="274320">
                <a:tc>
                  <a:txBody>
                    <a:bodyPr wrap="square" lIns="50800" rIns="50800" tIns="12700" bIns="12700"/>
                    <a:lstStyle/>
                    <a:p>
                      <a:pPr algn="l"/>
                      <a:r>
                        <a:rPr sz="950" b="0">
                          <a:solidFill>
                            <a:srgbClr val="212121"/>
                          </a:solidFill>
                          <a:latin typeface="Calibri"/>
                        </a:rPr>
                        <a:t>VER-028</a:t>
                      </a:r>
                    </a:p>
                  </a:txBody>
                  <a:tcPr>
                    <a:solidFill>
                      <a:srgbClr val="FFFFFF"/>
                    </a:solidFill>
                  </a:tcPr>
                </a:tc>
                <a:tc>
                  <a:txBody>
                    <a:bodyPr wrap="square" lIns="50800" rIns="50800" tIns="12700" bIns="12700"/>
                    <a:lstStyle/>
                    <a:p>
                      <a:pPr algn="l"/>
                      <a:r>
                        <a:rPr sz="950" b="0">
                          <a:solidFill>
                            <a:srgbClr val="212121"/>
                          </a:solidFill>
                          <a:latin typeface="Calibri"/>
                        </a:rPr>
                        <a:t>Chain 0 dead: percpu_counter_dec uses OUTER epoll</a:t>
                      </a:r>
                    </a:p>
                  </a:txBody>
                  <a:tcPr>
                    <a:solidFill>
                      <a:srgbClr val="FFFFFF"/>
                    </a:solidFill>
                  </a:tcPr>
                </a:tc>
                <a:tc>
                  <a:txBody>
                    <a:bodyPr wrap="square" lIns="50800" rIns="50800" tIns="12700" bIns="12700"/>
                    <a:lstStyle/>
                    <a:p>
                      <a:pPr algn="l"/>
                      <a:r>
                        <a:rPr sz="950" b="0">
                          <a:solidFill>
                            <a:srgbClr val="212121"/>
                          </a:solidFill>
                          <a:latin typeface="Calibri"/>
                        </a:rPr>
                        <a:t>RUNTIME</a:t>
                      </a:r>
                    </a:p>
                  </a:txBody>
                  <a:tcPr>
                    <a:solidFill>
                      <a:srgbClr val="FFFFFF"/>
                    </a:solidFill>
                  </a:tcPr>
                </a:tc>
              </a:tr>
              <a:tr h="274320">
                <a:tc>
                  <a:txBody>
                    <a:bodyPr wrap="square" lIns="50800" rIns="50800" tIns="12700" bIns="12700"/>
                    <a:lstStyle/>
                    <a:p>
                      <a:pPr algn="l"/>
                      <a:r>
                        <a:rPr sz="950" b="0">
                          <a:solidFill>
                            <a:srgbClr val="212121"/>
                          </a:solidFill>
                          <a:latin typeface="Calibri"/>
                        </a:rPr>
                        <a:t>VER-031</a:t>
                      </a:r>
                    </a:p>
                  </a:txBody>
                  <a:tcPr>
                    <a:solidFill>
                      <a:srgbClr val="EEF2F7"/>
                    </a:solidFill>
                  </a:tcPr>
                </a:tc>
                <a:tc>
                  <a:txBody>
                    <a:bodyPr wrap="square" lIns="50800" rIns="50800" tIns="12700" bIns="12700"/>
                    <a:lstStyle/>
                    <a:p>
                      <a:pPr algn="l"/>
                      <a:r>
                        <a:rPr sz="950" b="0">
                          <a:solidFill>
                            <a:srgbClr val="212121"/>
                          </a:solidFill>
                          <a:latin typeface="Calibri"/>
                        </a:rPr>
                        <a:t>Chain 2 dead: decrement always root_user (outer epoll)</a:t>
                      </a:r>
                    </a:p>
                  </a:txBody>
                  <a:tcPr>
                    <a:solidFill>
                      <a:srgbClr val="EEF2F7"/>
                    </a:solidFill>
                  </a:tcPr>
                </a:tc>
                <a:tc>
                  <a:txBody>
                    <a:bodyPr wrap="square" lIns="50800" rIns="50800" tIns="12700" bIns="12700"/>
                    <a:lstStyle/>
                    <a:p>
                      <a:pPr algn="l"/>
                      <a:r>
                        <a:rPr sz="950" b="0">
                          <a:solidFill>
                            <a:srgbClr val="212121"/>
                          </a:solidFill>
                          <a:latin typeface="Calibri"/>
                        </a:rPr>
                        <a:t>RUNTIME</a:t>
                      </a:r>
                    </a:p>
                  </a:txBody>
                  <a:tcPr>
                    <a:solidFill>
                      <a:srgbClr val="EEF2F7"/>
                    </a:solidFill>
                  </a:tcPr>
                </a:tc>
              </a:tr>
              <a:tr h="274320">
                <a:tc>
                  <a:txBody>
                    <a:bodyPr wrap="square" lIns="50800" rIns="50800" tIns="12700" bIns="12700"/>
                    <a:lstStyle/>
                    <a:p>
                      <a:pPr algn="l"/>
                      <a:r>
                        <a:rPr sz="950" b="0">
                          <a:solidFill>
                            <a:srgbClr val="212121"/>
                          </a:solidFill>
                          <a:latin typeface="Calibri"/>
                        </a:rPr>
                        <a:t>VER-032</a:t>
                      </a:r>
                    </a:p>
                  </a:txBody>
                  <a:tcPr>
                    <a:solidFill>
                      <a:srgbClr val="FFFFFF"/>
                    </a:solidFill>
                  </a:tcPr>
                </a:tc>
                <a:tc>
                  <a:txBody>
                    <a:bodyPr wrap="square" lIns="50800" rIns="50800" tIns="12700" bIns="12700"/>
                    <a:lstStyle/>
                    <a:p>
                      <a:pPr algn="l"/>
                      <a:r>
                        <a:rPr sz="950" b="0">
                          <a:solidFill>
                            <a:srgbClr val="212121"/>
                          </a:solidFill>
                          <a:latin typeface="Calibri"/>
                        </a:rPr>
                        <a:t>Only UAF write = hlist_del_rcu @ offset 160 (NULL, single-epitem)</a:t>
                      </a:r>
                    </a:p>
                  </a:txBody>
                  <a:tcPr>
                    <a:solidFill>
                      <a:srgbClr val="FFFFFF"/>
                    </a:solidFill>
                  </a:tcPr>
                </a:tc>
                <a:tc>
                  <a:txBody>
                    <a:bodyPr wrap="square" lIns="50800" rIns="50800" tIns="12700" bIns="12700"/>
                    <a:lstStyle/>
                    <a:p>
                      <a:pPr algn="l"/>
                      <a:r>
                        <a:rPr sz="950" b="0">
                          <a:solidFill>
                            <a:srgbClr val="212121"/>
                          </a:solidFill>
                          <a:latin typeface="Calibri"/>
                        </a:rPr>
                        <a:t>RUNTIME</a:t>
                      </a:r>
                    </a:p>
                  </a:txBody>
                  <a:tcPr>
                    <a:solidFill>
                      <a:srgbClr val="FFFFFF"/>
                    </a:solidFill>
                  </a:tcPr>
                </a:tc>
              </a:tr>
              <a:tr h="274320">
                <a:tc>
                  <a:txBody>
                    <a:bodyPr wrap="square" lIns="50800" rIns="50800" tIns="12700" bIns="12700"/>
                    <a:lstStyle/>
                    <a:p>
                      <a:pPr algn="l"/>
                      <a:r>
                        <a:rPr sz="950" b="0">
                          <a:solidFill>
                            <a:srgbClr val="212121"/>
                          </a:solidFill>
                          <a:latin typeface="Calibri"/>
                        </a:rPr>
                        <a:t>VER-033</a:t>
                      </a:r>
                    </a:p>
                  </a:txBody>
                  <a:tcPr>
                    <a:solidFill>
                      <a:srgbClr val="EEF2F7"/>
                    </a:solidFill>
                  </a:tcPr>
                </a:tc>
                <a:tc>
                  <a:txBody>
                    <a:bodyPr wrap="square" lIns="50800" rIns="50800" tIns="12700" bIns="12700"/>
                    <a:lstStyle/>
                    <a:p>
                      <a:pPr algn="l"/>
                      <a:r>
                        <a:rPr sz="950" b="0">
                          <a:solidFill>
                            <a:srgbClr val="212121"/>
                          </a:solidFill>
                          <a:latin typeface="Calibri"/>
                        </a:rPr>
                        <a:t>Chain 1 retracted: UAF and pointer-write mutually exclusive</a:t>
                      </a:r>
                    </a:p>
                  </a:txBody>
                  <a:tcPr>
                    <a:solidFill>
                      <a:srgbClr val="EEF2F7"/>
                    </a:solidFill>
                  </a:tcPr>
                </a:tc>
                <a:tc>
                  <a:txBody>
                    <a:bodyPr wrap="square" lIns="50800" rIns="50800" tIns="12700" bIns="12700"/>
                    <a:lstStyle/>
                    <a:p>
                      <a:pPr algn="l"/>
                      <a:r>
                        <a:rPr sz="950" b="0">
                          <a:solidFill>
                            <a:srgbClr val="212121"/>
                          </a:solidFill>
                          <a:latin typeface="Calibri"/>
                        </a:rPr>
                        <a:t>RUNTIME</a:t>
                      </a:r>
                    </a:p>
                  </a:txBody>
                  <a:tcPr>
                    <a:solidFill>
                      <a:srgbClr val="EEF2F7"/>
                    </a:solidFill>
                  </a:tcPr>
                </a:tc>
              </a:tr>
              <a:tr h="274320">
                <a:tc>
                  <a:txBody>
                    <a:bodyPr wrap="square" lIns="50800" rIns="50800" tIns="12700" bIns="12700"/>
                    <a:lstStyle/>
                    <a:p>
                      <a:pPr algn="l"/>
                      <a:r>
                        <a:rPr sz="950" b="0">
                          <a:solidFill>
                            <a:srgbClr val="212121"/>
                          </a:solidFill>
                          <a:latin typeface="Calibri"/>
                        </a:rPr>
                        <a:t>VER-034</a:t>
                      </a:r>
                    </a:p>
                  </a:txBody>
                  <a:tcPr>
                    <a:solidFill>
                      <a:srgbClr val="FFFFFF"/>
                    </a:solidFill>
                  </a:tcPr>
                </a:tc>
                <a:tc>
                  <a:txBody>
                    <a:bodyPr wrap="square" lIns="50800" rIns="50800" tIns="12700" bIns="12700"/>
                    <a:lstStyle/>
                    <a:p>
                      <a:pPr algn="l"/>
                      <a:r>
                        <a:rPr sz="950" b="0">
                          <a:solidFill>
                            <a:srgbClr val="212121"/>
                          </a:solidFill>
                          <a:latin typeface="Calibri"/>
                        </a:rPr>
                        <a:t>NAT-001: 0/10,000 natural hits (CI upper bound 0.0384%)</a:t>
                      </a:r>
                    </a:p>
                  </a:txBody>
                  <a:tcPr>
                    <a:solidFill>
                      <a:srgbClr val="FFFFFF"/>
                    </a:solidFill>
                  </a:tcPr>
                </a:tc>
                <a:tc>
                  <a:txBody>
                    <a:bodyPr wrap="square" lIns="50800" rIns="50800" tIns="12700" bIns="12700"/>
                    <a:lstStyle/>
                    <a:p>
                      <a:pPr algn="l"/>
                      <a:r>
                        <a:rPr sz="950" b="0">
                          <a:solidFill>
                            <a:srgbClr val="212121"/>
                          </a:solidFill>
                          <a:latin typeface="Calibri"/>
                        </a:rPr>
                        <a:t>RUNTIME</a:t>
                      </a:r>
                    </a:p>
                  </a:txBody>
                  <a:tcPr>
                    <a:solidFill>
                      <a:srgbClr val="FFFFFF"/>
                    </a:solidFill>
                  </a:tcPr>
                </a:tc>
              </a:tr>
              <a:tr h="274320">
                <a:tc>
                  <a:txBody>
                    <a:bodyPr wrap="square" lIns="50800" rIns="50800" tIns="12700" bIns="12700"/>
                    <a:lstStyle/>
                    <a:p>
                      <a:pPr algn="l"/>
                      <a:r>
                        <a:rPr sz="950" b="0">
                          <a:solidFill>
                            <a:srgbClr val="212121"/>
                          </a:solidFill>
                          <a:latin typeface="Calibri"/>
                        </a:rPr>
                        <a:t>VER-035</a:t>
                      </a:r>
                    </a:p>
                  </a:txBody>
                  <a:tcPr>
                    <a:solidFill>
                      <a:srgbClr val="EEF2F7"/>
                    </a:solidFill>
                  </a:tcPr>
                </a:tc>
                <a:tc>
                  <a:txBody>
                    <a:bodyPr wrap="square" lIns="50800" rIns="50800" tIns="12700" bIns="12700"/>
                    <a:lstStyle/>
                    <a:p>
                      <a:pPr algn="l"/>
                      <a:r>
                        <a:rPr sz="950" b="0">
                          <a:solidFill>
                            <a:srgbClr val="212121"/>
                          </a:solidFill>
                          <a:latin typeface="Calibri"/>
                        </a:rPr>
                        <a:t>NAT-002 corrected: cond_resched no-op in 2-CPU pinned voluntary</a:t>
                      </a:r>
                    </a:p>
                  </a:txBody>
                  <a:tcPr>
                    <a:solidFill>
                      <a:srgbClr val="EEF2F7"/>
                    </a:solidFill>
                  </a:tcPr>
                </a:tc>
                <a:tc>
                  <a:txBody>
                    <a:bodyPr wrap="square" lIns="50800" rIns="50800" tIns="12700" bIns="12700"/>
                    <a:lstStyle/>
                    <a:p>
                      <a:pPr algn="l"/>
                      <a:r>
                        <a:rPr sz="950" b="0">
                          <a:solidFill>
                            <a:srgbClr val="212121"/>
                          </a:solidFill>
                          <a:latin typeface="Calibri"/>
                        </a:rPr>
                        <a:t>STATIC</a:t>
                      </a:r>
                    </a:p>
                  </a:txBody>
                  <a:tcPr>
                    <a:solidFill>
                      <a:srgbClr val="EEF2F7"/>
                    </a:solidFill>
                  </a:tcPr>
                </a:tc>
              </a:tr>
              <a:tr h="274320">
                <a:tc>
                  <a:txBody>
                    <a:bodyPr wrap="square" lIns="50800" rIns="50800" tIns="12700" bIns="12700"/>
                    <a:lstStyle/>
                    <a:p>
                      <a:pPr algn="l"/>
                      <a:r>
                        <a:rPr sz="950" b="0">
                          <a:solidFill>
                            <a:srgbClr val="212121"/>
                          </a:solidFill>
                          <a:latin typeface="Calibri"/>
                        </a:rPr>
                        <a:t>VER-038</a:t>
                      </a:r>
                    </a:p>
                  </a:txBody>
                  <a:tcPr>
                    <a:solidFill>
                      <a:srgbClr val="FFFFFF"/>
                    </a:solidFill>
                  </a:tcPr>
                </a:tc>
                <a:tc>
                  <a:txBody>
                    <a:bodyPr wrap="square" lIns="50800" rIns="50800" tIns="12700" bIns="12700"/>
                    <a:lstStyle/>
                    <a:p>
                      <a:pPr algn="l"/>
                      <a:r>
                        <a:rPr sz="950" b="0">
                          <a:solidFill>
                            <a:srgbClr val="212121"/>
                          </a:solidFill>
                          <a:latin typeface="Calibri"/>
                        </a:rPr>
                        <a:t>AND-001: SysV IPC functional; load_msg trapped</a:t>
                      </a:r>
                    </a:p>
                  </a:txBody>
                  <a:tcPr>
                    <a:solidFill>
                      <a:srgbClr val="FFFFFF"/>
                    </a:solidFill>
                  </a:tcPr>
                </a:tc>
                <a:tc>
                  <a:txBody>
                    <a:bodyPr wrap="square" lIns="50800" rIns="50800" tIns="12700" bIns="12700"/>
                    <a:lstStyle/>
                    <a:p>
                      <a:pPr algn="l"/>
                      <a:r>
                        <a:rPr sz="950" b="0">
                          <a:solidFill>
                            <a:srgbClr val="212121"/>
                          </a:solidFill>
                          <a:latin typeface="Calibri"/>
                        </a:rPr>
                        <a:t>RUNTIME</a:t>
                      </a:r>
                    </a:p>
                  </a:txBody>
                  <a:tcPr>
                    <a:solidFill>
                      <a:srgbClr val="FFFFFF"/>
                    </a:solidFill>
                  </a:tcPr>
                </a:tc>
              </a:tr>
              <a:tr h="274320">
                <a:tc>
                  <a:txBody>
                    <a:bodyPr wrap="square" lIns="50800" rIns="50800" tIns="12700" bIns="12700"/>
                    <a:lstStyle/>
                    <a:p>
                      <a:pPr algn="l"/>
                      <a:r>
                        <a:rPr sz="950" b="0">
                          <a:solidFill>
                            <a:srgbClr val="212121"/>
                          </a:solidFill>
                          <a:latin typeface="Calibri"/>
                        </a:rPr>
                        <a:t>VER-039</a:t>
                      </a:r>
                    </a:p>
                  </a:txBody>
                  <a:tcPr>
                    <a:solidFill>
                      <a:srgbClr val="EEF2F7"/>
                    </a:solidFill>
                  </a:tcPr>
                </a:tc>
                <a:tc>
                  <a:txBody>
                    <a:bodyPr wrap="square" lIns="50800" rIns="50800" tIns="12700" bIns="12700"/>
                    <a:lstStyle/>
                    <a:p>
                      <a:pPr algn="l"/>
                      <a:r>
                        <a:rPr sz="950" b="0">
                          <a:solidFill>
                            <a:srgbClr val="212121"/>
                          </a:solidFill>
                          <a:latin typeface="Calibri"/>
                        </a:rPr>
                        <a:t>NAT-005: 0/92,740; best alignment error 1 cycle (~16 ns)</a:t>
                      </a:r>
                    </a:p>
                  </a:txBody>
                  <a:tcPr>
                    <a:solidFill>
                      <a:srgbClr val="EEF2F7"/>
                    </a:solidFill>
                  </a:tcPr>
                </a:tc>
                <a:tc>
                  <a:txBody>
                    <a:bodyPr wrap="square" lIns="50800" rIns="50800" tIns="12700" bIns="12700"/>
                    <a:lstStyle/>
                    <a:p>
                      <a:pPr algn="l"/>
                      <a:r>
                        <a:rPr sz="950" b="0">
                          <a:solidFill>
                            <a:srgbClr val="212121"/>
                          </a:solidFill>
                          <a:latin typeface="Calibri"/>
                        </a:rPr>
                        <a:t>RUNTIME</a:t>
                      </a:r>
                    </a:p>
                  </a:txBody>
                  <a:tcPr>
                    <a:solidFill>
                      <a:srgbClr val="EEF2F7"/>
                    </a:solidFill>
                  </a:tcPr>
                </a:tc>
              </a:tr>
            </a:tbl>
          </a:graphicData>
        </a:graphic>
      </p:graphicFrame>
      <p:sp>
        <p:nvSpPr>
          <p:cNvPr id="8" name="TextBox 7"/>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APPENDIX</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Dead Ends Register — 21 Entries (DE-001 .. DE-021)</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graphicFrame>
        <p:nvGraphicFramePr>
          <p:cNvPr id="7" name="Table 6"/>
          <p:cNvGraphicFramePr>
            <a:graphicFrameLocks noGrp="1"/>
          </p:cNvGraphicFramePr>
          <p:nvPr/>
        </p:nvGraphicFramePr>
        <p:xfrm>
          <a:off x="502920" y="1417320"/>
          <a:ext cx="11201400" cy="4535424"/>
        </p:xfrm>
        <a:graphic>
          <a:graphicData uri="http://schemas.openxmlformats.org/drawingml/2006/table">
            <a:tbl>
              <a:tblPr>
                <a:tableStyleId>{5C22544A-7EE6-4342-B048-85BDC9FD1C3A}</a:tableStyleId>
              </a:tblPr>
              <a:tblGrid>
                <a:gridCol w="1554480"/>
                <a:gridCol w="6309360"/>
                <a:gridCol w="3337560"/>
              </a:tblGrid>
              <a:tr h="283464">
                <a:tc>
                  <a:txBody>
                    <a:bodyPr lIns="50800" rIns="50800" tIns="12700" bIns="12700"/>
                    <a:lstStyle/>
                    <a:p>
                      <a:pPr algn="l"/>
                      <a:r>
                        <a:rPr sz="1000" b="1">
                          <a:solidFill>
                            <a:srgbClr val="FFFFFF"/>
                          </a:solidFill>
                          <a:latin typeface="Calibri"/>
                        </a:rPr>
                        <a:t>ID</a:t>
                      </a:r>
                    </a:p>
                  </a:txBody>
                  <a:tcPr>
                    <a:solidFill>
                      <a:srgbClr val="0F2440"/>
                    </a:solidFill>
                  </a:tcPr>
                </a:tc>
                <a:tc>
                  <a:txBody>
                    <a:bodyPr lIns="50800" rIns="50800" tIns="12700" bIns="12700"/>
                    <a:lstStyle/>
                    <a:p>
                      <a:pPr algn="l"/>
                      <a:r>
                        <a:rPr sz="1000" b="1">
                          <a:solidFill>
                            <a:srgbClr val="FFFFFF"/>
                          </a:solidFill>
                          <a:latin typeface="Calibri"/>
                        </a:rPr>
                        <a:t>Dead path</a:t>
                      </a:r>
                    </a:p>
                  </a:txBody>
                  <a:tcPr>
                    <a:solidFill>
                      <a:srgbClr val="0F2440"/>
                    </a:solidFill>
                  </a:tcPr>
                </a:tc>
                <a:tc>
                  <a:txBody>
                    <a:bodyPr lIns="50800" rIns="50800" tIns="12700" bIns="12700"/>
                    <a:lstStyle/>
                    <a:p>
                      <a:pPr algn="l"/>
                      <a:r>
                        <a:rPr sz="1000" b="1">
                          <a:solidFill>
                            <a:srgbClr val="FFFFFF"/>
                          </a:solidFill>
                          <a:latin typeface="Calibri"/>
                        </a:rPr>
                        <a:t>Killing evidence</a:t>
                      </a:r>
                    </a:p>
                  </a:txBody>
                  <a:tcPr>
                    <a:solidFill>
                      <a:srgbClr val="0F2440"/>
                    </a:solidFill>
                  </a:tcPr>
                </a:tc>
              </a:tr>
              <a:tr h="283464">
                <a:tc>
                  <a:txBody>
                    <a:bodyPr wrap="square" lIns="50800" rIns="50800" tIns="12700" bIns="12700"/>
                    <a:lstStyle/>
                    <a:p>
                      <a:pPr algn="l"/>
                      <a:r>
                        <a:rPr sz="1000" b="0">
                          <a:solidFill>
                            <a:srgbClr val="212121"/>
                          </a:solidFill>
                          <a:latin typeface="Calibri"/>
                        </a:rPr>
                        <a:t>DE-001..004</a:t>
                      </a:r>
                    </a:p>
                  </a:txBody>
                  <a:tcPr>
                    <a:solidFill>
                      <a:srgbClr val="FFFFFF"/>
                    </a:solidFill>
                  </a:tcPr>
                </a:tc>
                <a:tc>
                  <a:txBody>
                    <a:bodyPr wrap="square" lIns="50800" rIns="50800" tIns="12700" bIns="12700"/>
                    <a:lstStyle/>
                    <a:p>
                      <a:pPr algn="l"/>
                      <a:r>
                        <a:rPr sz="1000" b="0">
                          <a:solidFill>
                            <a:srgbClr val="212121"/>
                          </a:solidFill>
                          <a:latin typeface="Calibri"/>
                        </a:rPr>
                        <a:t>Chains 0-3 (crash / leak / decrement / LPE)</a:t>
                      </a:r>
                    </a:p>
                  </a:txBody>
                  <a:tcPr>
                    <a:solidFill>
                      <a:srgbClr val="FFFFFF"/>
                    </a:solidFill>
                  </a:tcPr>
                </a:tc>
                <a:tc>
                  <a:txBody>
                    <a:bodyPr wrap="square" lIns="50800" rIns="50800" tIns="12700" bIns="12700"/>
                    <a:lstStyle/>
                    <a:p>
                      <a:pPr algn="l"/>
                      <a:r>
                        <a:rPr sz="1000" b="0">
                          <a:solidFill>
                            <a:srgbClr val="212121"/>
                          </a:solidFill>
                          <a:latin typeface="Calibri"/>
                        </a:rPr>
                        <a:t>VER-028, VER-033, VER-031</a:t>
                      </a:r>
                    </a:p>
                  </a:txBody>
                  <a:tcPr>
                    <a:solidFill>
                      <a:srgbClr val="FFFFFF"/>
                    </a:solidFill>
                  </a:tcPr>
                </a:tc>
              </a:tr>
              <a:tr h="283464">
                <a:tc>
                  <a:txBody>
                    <a:bodyPr wrap="square" lIns="50800" rIns="50800" tIns="12700" bIns="12700"/>
                    <a:lstStyle/>
                    <a:p>
                      <a:pPr algn="l"/>
                      <a:r>
                        <a:rPr sz="1000" b="0">
                          <a:solidFill>
                            <a:srgbClr val="212121"/>
                          </a:solidFill>
                          <a:latin typeface="Calibri"/>
                        </a:rPr>
                        <a:t>DE-005</a:t>
                      </a:r>
                    </a:p>
                  </a:txBody>
                  <a:tcPr>
                    <a:solidFill>
                      <a:srgbClr val="EEF2F7"/>
                    </a:solidFill>
                  </a:tcPr>
                </a:tc>
                <a:tc>
                  <a:txBody>
                    <a:bodyPr wrap="square" lIns="50800" rIns="50800" tIns="12700" bIns="12700"/>
                    <a:lstStyle/>
                    <a:p>
                      <a:pPr algn="l"/>
                      <a:r>
                        <a:rPr sz="1000" b="0">
                          <a:solidFill>
                            <a:srgbClr val="212121"/>
                          </a:solidFill>
                          <a:latin typeface="Calibri"/>
                        </a:rPr>
                        <a:t>struct file UAF via ep_item_poll type confusion</a:t>
                      </a:r>
                    </a:p>
                  </a:txBody>
                  <a:tcPr>
                    <a:solidFill>
                      <a:srgbClr val="EEF2F7"/>
                    </a:solidFill>
                  </a:tcPr>
                </a:tc>
                <a:tc>
                  <a:txBody>
                    <a:bodyPr wrap="square" lIns="50800" rIns="50800" tIns="12700" bIns="12700"/>
                    <a:lstStyle/>
                    <a:p>
                      <a:pPr algn="l"/>
                      <a:r>
                        <a:rPr sz="1000" b="0">
                          <a:solidFill>
                            <a:srgbClr val="212121"/>
                          </a:solidFill>
                          <a:latin typeface="Calibri"/>
                        </a:rPr>
                        <a:t>VER-025 (EXP-015)</a:t>
                      </a:r>
                    </a:p>
                  </a:txBody>
                  <a:tcPr>
                    <a:solidFill>
                      <a:srgbClr val="EEF2F7"/>
                    </a:solidFill>
                  </a:tcPr>
                </a:tc>
              </a:tr>
              <a:tr h="283464">
                <a:tc>
                  <a:txBody>
                    <a:bodyPr wrap="square" lIns="50800" rIns="50800" tIns="12700" bIns="12700"/>
                    <a:lstStyle/>
                    <a:p>
                      <a:pPr algn="l"/>
                      <a:r>
                        <a:rPr sz="1000" b="0">
                          <a:solidFill>
                            <a:srgbClr val="212121"/>
                          </a:solidFill>
                          <a:latin typeface="Calibri"/>
                        </a:rPr>
                        <a:t>DE-006</a:t>
                      </a:r>
                    </a:p>
                  </a:txBody>
                  <a:tcPr>
                    <a:solidFill>
                      <a:srgbClr val="FFFFFF"/>
                    </a:solidFill>
                  </a:tcPr>
                </a:tc>
                <a:tc>
                  <a:txBody>
                    <a:bodyPr wrap="square" lIns="50800" rIns="50800" tIns="12700" bIns="12700"/>
                    <a:lstStyle/>
                    <a:p>
                      <a:pPr algn="l"/>
                      <a:r>
                        <a:rPr sz="1000" b="0">
                          <a:solidFill>
                            <a:srgbClr val="212121"/>
                          </a:solidFill>
                          <a:latin typeface="Calibri"/>
                        </a:rPr>
                        <a:t>struct file UAF via pipe_buffer cross-cache</a:t>
                      </a:r>
                    </a:p>
                  </a:txBody>
                  <a:tcPr>
                    <a:solidFill>
                      <a:srgbClr val="FFFFFF"/>
                    </a:solidFill>
                  </a:tcPr>
                </a:tc>
                <a:tc>
                  <a:txBody>
                    <a:bodyPr wrap="square" lIns="50800" rIns="50800" tIns="12700" bIns="12700"/>
                    <a:lstStyle/>
                    <a:p>
                      <a:pPr algn="l"/>
                      <a:r>
                        <a:rPr sz="1000" b="0">
                          <a:solidFill>
                            <a:srgbClr val="212121"/>
                          </a:solidFill>
                          <a:latin typeface="Calibri"/>
                        </a:rPr>
                        <a:t>VER-018 (EXP-010)</a:t>
                      </a:r>
                    </a:p>
                  </a:txBody>
                  <a:tcPr>
                    <a:solidFill>
                      <a:srgbClr val="FFFFFF"/>
                    </a:solidFill>
                  </a:tcPr>
                </a:tc>
              </a:tr>
              <a:tr h="283464">
                <a:tc>
                  <a:txBody>
                    <a:bodyPr wrap="square" lIns="50800" rIns="50800" tIns="12700" bIns="12700"/>
                    <a:lstStyle/>
                    <a:p>
                      <a:pPr algn="l"/>
                      <a:r>
                        <a:rPr sz="1000" b="0">
                          <a:solidFill>
                            <a:srgbClr val="212121"/>
                          </a:solidFill>
                          <a:latin typeface="Calibri"/>
                        </a:rPr>
                        <a:t>DE-007</a:t>
                      </a:r>
                    </a:p>
                  </a:txBody>
                  <a:tcPr>
                    <a:solidFill>
                      <a:srgbClr val="EEF2F7"/>
                    </a:solidFill>
                  </a:tcPr>
                </a:tc>
                <a:tc>
                  <a:txBody>
                    <a:bodyPr wrap="square" lIns="50800" rIns="50800" tIns="12700" bIns="12700"/>
                    <a:lstStyle/>
                    <a:p>
                      <a:pPr algn="l"/>
                      <a:r>
                        <a:rPr sz="1000" b="0">
                          <a:solidFill>
                            <a:srgbClr val="212121"/>
                          </a:solidFill>
                          <a:latin typeface="Calibri"/>
                        </a:rPr>
                        <a:t>epitem same-cache reclaim (EPOLL_CTL_ADD)</a:t>
                      </a:r>
                    </a:p>
                  </a:txBody>
                  <a:tcPr>
                    <a:solidFill>
                      <a:srgbClr val="EEF2F7"/>
                    </a:solidFill>
                  </a:tcPr>
                </a:tc>
                <a:tc>
                  <a:txBody>
                    <a:bodyPr wrap="square" lIns="50800" rIns="50800" tIns="12700" bIns="12700"/>
                    <a:lstStyle/>
                    <a:p>
                      <a:pPr algn="l"/>
                      <a:r>
                        <a:rPr sz="1000" b="0">
                          <a:solidFill>
                            <a:srgbClr val="212121"/>
                          </a:solidFill>
                          <a:latin typeface="Calibri"/>
                        </a:rPr>
                        <a:t>VER-016 (EXP-008)</a:t>
                      </a:r>
                    </a:p>
                  </a:txBody>
                  <a:tcPr>
                    <a:solidFill>
                      <a:srgbClr val="EEF2F7"/>
                    </a:solidFill>
                  </a:tcPr>
                </a:tc>
              </a:tr>
              <a:tr h="283464">
                <a:tc>
                  <a:txBody>
                    <a:bodyPr wrap="square" lIns="50800" rIns="50800" tIns="12700" bIns="12700"/>
                    <a:lstStyle/>
                    <a:p>
                      <a:pPr algn="l"/>
                      <a:r>
                        <a:rPr sz="1000" b="0">
                          <a:solidFill>
                            <a:srgbClr val="212121"/>
                          </a:solidFill>
                          <a:latin typeface="Calibri"/>
                        </a:rPr>
                        <a:t>DE-008</a:t>
                      </a:r>
                    </a:p>
                  </a:txBody>
                  <a:tcPr>
                    <a:solidFill>
                      <a:srgbClr val="FFFFFF"/>
                    </a:solidFill>
                  </a:tcPr>
                </a:tc>
                <a:tc>
                  <a:txBody>
                    <a:bodyPr wrap="square" lIns="50800" rIns="50800" tIns="12700" bIns="12700"/>
                    <a:lstStyle/>
                    <a:p>
                      <a:pPr algn="l"/>
                      <a:r>
                        <a:rPr sz="1000" b="0">
                          <a:solidFill>
                            <a:srgbClr val="212121"/>
                          </a:solidFill>
                          <a:latin typeface="Calibri"/>
                        </a:rPr>
                        <a:t>snd_timer_user reclaim of epitem/eventpoll</a:t>
                      </a:r>
                    </a:p>
                  </a:txBody>
                  <a:tcPr>
                    <a:solidFill>
                      <a:srgbClr val="FFFFFF"/>
                    </a:solidFill>
                  </a:tcPr>
                </a:tc>
                <a:tc>
                  <a:txBody>
                    <a:bodyPr wrap="square" lIns="50800" rIns="50800" tIns="12700" bIns="12700"/>
                    <a:lstStyle/>
                    <a:p>
                      <a:pPr algn="l"/>
                      <a:r>
                        <a:rPr sz="1000" b="0">
                          <a:solidFill>
                            <a:srgbClr val="212121"/>
                          </a:solidFill>
                          <a:latin typeface="Calibri"/>
                        </a:rPr>
                        <a:t>EVO-005</a:t>
                      </a:r>
                    </a:p>
                  </a:txBody>
                  <a:tcPr>
                    <a:solidFill>
                      <a:srgbClr val="FFFFFF"/>
                    </a:solidFill>
                  </a:tcPr>
                </a:tc>
              </a:tr>
              <a:tr h="283464">
                <a:tc>
                  <a:txBody>
                    <a:bodyPr wrap="square" lIns="50800" rIns="50800" tIns="12700" bIns="12700"/>
                    <a:lstStyle/>
                    <a:p>
                      <a:pPr algn="l"/>
                      <a:r>
                        <a:rPr sz="1000" b="0">
                          <a:solidFill>
                            <a:srgbClr val="212121"/>
                          </a:solidFill>
                          <a:latin typeface="Calibri"/>
                        </a:rPr>
                        <a:t>DE-009</a:t>
                      </a:r>
                    </a:p>
                  </a:txBody>
                  <a:tcPr>
                    <a:solidFill>
                      <a:srgbClr val="EEF2F7"/>
                    </a:solidFill>
                  </a:tcPr>
                </a:tc>
                <a:tc>
                  <a:txBody>
                    <a:bodyPr wrap="square" lIns="50800" rIns="50800" tIns="12700" bIns="12700"/>
                    <a:lstStyle/>
                    <a:p>
                      <a:pPr algn="l"/>
                      <a:r>
                        <a:rPr sz="1000" b="0">
                          <a:solidFill>
                            <a:srgbClr val="212121"/>
                          </a:solidFill>
                          <a:latin typeface="Calibri"/>
                        </a:rPr>
                        <a:t>snd_timer_user mutex slowpath corruption</a:t>
                      </a:r>
                    </a:p>
                  </a:txBody>
                  <a:tcPr>
                    <a:solidFill>
                      <a:srgbClr val="EEF2F7"/>
                    </a:solidFill>
                  </a:tcPr>
                </a:tc>
                <a:tc>
                  <a:txBody>
                    <a:bodyPr wrap="square" lIns="50800" rIns="50800" tIns="12700" bIns="12700"/>
                    <a:lstStyle/>
                    <a:p>
                      <a:pPr algn="l"/>
                      <a:r>
                        <a:rPr sz="1000" b="0">
                          <a:solidFill>
                            <a:srgbClr val="212121"/>
                          </a:solidFill>
                          <a:latin typeface="Calibri"/>
                        </a:rPr>
                        <a:t>VER-013</a:t>
                      </a:r>
                    </a:p>
                  </a:txBody>
                  <a:tcPr>
                    <a:solidFill>
                      <a:srgbClr val="EEF2F7"/>
                    </a:solidFill>
                  </a:tcPr>
                </a:tc>
              </a:tr>
              <a:tr h="283464">
                <a:tc>
                  <a:txBody>
                    <a:bodyPr wrap="square" lIns="50800" rIns="50800" tIns="12700" bIns="12700"/>
                    <a:lstStyle/>
                    <a:p>
                      <a:pPr algn="l"/>
                      <a:r>
                        <a:rPr sz="1000" b="0">
                          <a:solidFill>
                            <a:srgbClr val="212121"/>
                          </a:solidFill>
                          <a:latin typeface="Calibri"/>
                        </a:rPr>
                        <a:t>DE-010</a:t>
                      </a:r>
                    </a:p>
                  </a:txBody>
                  <a:tcPr>
                    <a:solidFill>
                      <a:srgbClr val="FFFFFF"/>
                    </a:solidFill>
                  </a:tcPr>
                </a:tc>
                <a:tc>
                  <a:txBody>
                    <a:bodyPr wrap="square" lIns="50800" rIns="50800" tIns="12700" bIns="12700"/>
                    <a:lstStyle/>
                    <a:p>
                      <a:pPr algn="l"/>
                      <a:r>
                        <a:rPr sz="1000" b="0">
                          <a:solidFill>
                            <a:srgbClr val="212121"/>
                          </a:solidFill>
                          <a:latin typeface="Calibri"/>
                        </a:rPr>
                        <a:t>multi-epitem kernel-pointer write @160</a:t>
                      </a:r>
                    </a:p>
                  </a:txBody>
                  <a:tcPr>
                    <a:solidFill>
                      <a:srgbClr val="FFFFFF"/>
                    </a:solidFill>
                  </a:tcPr>
                </a:tc>
                <a:tc>
                  <a:txBody>
                    <a:bodyPr wrap="square" lIns="50800" rIns="50800" tIns="12700" bIns="12700"/>
                    <a:lstStyle/>
                    <a:p>
                      <a:pPr algn="l"/>
                      <a:r>
                        <a:rPr sz="1000" b="0">
                          <a:solidFill>
                            <a:srgbClr val="212121"/>
                          </a:solidFill>
                          <a:latin typeface="Calibri"/>
                        </a:rPr>
                        <a:t>VER-033 (EXP-024)</a:t>
                      </a:r>
                    </a:p>
                  </a:txBody>
                  <a:tcPr>
                    <a:solidFill>
                      <a:srgbClr val="FFFFFF"/>
                    </a:solidFill>
                  </a:tcPr>
                </a:tc>
              </a:tr>
              <a:tr h="283464">
                <a:tc>
                  <a:txBody>
                    <a:bodyPr wrap="square" lIns="50800" rIns="50800" tIns="12700" bIns="12700"/>
                    <a:lstStyle/>
                    <a:p>
                      <a:pPr algn="l"/>
                      <a:r>
                        <a:rPr sz="1000" b="0">
                          <a:solidFill>
                            <a:srgbClr val="212121"/>
                          </a:solidFill>
                          <a:latin typeface="Calibri"/>
                        </a:rPr>
                        <a:t>DE-011</a:t>
                      </a:r>
                    </a:p>
                  </a:txBody>
                  <a:tcPr>
                    <a:solidFill>
                      <a:srgbClr val="EEF2F7"/>
                    </a:solidFill>
                  </a:tcPr>
                </a:tc>
                <a:tc>
                  <a:txBody>
                    <a:bodyPr wrap="square" lIns="50800" rIns="50800" tIns="12700" bIns="12700"/>
                    <a:lstStyle/>
                    <a:p>
                      <a:pPr algn="l"/>
                      <a:r>
                        <a:rPr sz="1000" b="0">
                          <a:solidFill>
                            <a:srgbClr val="212121"/>
                          </a:solidFill>
                          <a:latin typeface="Calibri"/>
                        </a:rPr>
                        <a:t>rb_erase_cached arbitrary write</a:t>
                      </a:r>
                    </a:p>
                  </a:txBody>
                  <a:tcPr>
                    <a:solidFill>
                      <a:srgbClr val="EEF2F7"/>
                    </a:solidFill>
                  </a:tcPr>
                </a:tc>
                <a:tc>
                  <a:txBody>
                    <a:bodyPr wrap="square" lIns="50800" rIns="50800" tIns="12700" bIns="12700"/>
                    <a:lstStyle/>
                    <a:p>
                      <a:pPr algn="l"/>
                      <a:r>
                        <a:rPr sz="1000" b="0">
                          <a:solidFill>
                            <a:srgbClr val="212121"/>
                          </a:solidFill>
                          <a:latin typeface="Calibri"/>
                        </a:rPr>
                        <a:t>VER-032 (EXP-023b)</a:t>
                      </a:r>
                    </a:p>
                  </a:txBody>
                  <a:tcPr>
                    <a:solidFill>
                      <a:srgbClr val="EEF2F7"/>
                    </a:solidFill>
                  </a:tcPr>
                </a:tc>
              </a:tr>
              <a:tr h="283464">
                <a:tc>
                  <a:txBody>
                    <a:bodyPr wrap="square" lIns="50800" rIns="50800" tIns="12700" bIns="12700"/>
                    <a:lstStyle/>
                    <a:p>
                      <a:pPr algn="l"/>
                      <a:r>
                        <a:rPr sz="1000" b="0">
                          <a:solidFill>
                            <a:srgbClr val="212121"/>
                          </a:solidFill>
                          <a:latin typeface="Calibri"/>
                        </a:rPr>
                        <a:t>DE-012</a:t>
                      </a:r>
                    </a:p>
                  </a:txBody>
                  <a:tcPr>
                    <a:solidFill>
                      <a:srgbClr val="FFFFFF"/>
                    </a:solidFill>
                  </a:tcPr>
                </a:tc>
                <a:tc>
                  <a:txBody>
                    <a:bodyPr wrap="square" lIns="50800" rIns="50800" tIns="12700" bIns="12700"/>
                    <a:lstStyle/>
                    <a:p>
                      <a:pPr algn="l"/>
                      <a:r>
                        <a:rPr sz="1000" b="0">
                          <a:solidFill>
                            <a:srgbClr val="212121"/>
                          </a:solidFill>
                          <a:latin typeface="Calibri"/>
                        </a:rPr>
                        <a:t>spin_lock_irq lock corruption @96</a:t>
                      </a:r>
                    </a:p>
                  </a:txBody>
                  <a:tcPr>
                    <a:solidFill>
                      <a:srgbClr val="FFFFFF"/>
                    </a:solidFill>
                  </a:tcPr>
                </a:tc>
                <a:tc>
                  <a:txBody>
                    <a:bodyPr wrap="square" lIns="50800" rIns="50800" tIns="12700" bIns="12700"/>
                    <a:lstStyle/>
                    <a:p>
                      <a:pPr algn="l"/>
                      <a:r>
                        <a:rPr sz="1000" b="0">
                          <a:solidFill>
                            <a:srgbClr val="212121"/>
                          </a:solidFill>
                          <a:latin typeface="Calibri"/>
                        </a:rPr>
                        <a:t>VER-032 (EXP-023b)</a:t>
                      </a:r>
                    </a:p>
                  </a:txBody>
                  <a:tcPr>
                    <a:solidFill>
                      <a:srgbClr val="FFFFFF"/>
                    </a:solidFill>
                  </a:tcPr>
                </a:tc>
              </a:tr>
              <a:tr h="283464">
                <a:tc>
                  <a:txBody>
                    <a:bodyPr wrap="square" lIns="50800" rIns="50800" tIns="12700" bIns="12700"/>
                    <a:lstStyle/>
                    <a:p>
                      <a:pPr algn="l"/>
                      <a:r>
                        <a:rPr sz="1000" b="0">
                          <a:solidFill>
                            <a:srgbClr val="212121"/>
                          </a:solidFill>
                          <a:latin typeface="Calibri"/>
                        </a:rPr>
                        <a:t>DE-013</a:t>
                      </a:r>
                    </a:p>
                  </a:txBody>
                  <a:tcPr>
                    <a:solidFill>
                      <a:srgbClr val="EEF2F7"/>
                    </a:solidFill>
                  </a:tcPr>
                </a:tc>
                <a:tc>
                  <a:txBody>
                    <a:bodyPr wrap="square" lIns="50800" rIns="50800" tIns="12700" bIns="12700"/>
                    <a:lstStyle/>
                    <a:p>
                      <a:pPr algn="l"/>
                      <a:r>
                        <a:rPr sz="1000" b="0">
                          <a:solidFill>
                            <a:srgbClr val="212121"/>
                          </a:solidFill>
                          <a:latin typeface="Calibri"/>
                        </a:rPr>
                        <a:t>KASLR defeat via dual-watch leak</a:t>
                      </a:r>
                    </a:p>
                  </a:txBody>
                  <a:tcPr>
                    <a:solidFill>
                      <a:srgbClr val="EEF2F7"/>
                    </a:solidFill>
                  </a:tcPr>
                </a:tc>
                <a:tc>
                  <a:txBody>
                    <a:bodyPr wrap="square" lIns="50800" rIns="50800" tIns="12700" bIns="12700"/>
                    <a:lstStyle/>
                    <a:p>
                      <a:pPr algn="l"/>
                      <a:r>
                        <a:rPr sz="1000" b="0">
                          <a:solidFill>
                            <a:srgbClr val="212121"/>
                          </a:solidFill>
                          <a:latin typeface="Calibri"/>
                        </a:rPr>
                        <a:t>VER-030 retracted</a:t>
                      </a:r>
                    </a:p>
                  </a:txBody>
                  <a:tcPr>
                    <a:solidFill>
                      <a:srgbClr val="EEF2F7"/>
                    </a:solidFill>
                  </a:tcPr>
                </a:tc>
              </a:tr>
              <a:tr h="283464">
                <a:tc>
                  <a:txBody>
                    <a:bodyPr wrap="square" lIns="50800" rIns="50800" tIns="12700" bIns="12700"/>
                    <a:lstStyle/>
                    <a:p>
                      <a:pPr algn="l"/>
                      <a:r>
                        <a:rPr sz="1000" b="0">
                          <a:solidFill>
                            <a:srgbClr val="212121"/>
                          </a:solidFill>
                          <a:latin typeface="Calibri"/>
                        </a:rPr>
                        <a:t>DE-014</a:t>
                      </a:r>
                    </a:p>
                  </a:txBody>
                  <a:tcPr>
                    <a:solidFill>
                      <a:srgbClr val="FFFFFF"/>
                    </a:solidFill>
                  </a:tcPr>
                </a:tc>
                <a:tc>
                  <a:txBody>
                    <a:bodyPr wrap="square" lIns="50800" rIns="50800" tIns="12700" bIns="12700"/>
                    <a:lstStyle/>
                    <a:p>
                      <a:pPr algn="l"/>
                      <a:r>
                        <a:rPr sz="1000" b="0">
                          <a:solidFill>
                            <a:srgbClr val="212121"/>
                          </a:solidFill>
                          <a:latin typeface="Calibri"/>
                        </a:rPr>
                        <a:t>pipe_buffer spray for struct file</a:t>
                      </a:r>
                    </a:p>
                  </a:txBody>
                  <a:tcPr>
                    <a:solidFill>
                      <a:srgbClr val="FFFFFF"/>
                    </a:solidFill>
                  </a:tcPr>
                </a:tc>
                <a:tc>
                  <a:txBody>
                    <a:bodyPr wrap="square" lIns="50800" rIns="50800" tIns="12700" bIns="12700"/>
                    <a:lstStyle/>
                    <a:p>
                      <a:pPr algn="l"/>
                      <a:r>
                        <a:rPr sz="1000" b="0">
                          <a:solidFill>
                            <a:srgbClr val="212121"/>
                          </a:solidFill>
                          <a:latin typeface="Calibri"/>
                        </a:rPr>
                        <a:t>VER-018 (EXP-010)</a:t>
                      </a:r>
                    </a:p>
                  </a:txBody>
                  <a:tcPr>
                    <a:solidFill>
                      <a:srgbClr val="FFFFFF"/>
                    </a:solidFill>
                  </a:tcPr>
                </a:tc>
              </a:tr>
              <a:tr h="283464">
                <a:tc>
                  <a:txBody>
                    <a:bodyPr wrap="square" lIns="50800" rIns="50800" tIns="12700" bIns="12700"/>
                    <a:lstStyle/>
                    <a:p>
                      <a:pPr algn="l"/>
                      <a:r>
                        <a:rPr sz="1000" b="0">
                          <a:solidFill>
                            <a:srgbClr val="212121"/>
                          </a:solidFill>
                          <a:latin typeface="Calibri"/>
                        </a:rPr>
                        <a:t>DE-015</a:t>
                      </a:r>
                    </a:p>
                  </a:txBody>
                  <a:tcPr>
                    <a:solidFill>
                      <a:srgbClr val="EEF2F7"/>
                    </a:solidFill>
                  </a:tcPr>
                </a:tc>
                <a:tc>
                  <a:txBody>
                    <a:bodyPr wrap="square" lIns="50800" rIns="50800" tIns="12700" bIns="12700"/>
                    <a:lstStyle/>
                    <a:p>
                      <a:pPr algn="l"/>
                      <a:r>
                        <a:rPr sz="1000" b="0">
                          <a:solidFill>
                            <a:srgbClr val="212121"/>
                          </a:solidFill>
                          <a:latin typeface="Calibri"/>
                        </a:rPr>
                        <a:t>snd_timer_user spray for epitem</a:t>
                      </a:r>
                    </a:p>
                  </a:txBody>
                  <a:tcPr>
                    <a:solidFill>
                      <a:srgbClr val="EEF2F7"/>
                    </a:solidFill>
                  </a:tcPr>
                </a:tc>
                <a:tc>
                  <a:txBody>
                    <a:bodyPr wrap="square" lIns="50800" rIns="50800" tIns="12700" bIns="12700"/>
                    <a:lstStyle/>
                    <a:p>
                      <a:pPr algn="l"/>
                      <a:r>
                        <a:rPr sz="1000" b="0">
                          <a:solidFill>
                            <a:srgbClr val="212121"/>
                          </a:solidFill>
                          <a:latin typeface="Calibri"/>
                        </a:rPr>
                        <a:t>EVO-005</a:t>
                      </a:r>
                    </a:p>
                  </a:txBody>
                  <a:tcPr>
                    <a:solidFill>
                      <a:srgbClr val="EEF2F7"/>
                    </a:solidFill>
                  </a:tcPr>
                </a:tc>
              </a:tr>
              <a:tr h="283464">
                <a:tc>
                  <a:txBody>
                    <a:bodyPr wrap="square" lIns="50800" rIns="50800" tIns="12700" bIns="12700"/>
                    <a:lstStyle/>
                    <a:p>
                      <a:pPr algn="l"/>
                      <a:r>
                        <a:rPr sz="1000" b="0">
                          <a:solidFill>
                            <a:srgbClr val="212121"/>
                          </a:solidFill>
                          <a:latin typeface="Calibri"/>
                        </a:rPr>
                        <a:t>DE-016</a:t>
                      </a:r>
                    </a:p>
                  </a:txBody>
                  <a:tcPr>
                    <a:solidFill>
                      <a:srgbClr val="FFFFFF"/>
                    </a:solidFill>
                  </a:tcPr>
                </a:tc>
                <a:tc>
                  <a:txBody>
                    <a:bodyPr wrap="square" lIns="50800" rIns="50800" tIns="12700" bIns="12700"/>
                    <a:lstStyle/>
                    <a:p>
                      <a:pPr algn="l"/>
                      <a:r>
                        <a:rPr sz="1000" b="0">
                          <a:solidFill>
                            <a:srgbClr val="212121"/>
                          </a:solidFill>
                          <a:latin typeface="Calibri"/>
                        </a:rPr>
                        <a:t>eventpoll_epi merge into kmalloc-128</a:t>
                      </a:r>
                    </a:p>
                  </a:txBody>
                  <a:tcPr>
                    <a:solidFill>
                      <a:srgbClr val="FFFFFF"/>
                    </a:solidFill>
                  </a:tcPr>
                </a:tc>
                <a:tc>
                  <a:txBody>
                    <a:bodyPr wrap="square" lIns="50800" rIns="50800" tIns="12700" bIns="12700"/>
                    <a:lstStyle/>
                    <a:p>
                      <a:pPr algn="l"/>
                      <a:r>
                        <a:rPr sz="1000" b="0">
                          <a:solidFill>
                            <a:srgbClr val="212121"/>
                          </a:solidFill>
                          <a:latin typeface="Calibri"/>
                        </a:rPr>
                        <a:t>VER-014 (STATIC)</a:t>
                      </a:r>
                    </a:p>
                  </a:txBody>
                  <a:tcPr>
                    <a:solidFill>
                      <a:srgbClr val="FFFFFF"/>
                    </a:solidFill>
                  </a:tcPr>
                </a:tc>
              </a:tr>
              <a:tr h="283464">
                <a:tc>
                  <a:txBody>
                    <a:bodyPr wrap="square" lIns="50800" rIns="50800" tIns="12700" bIns="12700"/>
                    <a:lstStyle/>
                    <a:p>
                      <a:pPr algn="l"/>
                      <a:r>
                        <a:rPr sz="1000" b="0">
                          <a:solidFill>
                            <a:srgbClr val="212121"/>
                          </a:solidFill>
                          <a:latin typeface="Calibri"/>
                        </a:rPr>
                        <a:t>DE-017</a:t>
                      </a:r>
                    </a:p>
                  </a:txBody>
                  <a:tcPr>
                    <a:solidFill>
                      <a:srgbClr val="EEF2F7"/>
                    </a:solidFill>
                  </a:tcPr>
                </a:tc>
                <a:tc>
                  <a:txBody>
                    <a:bodyPr wrap="square" lIns="50800" rIns="50800" tIns="12700" bIns="12700"/>
                    <a:lstStyle/>
                    <a:p>
                      <a:pPr algn="l"/>
                      <a:r>
                        <a:rPr sz="1000" b="0">
                          <a:solidFill>
                            <a:srgbClr val="212121"/>
                          </a:solidFill>
                          <a:latin typeface="Calibri"/>
                        </a:rPr>
                        <a:t>cross-cache grooming into eventpoll_epi</a:t>
                      </a:r>
                    </a:p>
                  </a:txBody>
                  <a:tcPr>
                    <a:solidFill>
                      <a:srgbClr val="EEF2F7"/>
                    </a:solidFill>
                  </a:tcPr>
                </a:tc>
                <a:tc>
                  <a:txBody>
                    <a:bodyPr wrap="square" lIns="50800" rIns="50800" tIns="12700" bIns="12700"/>
                    <a:lstStyle/>
                    <a:p>
                      <a:pPr algn="l"/>
                      <a:r>
                        <a:rPr sz="1000" b="0">
                          <a:solidFill>
                            <a:srgbClr val="212121"/>
                          </a:solidFill>
                          <a:latin typeface="Calibri"/>
                        </a:rPr>
                        <a:t>VER-014 (STATIC)</a:t>
                      </a:r>
                    </a:p>
                  </a:txBody>
                  <a:tcPr>
                    <a:solidFill>
                      <a:srgbClr val="EEF2F7"/>
                    </a:solidFill>
                  </a:tcPr>
                </a:tc>
              </a:tr>
              <a:tr h="283464">
                <a:tc>
                  <a:txBody>
                    <a:bodyPr wrap="square" lIns="50800" rIns="50800" tIns="12700" bIns="12700"/>
                    <a:lstStyle/>
                    <a:p>
                      <a:pPr algn="l"/>
                      <a:r>
                        <a:rPr sz="1000" b="0">
                          <a:solidFill>
                            <a:srgbClr val="212121"/>
                          </a:solidFill>
                          <a:latin typeface="Calibri"/>
                        </a:rPr>
                        <a:t>DE-018..021</a:t>
                      </a:r>
                    </a:p>
                  </a:txBody>
                  <a:tcPr>
                    <a:solidFill>
                      <a:srgbClr val="FFFFFF"/>
                    </a:solidFill>
                  </a:tcPr>
                </a:tc>
                <a:tc>
                  <a:txBody>
                    <a:bodyPr wrap="square" lIns="50800" rIns="50800" tIns="12700" bIns="12700"/>
                    <a:lstStyle/>
                    <a:p>
                      <a:pPr algn="l"/>
                      <a:r>
                        <a:rPr sz="1000" b="0">
                          <a:solidFill>
                            <a:srgbClr val="212121"/>
                          </a:solidFill>
                          <a:latin typeface="Calibri"/>
                        </a:rPr>
                        <a:t>early misconceptions (simple race, timing spikes, level-3 claim, release_file mutex path)</a:t>
                      </a:r>
                    </a:p>
                  </a:txBody>
                  <a:tcPr>
                    <a:solidFill>
                      <a:srgbClr val="FFFFFF"/>
                    </a:solidFill>
                  </a:tcPr>
                </a:tc>
                <a:tc>
                  <a:txBody>
                    <a:bodyPr wrap="square" lIns="50800" rIns="50800" tIns="12700" bIns="12700"/>
                    <a:lstStyle/>
                    <a:p>
                      <a:pPr algn="l"/>
                      <a:r>
                        <a:rPr sz="1000" b="0">
                          <a:solidFill>
                            <a:srgbClr val="212121"/>
                          </a:solidFill>
                          <a:latin typeface="Calibri"/>
                        </a:rPr>
                        <a:t>FAILURE_ANALYSIS.md</a:t>
                      </a:r>
                    </a:p>
                  </a:txBody>
                  <a:tcPr>
                    <a:solidFill>
                      <a:srgbClr val="FFFFFF"/>
                    </a:solidFill>
                  </a:tcPr>
                </a:tc>
              </a:tr>
            </a:tbl>
          </a:graphicData>
        </a:graphic>
      </p:graphicFrame>
      <p:sp>
        <p:nvSpPr>
          <p:cNvPr id="8" name="TextBox 7"/>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APPENDIX</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Commands &amp; Reproducibility</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TextBox 6"/>
          <p:cNvSpPr txBox="1"/>
          <p:nvPr/>
        </p:nvSpPr>
        <p:spPr>
          <a:xfrm>
            <a:off x="502920" y="1417320"/>
            <a:ext cx="11247120" cy="3291840"/>
          </a:xfrm>
          <a:prstGeom prst="rect">
            <a:avLst/>
          </a:prstGeom>
          <a:noFill/>
        </p:spPr>
        <p:txBody>
          <a:bodyPr wrap="square" anchor="t" lIns="25400" rIns="25400" tIns="12700" bIns="12700">
            <a:spAutoFit/>
          </a:bodyPr>
          <a:lstStyle/>
          <a:p>
            <a:pPr algn="l">
              <a:spcAft>
                <a:spcPts val="200"/>
              </a:spcAft>
            </a:pPr>
            <a:r>
              <a:rPr sz="1200" b="1">
                <a:solidFill>
                  <a:srgbClr val="0F2440"/>
                </a:solidFill>
                <a:latin typeface="Consolas"/>
              </a:rPr>
              <a:t>Compile harness (static musl):</a:t>
            </a:r>
          </a:p>
          <a:p>
            <a:pPr algn="l">
              <a:spcAft>
                <a:spcPts val="600"/>
              </a:spcAft>
            </a:pPr>
            <a:r>
              <a:rPr sz="1100" b="0">
                <a:solidFill>
                  <a:srgbClr val="212121"/>
                </a:solidFill>
                <a:latin typeface="Consolas"/>
              </a:rPr>
              <a:t>./aarch64-linux-musl-cross/bin/aarch64-linux-musl-gcc -static -O0 -g -o rootfs/harness scripts/&lt;H&gt;.c -pthread</a:t>
            </a:r>
          </a:p>
          <a:p>
            <a:pPr algn="l">
              <a:spcAft>
                <a:spcPts val="200"/>
              </a:spcAft>
            </a:pPr>
            <a:r>
              <a:rPr sz="1200" b="1">
                <a:solidFill>
                  <a:srgbClr val="0F2440"/>
                </a:solidFill>
                <a:latin typeface="Consolas"/>
              </a:rPr>
              <a:t>Package initramfs:</a:t>
            </a:r>
          </a:p>
          <a:p>
            <a:pPr algn="l">
              <a:spcAft>
                <a:spcPts val="600"/>
              </a:spcAft>
            </a:pPr>
            <a:r>
              <a:rPr sz="1100" b="0">
                <a:solidFill>
                  <a:srgbClr val="212121"/>
                </a:solidFill>
                <a:latin typeface="Consolas"/>
              </a:rPr>
              <a:t>cd rootfs &amp;&amp; chmod +x init harness &amp;&amp; find . -print0 | cpio --null -ov --format=newc &gt; ../initramfs.cpio</a:t>
            </a:r>
          </a:p>
          <a:p>
            <a:pPr algn="l">
              <a:spcAft>
                <a:spcPts val="200"/>
              </a:spcAft>
            </a:pPr>
            <a:r>
              <a:rPr sz="1200" b="1">
                <a:solidFill>
                  <a:srgbClr val="0F2440"/>
                </a:solidFill>
                <a:latin typeface="Consolas"/>
              </a:rPr>
              <a:t>Boot QEMU with GDB stub:</a:t>
            </a:r>
          </a:p>
          <a:p>
            <a:pPr algn="l">
              <a:spcAft>
                <a:spcPts val="600"/>
              </a:spcAft>
            </a:pPr>
            <a:r>
              <a:rPr sz="1100" b="0">
                <a:solidFill>
                  <a:srgbClr val="212121"/>
                </a:solidFill>
                <a:latin typeface="Consolas"/>
              </a:rPr>
              <a:t>DEBUG=1 ./scripts/run_qemu.sh &gt; /dev/null 2&gt;&amp;1 &amp;   # gdb port :1234, cmdline: kasan=on nokaslr</a:t>
            </a:r>
          </a:p>
          <a:p>
            <a:pPr algn="l">
              <a:spcAft>
                <a:spcPts val="200"/>
              </a:spcAft>
            </a:pPr>
            <a:r>
              <a:rPr sz="1200" b="1">
                <a:solidFill>
                  <a:srgbClr val="0F2440"/>
                </a:solidFill>
                <a:latin typeface="Consolas"/>
              </a:rPr>
              <a:t>Run a GDB automation script:</a:t>
            </a:r>
          </a:p>
          <a:p>
            <a:pPr algn="l">
              <a:spcAft>
                <a:spcPts val="600"/>
              </a:spcAft>
            </a:pPr>
            <a:r>
              <a:rPr sz="1100" b="0">
                <a:solidFill>
                  <a:srgbClr val="212121"/>
                </a:solidFill>
                <a:latin typeface="Consolas"/>
              </a:rPr>
              <a:t>gdb -batch -q -x scripts/&lt;S&gt;.py android/artifacts/vmlinux</a:t>
            </a:r>
          </a:p>
          <a:p>
            <a:pPr algn="l">
              <a:spcAft>
                <a:spcPts val="200"/>
              </a:spcAft>
            </a:pPr>
            <a:r>
              <a:rPr sz="1200" b="1">
                <a:solidFill>
                  <a:srgbClr val="0F2440"/>
                </a:solidFill>
                <a:latin typeface="Consolas"/>
              </a:rPr>
              <a:t>Stop QEMU / verify push:</a:t>
            </a:r>
          </a:p>
          <a:p>
            <a:pPr algn="l">
              <a:spcAft>
                <a:spcPts val="0"/>
              </a:spcAft>
            </a:pPr>
            <a:r>
              <a:rPr sz="1100" b="0">
                <a:solidFill>
                  <a:srgbClr val="212121"/>
                </a:solidFill>
                <a:latin typeface="Consolas"/>
              </a:rPr>
              <a:t>pkill -f qemu-system-aarch64 ; git ls-remote origin tier2-android-port</a:t>
            </a:r>
          </a:p>
        </p:txBody>
      </p:sp>
      <p:sp>
        <p:nvSpPr>
          <p:cNvPr id="8" name="Rounded Rectangle 7"/>
          <p:cNvSpPr/>
          <p:nvPr/>
        </p:nvSpPr>
        <p:spPr>
          <a:xfrm>
            <a:off x="502920" y="4892040"/>
            <a:ext cx="11201400" cy="137160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4946904"/>
            <a:ext cx="64008" cy="126187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4983480"/>
            <a:ext cx="10835640" cy="320040"/>
          </a:xfrm>
          <a:prstGeom prst="rect">
            <a:avLst/>
          </a:prstGeom>
          <a:noFill/>
        </p:spPr>
        <p:txBody>
          <a:bodyPr wrap="square" anchor="t" lIns="25400" rIns="25400" tIns="12700" bIns="12700">
            <a:spAutoFit/>
          </a:bodyPr>
          <a:lstStyle/>
          <a:p>
            <a:pPr algn="l">
              <a:spcAft>
                <a:spcPts val="0"/>
              </a:spcAft>
            </a:pPr>
            <a:r>
              <a:rPr sz="1400" b="1">
                <a:solidFill>
                  <a:srgbClr val="1565C0"/>
                </a:solidFill>
                <a:latin typeface="Calibri"/>
              </a:rPr>
              <a:t>Key paths</a:t>
            </a:r>
          </a:p>
        </p:txBody>
      </p:sp>
      <p:sp>
        <p:nvSpPr>
          <p:cNvPr id="11" name="TextBox 10"/>
          <p:cNvSpPr txBox="1"/>
          <p:nvPr/>
        </p:nvSpPr>
        <p:spPr>
          <a:xfrm>
            <a:off x="704088" y="5312664"/>
            <a:ext cx="10835640" cy="868680"/>
          </a:xfrm>
          <a:prstGeom prst="rect">
            <a:avLst/>
          </a:prstGeom>
          <a:noFill/>
        </p:spPr>
        <p:txBody>
          <a:bodyPr wrap="square" anchor="t" lIns="25400" rIns="25400" tIns="12700" bIns="12700">
            <a:spAutoFit/>
          </a:bodyPr>
          <a:lstStyle/>
          <a:p>
            <a:pPr algn="l">
              <a:spcAft>
                <a:spcPts val="0"/>
              </a:spcAft>
            </a:pPr>
            <a:r>
              <a:rPr sz="1100" b="0">
                <a:solidFill>
                  <a:srgbClr val="212121"/>
                </a:solidFill>
                <a:latin typeface="Calibri"/>
              </a:rPr>
              <a:t>Kernel: third_party/linux-6.12.67/ (vmlinux, .config)  ·  Evidence: tier2/evidence/  ·  Scripts: tier2/scripts/  ·  Docs: tier2/docs/  ·  Cross-compiler: tier2/aarch64-linux-musl-cross/</a:t>
            </a:r>
          </a:p>
        </p:txBody>
      </p:sp>
      <p:sp>
        <p:nvSpPr>
          <p:cNvPr id="12" name="TextBox 11"/>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932688"/>
          </a:xfrm>
          <a:prstGeom prst="rect">
            <a:avLst/>
          </a:prstGeom>
          <a:solidFill>
            <a:srgbClr val="0F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32688"/>
            <a:ext cx="12191695" cy="40640"/>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155680" cy="274320"/>
          </a:xfrm>
          <a:prstGeom prst="rect">
            <a:avLst/>
          </a:prstGeom>
          <a:noFill/>
        </p:spPr>
        <p:txBody>
          <a:bodyPr wrap="square" anchor="t" lIns="25400" rIns="25400" tIns="12700" bIns="12700">
            <a:spAutoFit/>
          </a:bodyPr>
          <a:lstStyle/>
          <a:p>
            <a:pPr algn="l">
              <a:spcAft>
                <a:spcPts val="0"/>
              </a:spcAft>
            </a:pPr>
            <a:r>
              <a:rPr sz="1200" b="0">
                <a:solidFill>
                  <a:srgbClr val="9FB4CC"/>
                </a:solidFill>
                <a:latin typeface="Calibri"/>
              </a:rPr>
              <a:t>APPENDIX</a:t>
            </a:r>
          </a:p>
        </p:txBody>
      </p:sp>
      <p:sp>
        <p:nvSpPr>
          <p:cNvPr id="5" name="TextBox 4"/>
          <p:cNvSpPr txBox="1"/>
          <p:nvPr/>
        </p:nvSpPr>
        <p:spPr>
          <a:xfrm>
            <a:off x="502920" y="329184"/>
            <a:ext cx="11155680" cy="566928"/>
          </a:xfrm>
          <a:prstGeom prst="rect">
            <a:avLst/>
          </a:prstGeom>
          <a:noFill/>
        </p:spPr>
        <p:txBody>
          <a:bodyPr wrap="square" anchor="t" lIns="25400" rIns="25400" tIns="12700" bIns="12700">
            <a:spAutoFit/>
          </a:bodyPr>
          <a:lstStyle/>
          <a:p>
            <a:pPr algn="l">
              <a:spcAft>
                <a:spcPts val="0"/>
              </a:spcAft>
            </a:pPr>
            <a:r>
              <a:rPr sz="2600" b="1">
                <a:solidFill>
                  <a:srgbClr val="FFFFFF"/>
                </a:solidFill>
                <a:latin typeface="Calibri"/>
              </a:rPr>
              <a:t>Git History &amp; Repository State</a:t>
            </a:r>
          </a:p>
        </p:txBody>
      </p:sp>
      <p:sp>
        <p:nvSpPr>
          <p:cNvPr id="6" name="TextBox 5"/>
          <p:cNvSpPr txBox="1"/>
          <p:nvPr/>
        </p:nvSpPr>
        <p:spPr>
          <a:xfrm>
            <a:off x="502920" y="1078992"/>
            <a:ext cx="11247120" cy="274320"/>
          </a:xfrm>
          <a:prstGeom prst="rect">
            <a:avLst/>
          </a:prstGeom>
          <a:noFill/>
        </p:spPr>
        <p:txBody>
          <a:bodyPr wrap="square" anchor="t" lIns="25400" rIns="25400" tIns="12700" bIns="12700">
            <a:spAutoFit/>
          </a:bodyPr>
          <a:lstStyle/>
          <a:p>
            <a:pPr algn="l">
              <a:spcAft>
                <a:spcPts val="0"/>
              </a:spcAft>
            </a:pPr>
            <a:r>
              <a:rPr sz="900" b="0">
                <a:solidFill>
                  <a:srgbClr val="5F6B7A"/>
                </a:solidFill>
                <a:latin typeface="Calibri"/>
              </a:rPr>
              <a:t>bad-epoll-lab  ·  CVE-2026-46242  ·  tier2-android-port  ·  Intern progress review</a:t>
            </a:r>
          </a:p>
        </p:txBody>
      </p:sp>
      <p:sp>
        <p:nvSpPr>
          <p:cNvPr id="7" name="TextBox 6"/>
          <p:cNvSpPr txBox="1"/>
          <p:nvPr/>
        </p:nvSpPr>
        <p:spPr>
          <a:xfrm>
            <a:off x="502920" y="1417320"/>
            <a:ext cx="5943600" cy="3840480"/>
          </a:xfrm>
          <a:prstGeom prst="rect">
            <a:avLst/>
          </a:prstGeom>
          <a:noFill/>
        </p:spPr>
        <p:txBody>
          <a:bodyPr wrap="square" lIns="25400" rIns="25400" tIns="12700" bIns="12700">
            <a:spAutoFit/>
          </a:bodyPr>
          <a:lstStyle/>
          <a:p>
            <a:pPr>
              <a:spcAft>
                <a:spcPts val="500"/>
              </a:spcAft>
            </a:pPr>
            <a:r>
              <a:rPr sz="1200" b="0">
                <a:solidFill>
                  <a:srgbClr val="212121"/>
                </a:solidFill>
                <a:latin typeface="Calibri"/>
              </a:rPr>
              <a:t>●  Branch: tier2-android-port; HEAD cc0dc7754 — "feat(exp-nat005): implement isolcpus=1 and 4MB cache-eviction race widening".</a:t>
            </a:r>
          </a:p>
          <a:p>
            <a:pPr>
              <a:spcAft>
                <a:spcPts val="500"/>
              </a:spcAft>
            </a:pPr>
            <a:r>
              <a:rPr sz="1200" b="1">
                <a:solidFill>
                  <a:srgbClr val="2E7D32"/>
                </a:solidFill>
                <a:latin typeface="Calibri"/>
              </a:rPr>
              <a:t>●  origin verified: git ls-remote shows cc0dc7754f0bf34e9c8d596877113c9b00d014ca (2026-08-07).</a:t>
            </a:r>
          </a:p>
          <a:p>
            <a:pPr>
              <a:spcAft>
                <a:spcPts val="500"/>
              </a:spcAft>
            </a:pPr>
            <a:r>
              <a:rPr sz="1200" b="1">
                <a:solidFill>
                  <a:srgbClr val="212121"/>
                </a:solidFill>
                <a:latin typeface="Calibri"/>
              </a:rPr>
              <a:t>●  Recent commits:</a:t>
            </a:r>
          </a:p>
          <a:p>
            <a:pPr>
              <a:spcAft>
                <a:spcPts val="500"/>
              </a:spcAft>
            </a:pPr>
            <a:r>
              <a:rPr sz="1200" b="0">
                <a:solidFill>
                  <a:srgbClr val="212121"/>
                </a:solidFill>
                <a:latin typeface="Calibri"/>
              </a:rPr>
              <a:t>–    853fd4fe2 — NAT-005 calibration + 2,330-cycle closed-loop search</a:t>
            </a:r>
          </a:p>
          <a:p>
            <a:pPr>
              <a:spcAft>
                <a:spcPts val="500"/>
              </a:spcAft>
            </a:pPr>
            <a:r>
              <a:rPr sz="1200" b="0">
                <a:solidFill>
                  <a:srgbClr val="212121"/>
                </a:solidFill>
                <a:latin typeface="Calibri"/>
              </a:rPr>
              <a:t>–    f904dda78 / 8851d70b3 — closed-loop adaptive search, 100k iterations</a:t>
            </a:r>
          </a:p>
          <a:p>
            <a:pPr>
              <a:spcAft>
                <a:spcPts val="500"/>
              </a:spcAft>
            </a:pPr>
            <a:r>
              <a:rPr sz="1200" b="0">
                <a:solidFill>
                  <a:srgbClr val="212121"/>
                </a:solidFill>
                <a:latin typeface="Calibri"/>
              </a:rPr>
              <a:t>–    b96d5d0ed / 37888baf5 — QEMU CPU topology + launch-ahead harness</a:t>
            </a:r>
          </a:p>
          <a:p>
            <a:pPr>
              <a:spcAft>
                <a:spcPts val="500"/>
              </a:spcAft>
            </a:pPr>
            <a:r>
              <a:rPr sz="1200" b="0">
                <a:solidFill>
                  <a:srgbClr val="212121"/>
                </a:solidFill>
                <a:latin typeface="Calibri"/>
              </a:rPr>
              <a:t>–    8f1392cab — AND-001 SysV IPC verification</a:t>
            </a:r>
          </a:p>
          <a:p>
            <a:pPr>
              <a:spcAft>
                <a:spcPts val="500"/>
              </a:spcAft>
            </a:pPr>
            <a:r>
              <a:rPr sz="1200" b="0">
                <a:solidFill>
                  <a:srgbClr val="212121"/>
                </a:solidFill>
                <a:latin typeface="Calibri"/>
              </a:rPr>
              <a:t>–    1f17b0a71 / 47d9d11c7 — NAT-001 complete: 0/10,000, race not naturally winnable</a:t>
            </a:r>
          </a:p>
          <a:p>
            <a:pPr>
              <a:spcAft>
                <a:spcPts val="500"/>
              </a:spcAft>
            </a:pPr>
            <a:r>
              <a:rPr sz="1200" b="0">
                <a:solidFill>
                  <a:srgbClr val="212121"/>
                </a:solidFill>
                <a:latin typeface="Calibri"/>
              </a:rPr>
              <a:t>–    b40f0ae20 — EXP-024: retract VER-029/030</a:t>
            </a:r>
          </a:p>
          <a:p>
            <a:pPr>
              <a:spcAft>
                <a:spcPts val="500"/>
              </a:spcAft>
            </a:pPr>
            <a:r>
              <a:rPr sz="1200" b="0">
                <a:solidFill>
                  <a:srgbClr val="212121"/>
                </a:solidFill>
                <a:latin typeface="Calibri"/>
              </a:rPr>
              <a:t>–    7c6e67392 / 92733a977 / 4b965dc3b / dcebc159b — EXP-023b/022b/019/018 evidence</a:t>
            </a:r>
          </a:p>
        </p:txBody>
      </p:sp>
      <p:sp>
        <p:nvSpPr>
          <p:cNvPr id="8" name="Rounded Rectangle 7"/>
          <p:cNvSpPr/>
          <p:nvPr/>
        </p:nvSpPr>
        <p:spPr>
          <a:xfrm>
            <a:off x="6675120" y="1417320"/>
            <a:ext cx="5029200" cy="3840480"/>
          </a:xfrm>
          <a:prstGeom prst="roundRect">
            <a:avLst>
              <a:gd name="adj" fmla="val 4500"/>
            </a:avLst>
          </a:prstGeom>
          <a:solidFill>
            <a:srgbClr val="FFFFFF"/>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75120" y="1472184"/>
            <a:ext cx="64008" cy="3730752"/>
          </a:xfrm>
          <a:prstGeom prst="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76288" y="1508760"/>
            <a:ext cx="4663440" cy="320040"/>
          </a:xfrm>
          <a:prstGeom prst="rect">
            <a:avLst/>
          </a:prstGeom>
          <a:noFill/>
        </p:spPr>
        <p:txBody>
          <a:bodyPr wrap="square" anchor="t" lIns="25400" rIns="25400" tIns="12700" bIns="12700">
            <a:spAutoFit/>
          </a:bodyPr>
          <a:lstStyle/>
          <a:p>
            <a:pPr algn="l">
              <a:spcAft>
                <a:spcPts val="0"/>
              </a:spcAft>
            </a:pPr>
            <a:r>
              <a:rPr sz="1400" b="1">
                <a:solidFill>
                  <a:srgbClr val="F57F17"/>
                </a:solidFill>
                <a:latin typeface="Calibri"/>
              </a:rPr>
              <a:t>Working-tree honesty (protocol Rule 10)</a:t>
            </a:r>
          </a:p>
        </p:txBody>
      </p:sp>
      <p:sp>
        <p:nvSpPr>
          <p:cNvPr id="11" name="TextBox 10"/>
          <p:cNvSpPr txBox="1"/>
          <p:nvPr/>
        </p:nvSpPr>
        <p:spPr>
          <a:xfrm>
            <a:off x="6876288" y="1837944"/>
            <a:ext cx="4663440" cy="3337560"/>
          </a:xfrm>
          <a:prstGeom prst="rect">
            <a:avLst/>
          </a:prstGeom>
          <a:noFill/>
        </p:spPr>
        <p:txBody>
          <a:bodyPr wrap="square" anchor="t" lIns="25400" rIns="25400" tIns="12700" bIns="12700">
            <a:spAutoFit/>
          </a:bodyPr>
          <a:lstStyle/>
          <a:p>
            <a:pPr algn="l">
              <a:spcAft>
                <a:spcPts val="200"/>
              </a:spcAft>
            </a:pPr>
            <a:r>
              <a:rPr sz="1100" b="1">
                <a:solidFill>
                  <a:srgbClr val="C62828"/>
                </a:solidFill>
                <a:latin typeface="Calibri"/>
              </a:rPr>
              <a:t>NOT fully clean as of this deck:</a:t>
            </a:r>
          </a:p>
          <a:p>
            <a:pPr algn="l">
              <a:spcAft>
                <a:spcPts val="200"/>
              </a:spcAft>
            </a:pPr>
            <a:r>
              <a:rPr sz="1000" b="0">
                <a:solidFill>
                  <a:srgbClr val="212121"/>
                </a:solidFill>
                <a:latin typeface="Calibri"/>
              </a:rPr>
              <a:t>  Untracked: AGENTS.md, EXP-014/EXP-020/EXP-021 evidence + scripts (pending a commit)</a:t>
            </a:r>
          </a:p>
          <a:p>
            <a:pPr algn="l">
              <a:spcAft>
                <a:spcPts val="200"/>
              </a:spcAft>
            </a:pPr>
            <a:r>
              <a:rPr sz="1000" b="0">
                <a:solidFill>
                  <a:srgbClr val="212121"/>
                </a:solidFill>
                <a:latin typeface="Calibri"/>
              </a:rPr>
              <a:t>  Modified post-commit: AND-001_raw_ipc.log, EXP-012/018 raw logs, NAT-005_topology_raw.log</a:t>
            </a:r>
          </a:p>
          <a:p>
            <a:pPr algn="l">
              <a:spcAft>
                <a:spcPts val="200"/>
              </a:spcAft>
            </a:pPr>
            <a:r>
              <a:rPr sz="1000" b="0">
                <a:solidFill>
                  <a:srgbClr val="212121"/>
                </a:solidFill>
                <a:latin typeface="Calibri"/>
              </a:rPr>
              <a:t>  third_party/security-research submodule has untracked content</a:t>
            </a:r>
          </a:p>
          <a:p>
            <a:pPr algn="l">
              <a:spcAft>
                <a:spcPts val="0"/>
              </a:spcAft>
            </a:pPr>
            <a:r>
              <a:rPr sz="1000" b="1">
                <a:solidFill>
                  <a:srgbClr val="F57F17"/>
                </a:solidFill>
                <a:latin typeface="Calibri"/>
              </a:rPr>
              <a:t>Action: one evidence commit (exp-020/021 + stray logs) before final report.</a:t>
            </a:r>
          </a:p>
        </p:txBody>
      </p:sp>
      <p:sp>
        <p:nvSpPr>
          <p:cNvPr id="12" name="TextBox 11"/>
          <p:cNvSpPr txBox="1"/>
          <p:nvPr/>
        </p:nvSpPr>
        <p:spPr>
          <a:xfrm>
            <a:off x="11475720" y="6528816"/>
            <a:ext cx="548640" cy="274320"/>
          </a:xfrm>
          <a:prstGeom prst="rect">
            <a:avLst/>
          </a:prstGeom>
          <a:noFill/>
        </p:spPr>
        <p:txBody>
          <a:bodyPr wrap="square" anchor="t" lIns="25400" rIns="25400" tIns="12700" bIns="12700">
            <a:spAutoFit/>
          </a:bodyPr>
          <a:lstStyle/>
          <a:p>
            <a:pPr algn="r">
              <a:spcAft>
                <a:spcPts val="0"/>
              </a:spcAft>
            </a:pPr>
            <a:r>
              <a:rPr sz="1000" b="1">
                <a:solidFill>
                  <a:srgbClr val="5F6B7A"/>
                </a:solidFill>
                <a:latin typeface="Calibri"/>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